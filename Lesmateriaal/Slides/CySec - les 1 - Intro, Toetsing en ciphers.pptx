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3" r:id="rId5"/>
    <p:sldId id="259" r:id="rId6"/>
    <p:sldId id="261" r:id="rId7"/>
    <p:sldId id="272" r:id="rId8"/>
    <p:sldId id="260" r:id="rId9"/>
    <p:sldId id="264" r:id="rId10"/>
    <p:sldId id="265" r:id="rId11"/>
    <p:sldId id="266" r:id="rId12"/>
    <p:sldId id="262" r:id="rId13"/>
    <p:sldId id="270" r:id="rId14"/>
    <p:sldId id="271" r:id="rId15"/>
    <p:sldId id="267" r:id="rId16"/>
    <p:sldId id="268" r:id="rId17"/>
    <p:sldId id="274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EF3"/>
    <a:srgbClr val="005C77"/>
    <a:srgbClr val="FBA400"/>
    <a:srgbClr val="FFF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81" autoAdjust="0"/>
  </p:normalViewPr>
  <p:slideViewPr>
    <p:cSldViewPr snapToGrid="0">
      <p:cViewPr varScale="1">
        <p:scale>
          <a:sx n="104" d="100"/>
          <a:sy n="104" d="100"/>
        </p:scale>
        <p:origin x="216" y="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https://cryptii.com/pipes/vigenere-cipher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FC6EB-00F9-4F26-856D-FED6C6A7B264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3005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18-2-2026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18-2-2026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ummyMeneer/Cyber-Security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Cyber security les 1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Introductie, Toetsing en </a:t>
            </a:r>
            <a:r>
              <a:rPr lang="nl-NL" dirty="0" err="1"/>
              <a:t>Ciphers</a:t>
            </a:r>
            <a:endParaRPr lang="nl-NL" dirty="0"/>
          </a:p>
        </p:txBody>
      </p:sp>
      <p:pic>
        <p:nvPicPr>
          <p:cNvPr id="8194" name="Picture 2" descr="The Biggest Cybersecurity Issues Heading into 2025">
            <a:extLst>
              <a:ext uri="{FF2B5EF4-FFF2-40B4-BE49-F238E27FC236}">
                <a16:creationId xmlns:a16="http://schemas.microsoft.com/office/drawing/2014/main" id="{FC987296-0081-1CBE-86F2-DA64A1D94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28" y="3237938"/>
            <a:ext cx="4796403" cy="269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E110306-4AAB-9607-E18E-ACBAC34BD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Introductie</a:t>
            </a:r>
          </a:p>
          <a:p>
            <a:r>
              <a:rPr lang="nl-NL" dirty="0"/>
              <a:t>Toetsing</a:t>
            </a:r>
          </a:p>
          <a:p>
            <a:r>
              <a:rPr lang="nl-NL" dirty="0"/>
              <a:t>Lessenopbouw</a:t>
            </a:r>
          </a:p>
          <a:p>
            <a:r>
              <a:rPr lang="nl-NL" dirty="0" err="1"/>
              <a:t>Ciphers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Introductie: cyber security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0316"/>
          </a:xfrm>
        </p:spPr>
        <p:txBody>
          <a:bodyPr/>
          <a:lstStyle/>
          <a:p>
            <a:r>
              <a:rPr lang="nl-NL" dirty="0"/>
              <a:t>Waar denken jullie aan bij Cyber security?</a:t>
            </a:r>
          </a:p>
        </p:txBody>
      </p:sp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50CE0-0B2B-1181-E7D0-9AA6E9DDE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6EC6D8-9D0D-1CF6-35D0-0A0D26734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Introductie: cyber security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A4CA59AB-1152-4811-8256-6A99D484B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8279" cy="3872442"/>
          </a:xfrm>
        </p:spPr>
        <p:txBody>
          <a:bodyPr>
            <a:normAutofit lnSpcReduction="10000"/>
          </a:bodyPr>
          <a:lstStyle/>
          <a:p>
            <a:r>
              <a:rPr lang="nl-NL" dirty="0"/>
              <a:t>De onderwerpen:</a:t>
            </a:r>
          </a:p>
          <a:p>
            <a:pPr lvl="1"/>
            <a:r>
              <a:rPr lang="nl-NL" dirty="0"/>
              <a:t>Encryptie</a:t>
            </a:r>
          </a:p>
          <a:p>
            <a:pPr lvl="1"/>
            <a:r>
              <a:rPr lang="nl-NL" dirty="0" err="1"/>
              <a:t>Algorithmes</a:t>
            </a:r>
            <a:endParaRPr lang="nl-NL" dirty="0"/>
          </a:p>
          <a:p>
            <a:pPr lvl="1"/>
            <a:r>
              <a:rPr lang="nl-NL" dirty="0"/>
              <a:t>Wetgeving</a:t>
            </a:r>
          </a:p>
          <a:p>
            <a:pPr lvl="1"/>
            <a:r>
              <a:rPr lang="nl-NL" dirty="0"/>
              <a:t>Awareness</a:t>
            </a:r>
          </a:p>
          <a:p>
            <a:pPr lvl="1"/>
            <a:r>
              <a:rPr lang="nl-NL" dirty="0"/>
              <a:t>Data</a:t>
            </a:r>
          </a:p>
          <a:p>
            <a:pPr lvl="1"/>
            <a:r>
              <a:rPr lang="nl-NL" dirty="0"/>
              <a:t>Netwerken</a:t>
            </a:r>
          </a:p>
          <a:p>
            <a:pPr lvl="1"/>
            <a:r>
              <a:rPr lang="nl-NL" dirty="0" err="1"/>
              <a:t>Hacking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Social</a:t>
            </a:r>
            <a:r>
              <a:rPr lang="nl-NL" dirty="0"/>
              <a:t> </a:t>
            </a:r>
            <a:r>
              <a:rPr lang="nl-NL" dirty="0" err="1"/>
              <a:t>enigneering</a:t>
            </a:r>
            <a:endParaRPr lang="nl-NL" dirty="0"/>
          </a:p>
          <a:p>
            <a:pPr lvl="1"/>
            <a:r>
              <a:rPr lang="nl-NL" dirty="0"/>
              <a:t>En meer…</a:t>
            </a:r>
          </a:p>
        </p:txBody>
      </p:sp>
      <p:pic>
        <p:nvPicPr>
          <p:cNvPr id="6146" name="Picture 2" descr="Microsoft Makes Their Pitch to be your Cybersecurity Partner">
            <a:extLst>
              <a:ext uri="{FF2B5EF4-FFF2-40B4-BE49-F238E27FC236}">
                <a16:creationId xmlns:a16="http://schemas.microsoft.com/office/drawing/2014/main" id="{052B0387-EF93-E50A-4E0F-563478401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971" y="1690688"/>
            <a:ext cx="5347039" cy="3010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549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E271F-86E5-D770-BD7A-01BAB50E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Toetsing – 2 </a:t>
            </a:r>
            <a:r>
              <a:rPr lang="nl-NL" dirty="0" err="1"/>
              <a:t>delig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B6D25A7-9C43-6D92-227E-35BE1588D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Set encryptie en beveiliging opdrachten – Voorwaardelijk</a:t>
            </a:r>
          </a:p>
          <a:p>
            <a:pPr lvl="1"/>
            <a:r>
              <a:rPr lang="nl-NL" dirty="0" err="1"/>
              <a:t>Ciphers</a:t>
            </a:r>
            <a:r>
              <a:rPr lang="nl-NL" dirty="0"/>
              <a:t> opdracht</a:t>
            </a:r>
          </a:p>
          <a:p>
            <a:pPr lvl="1"/>
            <a:r>
              <a:rPr lang="nl-NL" dirty="0" err="1"/>
              <a:t>Hashing</a:t>
            </a:r>
            <a:r>
              <a:rPr lang="nl-NL" dirty="0"/>
              <a:t> opdracht</a:t>
            </a:r>
          </a:p>
          <a:p>
            <a:pPr lvl="1"/>
            <a:r>
              <a:rPr lang="nl-NL" dirty="0"/>
              <a:t>JWT opdracht</a:t>
            </a:r>
          </a:p>
          <a:p>
            <a:pPr lvl="1"/>
            <a:r>
              <a:rPr lang="nl-NL" dirty="0"/>
              <a:t>Database </a:t>
            </a:r>
            <a:r>
              <a:rPr lang="nl-NL" dirty="0" err="1"/>
              <a:t>injection</a:t>
            </a:r>
            <a:r>
              <a:rPr lang="nl-NL" dirty="0"/>
              <a:t> Opdracht</a:t>
            </a:r>
          </a:p>
          <a:p>
            <a:pPr lvl="1"/>
            <a:r>
              <a:rPr lang="nl-NL" dirty="0"/>
              <a:t>Wachtwoorden opdracht</a:t>
            </a:r>
          </a:p>
          <a:p>
            <a:pPr marL="457200" lvl="1" indent="0">
              <a:buNone/>
            </a:pPr>
            <a:endParaRPr lang="nl-NL" dirty="0"/>
          </a:p>
          <a:p>
            <a:r>
              <a:rPr lang="nl-NL" dirty="0"/>
              <a:t>Cyber security examen - Schriftelijk</a:t>
            </a:r>
          </a:p>
        </p:txBody>
      </p:sp>
    </p:spTree>
    <p:extLst>
      <p:ext uri="{BB962C8B-B14F-4D97-AF65-F5344CB8AC3E}">
        <p14:creationId xmlns:p14="http://schemas.microsoft.com/office/powerpoint/2010/main" val="188470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29261-9362-19F2-6312-478E1005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Lesopbouw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9FF2BE3-86B9-D5D9-3836-E804B6329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l-NL" dirty="0"/>
              <a:t>Terugblik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Theorie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Tussenopdracht/demo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Vervolg Theorie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err="1"/>
              <a:t>Programeeropdracht</a:t>
            </a:r>
            <a:r>
              <a:rPr lang="nl-NL" dirty="0"/>
              <a:t> / zelfstudie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Afsluiten</a:t>
            </a:r>
          </a:p>
        </p:txBody>
      </p:sp>
    </p:spTree>
    <p:extLst>
      <p:ext uri="{BB962C8B-B14F-4D97-AF65-F5344CB8AC3E}">
        <p14:creationId xmlns:p14="http://schemas.microsoft.com/office/powerpoint/2010/main" val="231808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E3A120-0D8D-3453-60FD-C2E68CC63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EC7277-E34E-E3CA-B908-7A8D304DF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 het einde van de les</a:t>
            </a:r>
          </a:p>
          <a:p>
            <a:pPr lvl="1"/>
            <a:r>
              <a:rPr lang="nl-NL" dirty="0"/>
              <a:t>Weten we wat Cyber security in gaat houden</a:t>
            </a:r>
          </a:p>
          <a:p>
            <a:pPr lvl="1"/>
            <a:r>
              <a:rPr lang="nl-NL" dirty="0"/>
              <a:t>Weten we hoe Cyber security </a:t>
            </a:r>
            <a:r>
              <a:rPr lang="nl-NL" dirty="0" err="1"/>
              <a:t>getoets</a:t>
            </a:r>
            <a:r>
              <a:rPr lang="nl-NL" dirty="0"/>
              <a:t> gaat worden</a:t>
            </a:r>
          </a:p>
          <a:p>
            <a:pPr lvl="1"/>
            <a:r>
              <a:rPr lang="nl-NL" dirty="0"/>
              <a:t>Hebben we kennis van </a:t>
            </a:r>
            <a:r>
              <a:rPr lang="nl-NL" dirty="0" err="1"/>
              <a:t>Atbash</a:t>
            </a:r>
            <a:r>
              <a:rPr lang="nl-NL" dirty="0"/>
              <a:t> </a:t>
            </a:r>
            <a:r>
              <a:rPr lang="nl-NL" dirty="0" err="1"/>
              <a:t>ciphers</a:t>
            </a:r>
            <a:endParaRPr lang="nl-NL" dirty="0"/>
          </a:p>
          <a:p>
            <a:pPr lvl="1"/>
            <a:r>
              <a:rPr lang="nl-NL" dirty="0"/>
              <a:t>Hebben we kennis van caesar </a:t>
            </a:r>
            <a:r>
              <a:rPr lang="nl-NL" dirty="0" err="1"/>
              <a:t>ciphers</a:t>
            </a:r>
            <a:endParaRPr lang="nl-NL" dirty="0"/>
          </a:p>
          <a:p>
            <a:pPr lvl="1"/>
            <a:r>
              <a:rPr lang="nl-NL" dirty="0"/>
              <a:t>Hebben we kennis van </a:t>
            </a:r>
            <a:r>
              <a:rPr lang="nl-NL" dirty="0" err="1"/>
              <a:t>Vignere</a:t>
            </a:r>
            <a:r>
              <a:rPr lang="nl-NL" dirty="0"/>
              <a:t> </a:t>
            </a:r>
            <a:r>
              <a:rPr lang="nl-NL" dirty="0" err="1"/>
              <a:t>ciphers</a:t>
            </a:r>
            <a:endParaRPr lang="nl-NL" dirty="0"/>
          </a:p>
          <a:p>
            <a:pPr lvl="1"/>
            <a:r>
              <a:rPr lang="nl-NL" dirty="0"/>
              <a:t>Kunnen we </a:t>
            </a:r>
            <a:r>
              <a:rPr lang="nl-NL" dirty="0" err="1"/>
              <a:t>Ciphers</a:t>
            </a:r>
            <a:r>
              <a:rPr lang="nl-NL" dirty="0"/>
              <a:t> toepassen in code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4017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5BBC2D-9512-922B-B2F4-96E43CD8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Berichten versturen</a:t>
            </a:r>
          </a:p>
        </p:txBody>
      </p:sp>
      <p:pic>
        <p:nvPicPr>
          <p:cNvPr id="5" name="Tijdelijke aanduiding voor inhoud 4" descr="Man met effen opvulling">
            <a:extLst>
              <a:ext uri="{FF2B5EF4-FFF2-40B4-BE49-F238E27FC236}">
                <a16:creationId xmlns:a16="http://schemas.microsoft.com/office/drawing/2014/main" id="{5DEA3FA4-86BE-06C5-692E-EABBE54F4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8990" y="3176965"/>
            <a:ext cx="914400" cy="914400"/>
          </a:xfrm>
        </p:spPr>
      </p:pic>
      <p:pic>
        <p:nvPicPr>
          <p:cNvPr id="7" name="Graphic 6" descr="Vrouw silhouet">
            <a:extLst>
              <a:ext uri="{FF2B5EF4-FFF2-40B4-BE49-F238E27FC236}">
                <a16:creationId xmlns:a16="http://schemas.microsoft.com/office/drawing/2014/main" id="{98195FFF-2FDD-A855-FF95-F598D821DB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8610" y="3203296"/>
            <a:ext cx="914400" cy="914400"/>
          </a:xfrm>
          <a:prstGeom prst="rect">
            <a:avLst/>
          </a:prstGeom>
        </p:spPr>
      </p:pic>
      <p:pic>
        <p:nvPicPr>
          <p:cNvPr id="8" name="Tijdelijke aanduiding voor inhoud 4" descr="Man met effen opvulling">
            <a:extLst>
              <a:ext uri="{FF2B5EF4-FFF2-40B4-BE49-F238E27FC236}">
                <a16:creationId xmlns:a16="http://schemas.microsoft.com/office/drawing/2014/main" id="{47523EBE-8FA5-1479-39BA-01B7D8A49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7320" y="2136549"/>
            <a:ext cx="914400" cy="914400"/>
          </a:xfrm>
          <a:prstGeom prst="rect">
            <a:avLst/>
          </a:prstGeom>
        </p:spPr>
      </p:pic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5D7C58ED-6125-3B6D-C859-2964FE7B2BEA}"/>
              </a:ext>
            </a:extLst>
          </p:cNvPr>
          <p:cNvCxnSpPr/>
          <p:nvPr/>
        </p:nvCxnSpPr>
        <p:spPr>
          <a:xfrm>
            <a:off x="2533337" y="3687780"/>
            <a:ext cx="712032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Envelop met effen opvulling">
            <a:extLst>
              <a:ext uri="{FF2B5EF4-FFF2-40B4-BE49-F238E27FC236}">
                <a16:creationId xmlns:a16="http://schemas.microsoft.com/office/drawing/2014/main" id="{3B8D4D1C-DB56-8F1C-6358-4B94CB3BFF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2155" y="3011375"/>
            <a:ext cx="662365" cy="662365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F6923925-E923-19EE-9CDD-9B96B78DD9E1}"/>
              </a:ext>
            </a:extLst>
          </p:cNvPr>
          <p:cNvSpPr txBox="1"/>
          <p:nvPr/>
        </p:nvSpPr>
        <p:spPr>
          <a:xfrm>
            <a:off x="1607871" y="4209922"/>
            <a:ext cx="8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Sam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C156324C-0114-E7F8-2529-C3D7D2C557CC}"/>
              </a:ext>
            </a:extLst>
          </p:cNvPr>
          <p:cNvSpPr txBox="1"/>
          <p:nvPr/>
        </p:nvSpPr>
        <p:spPr>
          <a:xfrm>
            <a:off x="2533337" y="1767217"/>
            <a:ext cx="8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Mark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BC0F934F-3019-8EB6-14CD-FA4F30DCC500}"/>
              </a:ext>
            </a:extLst>
          </p:cNvPr>
          <p:cNvSpPr txBox="1"/>
          <p:nvPr/>
        </p:nvSpPr>
        <p:spPr>
          <a:xfrm>
            <a:off x="9807491" y="4209922"/>
            <a:ext cx="84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Lisa</a:t>
            </a:r>
          </a:p>
        </p:txBody>
      </p:sp>
      <p:pic>
        <p:nvPicPr>
          <p:cNvPr id="17" name="Graphic 16" descr="Open enveloppe met effen opvulling">
            <a:extLst>
              <a:ext uri="{FF2B5EF4-FFF2-40B4-BE49-F238E27FC236}">
                <a16:creationId xmlns:a16="http://schemas.microsoft.com/office/drawing/2014/main" id="{79F820A7-B129-E328-D46D-6DFC723DA3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1744" y="2975646"/>
            <a:ext cx="662365" cy="662365"/>
          </a:xfrm>
          <a:prstGeom prst="rect">
            <a:avLst/>
          </a:prstGeom>
        </p:spPr>
      </p:pic>
      <p:pic>
        <p:nvPicPr>
          <p:cNvPr id="19" name="Graphic 18" descr="Uitroepteken met effen opvulling">
            <a:extLst>
              <a:ext uri="{FF2B5EF4-FFF2-40B4-BE49-F238E27FC236}">
                <a16:creationId xmlns:a16="http://schemas.microsoft.com/office/drawing/2014/main" id="{F1EB9D21-B14E-1226-8181-19A35D5CB1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11383" y="715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7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7.40741E-7 L 0.24752 -7.40741E-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70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7.40741E-7 L 0.25195 -7.40741E-7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91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1.48148E-6 L 0.27552 1.48148E-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7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52 1.48148E-6 L 0.58412 1.48148E-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30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195 -7.40741E-7 L 0.52617 -7.40741E-7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11" y="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52 -7.40741E-7 L 0.51927 -7.40741E-7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4" grpId="1"/>
      <p:bldP spid="14" grpId="2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96EB8-8F00-E91C-BB9E-C5F7F38A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FFC3E-A027-88C3-0FB7-332E89FA9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Ciphers</a:t>
            </a:r>
            <a:r>
              <a:rPr lang="nl-NL" dirty="0"/>
              <a:t> – </a:t>
            </a:r>
            <a:r>
              <a:rPr lang="nl-NL" dirty="0" err="1"/>
              <a:t>Atbash</a:t>
            </a:r>
            <a:r>
              <a:rPr lang="nl-NL" dirty="0"/>
              <a:t> (Hebreeuws)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1A94844-0D43-6B7B-2473-D19520ABB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536961" cy="3872442"/>
          </a:xfrm>
        </p:spPr>
        <p:txBody>
          <a:bodyPr/>
          <a:lstStyle/>
          <a:p>
            <a:r>
              <a:rPr lang="nl-NL" dirty="0"/>
              <a:t>Het alfabet omdraaien en dan herschrijven in de nieuwe vorm.</a:t>
            </a:r>
          </a:p>
          <a:p>
            <a:r>
              <a:rPr lang="nl-NL" dirty="0"/>
              <a:t>Dit zorgde ervoor dat niemand de tekst snel kon lezen.</a:t>
            </a:r>
          </a:p>
          <a:p>
            <a:endParaRPr lang="nl-NL" dirty="0"/>
          </a:p>
          <a:p>
            <a:r>
              <a:rPr lang="nl-NL" dirty="0"/>
              <a:t>Hallo = </a:t>
            </a:r>
            <a:r>
              <a:rPr lang="nl-NL" dirty="0" err="1"/>
              <a:t>SzooL</a:t>
            </a:r>
            <a:endParaRPr lang="nl-NL" dirty="0"/>
          </a:p>
          <a:p>
            <a:r>
              <a:rPr lang="nl-NL" dirty="0"/>
              <a:t>Mario = </a:t>
            </a:r>
            <a:r>
              <a:rPr lang="nl-NL" dirty="0" err="1"/>
              <a:t>NziRl</a:t>
            </a:r>
            <a:endParaRPr lang="nl-NL" dirty="0"/>
          </a:p>
        </p:txBody>
      </p:sp>
      <p:pic>
        <p:nvPicPr>
          <p:cNvPr id="1026" name="Picture 2" descr="Cryptography Basics (1): Atbash Cipher | by Andawn F. | Medium">
            <a:extLst>
              <a:ext uri="{FF2B5EF4-FFF2-40B4-BE49-F238E27FC236}">
                <a16:creationId xmlns:a16="http://schemas.microsoft.com/office/drawing/2014/main" id="{92086A29-6A7C-C27A-715D-D34FBCCCC9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35" r="17790"/>
          <a:stretch>
            <a:fillRect/>
          </a:stretch>
        </p:blipFill>
        <p:spPr bwMode="auto">
          <a:xfrm>
            <a:off x="8637758" y="1162816"/>
            <a:ext cx="3554242" cy="4670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8F5B70B1-D7B3-A7E6-8CE5-09313C90A57A}"/>
              </a:ext>
            </a:extLst>
          </p:cNvPr>
          <p:cNvSpPr/>
          <p:nvPr/>
        </p:nvSpPr>
        <p:spPr>
          <a:xfrm rot="19885275">
            <a:off x="6791134" y="2863007"/>
            <a:ext cx="40593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Te makkelijk</a:t>
            </a:r>
          </a:p>
        </p:txBody>
      </p:sp>
    </p:spTree>
    <p:extLst>
      <p:ext uri="{BB962C8B-B14F-4D97-AF65-F5344CB8AC3E}">
        <p14:creationId xmlns:p14="http://schemas.microsoft.com/office/powerpoint/2010/main" val="375486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12C35-CADF-4D8A-CF85-A3B4EB83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70EDCD-D3E8-736B-5AA9-E4B0E279A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Ciphers</a:t>
            </a:r>
            <a:r>
              <a:rPr lang="nl-NL" dirty="0"/>
              <a:t> – Caesar (Romeins)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3B3E604-DBAD-8EA8-0AD3-6343780D5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4066" cy="3872442"/>
          </a:xfrm>
        </p:spPr>
        <p:txBody>
          <a:bodyPr>
            <a:normAutofit lnSpcReduction="10000"/>
          </a:bodyPr>
          <a:lstStyle/>
          <a:p>
            <a:r>
              <a:rPr lang="nl-NL" dirty="0"/>
              <a:t>Niet uitgevonden door caesar maar wel populair gemaakt.</a:t>
            </a:r>
          </a:p>
          <a:p>
            <a:r>
              <a:rPr lang="nl-NL" dirty="0"/>
              <a:t>Een bericht kond nu in plaats van 2 versies, nu 26 versies hebben.</a:t>
            </a:r>
          </a:p>
          <a:p>
            <a:r>
              <a:rPr lang="nl-NL" dirty="0"/>
              <a:t>De shift werd van te voren afgesproken of gedeeld met het bericht.</a:t>
            </a:r>
          </a:p>
          <a:p>
            <a:r>
              <a:rPr lang="nl-NL" dirty="0"/>
              <a:t>Een shift van 7 leverde op:</a:t>
            </a:r>
          </a:p>
          <a:p>
            <a:r>
              <a:rPr lang="nl-NL" dirty="0"/>
              <a:t>Hallo = </a:t>
            </a:r>
            <a:r>
              <a:rPr lang="nl-NL" dirty="0" err="1"/>
              <a:t>Ohssv</a:t>
            </a:r>
            <a:r>
              <a:rPr lang="nl-NL" dirty="0"/>
              <a:t> </a:t>
            </a:r>
          </a:p>
          <a:p>
            <a:r>
              <a:rPr lang="nl-NL" dirty="0"/>
              <a:t>Mario = </a:t>
            </a:r>
            <a:r>
              <a:rPr lang="nl-NL" dirty="0" err="1"/>
              <a:t>Thypv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21457CA-B474-8C73-9A74-A342BFA23D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027"/>
          <a:stretch>
            <a:fillRect/>
          </a:stretch>
        </p:blipFill>
        <p:spPr>
          <a:xfrm>
            <a:off x="7293189" y="1326629"/>
            <a:ext cx="4848844" cy="3770026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3994F37-251A-4F69-A270-8A2E9DCA0A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40" t="54936" r="19012" b="2176"/>
          <a:stretch>
            <a:fillRect/>
          </a:stretch>
        </p:blipFill>
        <p:spPr>
          <a:xfrm rot="5924651">
            <a:off x="8244826" y="1827687"/>
            <a:ext cx="2945569" cy="294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1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FEB10-6EFA-EA44-3D39-1F8CD5DF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87732-230A-80E6-90AE-BB26B0B1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Ciphers</a:t>
            </a:r>
            <a:r>
              <a:rPr lang="nl-NL" dirty="0"/>
              <a:t> – Caesar - zelf proberen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61DFBF1-E13B-3D72-12E7-522D2FE70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4066" cy="3872442"/>
          </a:xfrm>
        </p:spPr>
        <p:txBody>
          <a:bodyPr>
            <a:normAutofit/>
          </a:bodyPr>
          <a:lstStyle/>
          <a:p>
            <a:r>
              <a:rPr lang="nl-NL" dirty="0"/>
              <a:t>Codeer: </a:t>
            </a:r>
          </a:p>
          <a:p>
            <a:r>
              <a:rPr lang="nl-NL" dirty="0"/>
              <a:t>Ik kwam, ik zag, ik won (shift 8)</a:t>
            </a:r>
          </a:p>
          <a:p>
            <a:r>
              <a:rPr lang="nl-NL" dirty="0"/>
              <a:t>Cleopatra (Shift 4)</a:t>
            </a:r>
          </a:p>
          <a:p>
            <a:endParaRPr lang="nl-NL" dirty="0"/>
          </a:p>
          <a:p>
            <a:r>
              <a:rPr lang="nl-NL" dirty="0"/>
              <a:t>Decodeer:</a:t>
            </a:r>
          </a:p>
          <a:p>
            <a:r>
              <a:rPr lang="nl-NL" dirty="0" err="1"/>
              <a:t>Oxmbizdso</a:t>
            </a:r>
            <a:r>
              <a:rPr lang="nl-NL" dirty="0"/>
              <a:t> </a:t>
            </a:r>
            <a:r>
              <a:rPr lang="nl-NL" dirty="0" err="1"/>
              <a:t>sc</a:t>
            </a:r>
            <a:r>
              <a:rPr lang="nl-NL" dirty="0"/>
              <a:t> </a:t>
            </a:r>
            <a:r>
              <a:rPr lang="nl-NL" dirty="0" err="1"/>
              <a:t>cswzov</a:t>
            </a:r>
            <a:r>
              <a:rPr lang="nl-NL" dirty="0"/>
              <a:t> (Shift 10)</a:t>
            </a:r>
          </a:p>
          <a:p>
            <a:r>
              <a:rPr lang="nl-NL" dirty="0" err="1"/>
              <a:t>Ijhwduynj</a:t>
            </a:r>
            <a:r>
              <a:rPr lang="nl-NL" dirty="0"/>
              <a:t> </a:t>
            </a:r>
            <a:r>
              <a:rPr lang="nl-NL" dirty="0" err="1"/>
              <a:t>xtrx</a:t>
            </a:r>
            <a:r>
              <a:rPr lang="nl-NL" dirty="0"/>
              <a:t> </a:t>
            </a:r>
            <a:r>
              <a:rPr lang="nl-NL" dirty="0" err="1"/>
              <a:t>snjy</a:t>
            </a:r>
            <a:r>
              <a:rPr lang="nl-NL" dirty="0"/>
              <a:t> (Shift 5)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0EF6839-0980-498E-A572-075ECD20D0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027"/>
          <a:stretch>
            <a:fillRect/>
          </a:stretch>
        </p:blipFill>
        <p:spPr>
          <a:xfrm>
            <a:off x="7293189" y="1326629"/>
            <a:ext cx="4848844" cy="3770026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2773BD15-CB9E-D435-B716-0B955E261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936"/>
          <a:stretch>
            <a:fillRect/>
          </a:stretch>
        </p:blipFill>
        <p:spPr>
          <a:xfrm>
            <a:off x="7293189" y="1803140"/>
            <a:ext cx="4848844" cy="309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029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87F461-358D-C8CF-F67C-FFF90E62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Ciphers</a:t>
            </a:r>
            <a:r>
              <a:rPr lang="nl-NL" dirty="0"/>
              <a:t> – Caesar (Romeins)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4A5E6F7-6B2D-CD4F-B29A-A81BC6C26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4066" cy="3872442"/>
          </a:xfrm>
        </p:spPr>
        <p:txBody>
          <a:bodyPr>
            <a:normAutofit lnSpcReduction="10000"/>
          </a:bodyPr>
          <a:lstStyle/>
          <a:p>
            <a:r>
              <a:rPr lang="nl-NL" dirty="0"/>
              <a:t>Niet uitgevonden door caesar maar wel populair gemaakt.</a:t>
            </a:r>
          </a:p>
          <a:p>
            <a:r>
              <a:rPr lang="nl-NL" dirty="0"/>
              <a:t>Een bericht kond nu in plaats van 2 versies, nu 26 versies hebben.</a:t>
            </a:r>
          </a:p>
          <a:p>
            <a:r>
              <a:rPr lang="nl-NL" dirty="0"/>
              <a:t>De shift werd van te voren afgesproken of gedeeld met het bericht.</a:t>
            </a:r>
          </a:p>
          <a:p>
            <a:r>
              <a:rPr lang="nl-NL" dirty="0"/>
              <a:t>Een shift van 6 leverde op:</a:t>
            </a:r>
          </a:p>
          <a:p>
            <a:r>
              <a:rPr lang="nl-NL" dirty="0"/>
              <a:t>Hallo = </a:t>
            </a:r>
            <a:r>
              <a:rPr lang="nl-NL" dirty="0" err="1"/>
              <a:t>Ohssv</a:t>
            </a:r>
            <a:r>
              <a:rPr lang="nl-NL" dirty="0"/>
              <a:t> </a:t>
            </a:r>
          </a:p>
          <a:p>
            <a:r>
              <a:rPr lang="nl-NL" dirty="0"/>
              <a:t>Mario = </a:t>
            </a:r>
            <a:r>
              <a:rPr lang="nl-NL" dirty="0" err="1"/>
              <a:t>Thypv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D680706-32C5-5100-5019-2A7EA9A48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027"/>
          <a:stretch>
            <a:fillRect/>
          </a:stretch>
        </p:blipFill>
        <p:spPr>
          <a:xfrm>
            <a:off x="7293189" y="1326629"/>
            <a:ext cx="4848844" cy="3770026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6FB7F342-69B7-1D4A-AEEA-A3BA5A23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936"/>
          <a:stretch>
            <a:fillRect/>
          </a:stretch>
        </p:blipFill>
        <p:spPr>
          <a:xfrm>
            <a:off x="7293189" y="1803140"/>
            <a:ext cx="4848844" cy="3090472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C391EC3D-B6AD-F025-9BF7-6B1DB893DA1E}"/>
              </a:ext>
            </a:extLst>
          </p:cNvPr>
          <p:cNvSpPr/>
          <p:nvPr/>
        </p:nvSpPr>
        <p:spPr>
          <a:xfrm rot="19885275">
            <a:off x="7404825" y="3882551"/>
            <a:ext cx="40593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nl-NL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Te makkelijk</a:t>
            </a:r>
          </a:p>
        </p:txBody>
      </p:sp>
    </p:spTree>
    <p:extLst>
      <p:ext uri="{BB962C8B-B14F-4D97-AF65-F5344CB8AC3E}">
        <p14:creationId xmlns:p14="http://schemas.microsoft.com/office/powerpoint/2010/main" val="255744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1159-2432-2091-0A6D-6D4BE97EE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EB3DCA-4142-B1E2-BE85-475D8AEE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Ciphers</a:t>
            </a:r>
            <a:r>
              <a:rPr lang="nl-NL" dirty="0"/>
              <a:t> – </a:t>
            </a:r>
            <a:r>
              <a:rPr lang="nl-NL" dirty="0" err="1"/>
              <a:t>Vignere</a:t>
            </a:r>
            <a:r>
              <a:rPr lang="nl-NL" dirty="0"/>
              <a:t> (Italiaans/Frans)</a:t>
            </a:r>
          </a:p>
        </p:txBody>
      </p:sp>
      <p:pic>
        <p:nvPicPr>
          <p:cNvPr id="3074" name="Picture 2" descr="Vigenère cipher - Wikipedia">
            <a:extLst>
              <a:ext uri="{FF2B5EF4-FFF2-40B4-BE49-F238E27FC236}">
                <a16:creationId xmlns:a16="http://schemas.microsoft.com/office/drawing/2014/main" id="{D4708289-5C7D-7B97-1CE6-EC6BF081D5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184" y="1793822"/>
            <a:ext cx="4089816" cy="408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490F9FF7-A91A-E780-4931-A5BCDA4AD8B3}"/>
              </a:ext>
            </a:extLst>
          </p:cNvPr>
          <p:cNvSpPr txBox="1"/>
          <p:nvPr/>
        </p:nvSpPr>
        <p:spPr>
          <a:xfrm>
            <a:off x="9136505" y="1341620"/>
            <a:ext cx="251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Originele letter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EC614EB6-E773-C73E-E4B4-CC240D2377B5}"/>
              </a:ext>
            </a:extLst>
          </p:cNvPr>
          <p:cNvSpPr txBox="1"/>
          <p:nvPr/>
        </p:nvSpPr>
        <p:spPr>
          <a:xfrm rot="16200000">
            <a:off x="7507057" y="3654063"/>
            <a:ext cx="82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Key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1AB39D62-8175-7E90-0F37-309908B82F48}"/>
              </a:ext>
            </a:extLst>
          </p:cNvPr>
          <p:cNvSpPr txBox="1"/>
          <p:nvPr/>
        </p:nvSpPr>
        <p:spPr>
          <a:xfrm>
            <a:off x="9383843" y="3979889"/>
            <a:ext cx="1461541" cy="646331"/>
          </a:xfrm>
          <a:prstGeom prst="rect">
            <a:avLst/>
          </a:prstGeom>
          <a:solidFill>
            <a:srgbClr val="FFFEF3"/>
          </a:solidFill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Encryptie letter</a:t>
            </a:r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2D71B435-1981-67FF-0F6D-FADC1AD7F634}"/>
              </a:ext>
            </a:extLst>
          </p:cNvPr>
          <p:cNvSpPr/>
          <p:nvPr/>
        </p:nvSpPr>
        <p:spPr>
          <a:xfrm>
            <a:off x="10647544" y="3676011"/>
            <a:ext cx="288435" cy="33753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D7C06F7-E005-F4F9-CBBC-47F71684BD9D}"/>
              </a:ext>
            </a:extLst>
          </p:cNvPr>
          <p:cNvSpPr txBox="1"/>
          <p:nvPr/>
        </p:nvSpPr>
        <p:spPr>
          <a:xfrm>
            <a:off x="681197" y="1690688"/>
            <a:ext cx="71274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Bedacht door een Italiaan en populair gemaakt door een Franse diplomaat.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Encryptie stappen: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NL" dirty="0"/>
              <a:t>Kies een key (een woord van 5 of meer karakters lang)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NL" dirty="0"/>
              <a:t>Eerste letter van je originele bericht bovenin aanstippen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NL" dirty="0"/>
              <a:t>Eerste letter van de key aanstippen aan de zijkant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NL" dirty="0"/>
              <a:t>Letter op het kruispunt is je </a:t>
            </a:r>
            <a:r>
              <a:rPr lang="nl-NL" dirty="0" err="1"/>
              <a:t>cipher</a:t>
            </a:r>
            <a:r>
              <a:rPr lang="nl-NL" dirty="0"/>
              <a:t> letter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NL" dirty="0"/>
              <a:t>Herhaal dit tot je key op is en begin opnieuw met de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Decryptie</a:t>
            </a:r>
            <a:r>
              <a:rPr lang="nl-NL" dirty="0"/>
              <a:t> stappen: 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NL" dirty="0"/>
              <a:t>Zoek de eerste letter op de key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NL" dirty="0"/>
              <a:t>Kijk door de rij heen tot je de eerste letter van de encryptie kan vinden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NL" dirty="0"/>
              <a:t>Kijk in welke column je zit, dit is de letter van het originele bericht</a:t>
            </a:r>
          </a:p>
          <a:p>
            <a:pPr marL="800100" lvl="1" indent="-342900">
              <a:buFont typeface="+mj-lt"/>
              <a:buAutoNum type="arabicPeriod"/>
            </a:pPr>
            <a:r>
              <a:rPr lang="nl-NL" dirty="0"/>
              <a:t>Herhaal dit tot je het gehele bericht hebt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975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F2F5-9962-777F-B8FD-220A3DA9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A7692A-4B96-AD49-0A97-FC8D3982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Ciphers</a:t>
            </a:r>
            <a:r>
              <a:rPr lang="nl-NL" dirty="0"/>
              <a:t> – </a:t>
            </a:r>
            <a:r>
              <a:rPr lang="nl-NL" dirty="0" err="1"/>
              <a:t>Vignere</a:t>
            </a:r>
            <a:r>
              <a:rPr lang="nl-NL" dirty="0"/>
              <a:t> – zelf proberen</a:t>
            </a:r>
          </a:p>
        </p:txBody>
      </p:sp>
      <p:pic>
        <p:nvPicPr>
          <p:cNvPr id="3074" name="Picture 2" descr="Vigenère cipher - Wikipedia">
            <a:extLst>
              <a:ext uri="{FF2B5EF4-FFF2-40B4-BE49-F238E27FC236}">
                <a16:creationId xmlns:a16="http://schemas.microsoft.com/office/drawing/2014/main" id="{1C59796B-FE20-1384-7C54-AF912B55BB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184" y="1793822"/>
            <a:ext cx="4089816" cy="408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F2D6BDA8-B6C1-03EB-73B3-3E7F9D03C182}"/>
              </a:ext>
            </a:extLst>
          </p:cNvPr>
          <p:cNvSpPr txBox="1"/>
          <p:nvPr/>
        </p:nvSpPr>
        <p:spPr>
          <a:xfrm>
            <a:off x="9136505" y="1341620"/>
            <a:ext cx="251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Originele letter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7093A04E-98AC-C057-29EE-2A5042D150D6}"/>
              </a:ext>
            </a:extLst>
          </p:cNvPr>
          <p:cNvSpPr txBox="1"/>
          <p:nvPr/>
        </p:nvSpPr>
        <p:spPr>
          <a:xfrm rot="16200000">
            <a:off x="7507057" y="3654063"/>
            <a:ext cx="82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Key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8176043F-0E92-43D0-C52B-582B4078B3D5}"/>
              </a:ext>
            </a:extLst>
          </p:cNvPr>
          <p:cNvSpPr txBox="1"/>
          <p:nvPr/>
        </p:nvSpPr>
        <p:spPr>
          <a:xfrm>
            <a:off x="838199" y="1793822"/>
            <a:ext cx="63235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/>
              <a:t>Encryptie: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400" dirty="0"/>
              <a:t>Key: Nacht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400" dirty="0"/>
              <a:t>Bericht: Sneeuw vanavond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 err="1"/>
              <a:t>Decryptie</a:t>
            </a:r>
            <a:r>
              <a:rPr lang="nl-NL" sz="2400" dirty="0"/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400" dirty="0"/>
              <a:t>Key: </a:t>
            </a:r>
            <a:r>
              <a:rPr lang="nl-NL" sz="2400" dirty="0" err="1"/>
              <a:t>Vignere</a:t>
            </a:r>
            <a:endParaRPr lang="nl-NL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nl-NL" sz="2400" dirty="0" err="1"/>
              <a:t>Cipher</a:t>
            </a:r>
            <a:r>
              <a:rPr lang="nl-NL" sz="2400" dirty="0"/>
              <a:t>: </a:t>
            </a:r>
            <a:r>
              <a:rPr lang="nl-NL" sz="2400" dirty="0" err="1"/>
              <a:t>Ymiecgxdm</a:t>
            </a:r>
            <a:r>
              <a:rPr lang="nl-NL" sz="2400" dirty="0"/>
              <a:t> </a:t>
            </a:r>
            <a:r>
              <a:rPr lang="nl-NL" sz="2400" dirty="0" err="1"/>
              <a:t>qnr</a:t>
            </a:r>
            <a:r>
              <a:rPr lang="nl-NL" sz="2400" dirty="0"/>
              <a:t> </a:t>
            </a:r>
            <a:r>
              <a:rPr lang="nl-NL" sz="2400" dirty="0" err="1"/>
              <a:t>yizt</a:t>
            </a:r>
            <a:r>
              <a:rPr lang="nl-NL" sz="2400" dirty="0"/>
              <a:t> </a:t>
            </a:r>
            <a:r>
              <a:rPr lang="nl-NL" sz="2400" dirty="0" err="1"/>
              <a:t>rnrx</a:t>
            </a:r>
            <a:r>
              <a:rPr lang="nl-NL" sz="2400" dirty="0"/>
              <a:t> </a:t>
            </a:r>
            <a:r>
              <a:rPr lang="nl-NL" sz="2400" dirty="0" err="1"/>
              <a:t>hpzka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4046378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10481-E093-959C-5534-562B07B0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Andere </a:t>
            </a:r>
            <a:r>
              <a:rPr lang="nl-NL" dirty="0" err="1"/>
              <a:t>ciphers</a:t>
            </a:r>
            <a:r>
              <a:rPr lang="nl-NL" dirty="0"/>
              <a:t> en vroege methodes zijn: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0AB167-AE76-C8C1-1FD7-A6E920057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Morse code</a:t>
            </a:r>
          </a:p>
          <a:p>
            <a:r>
              <a:rPr lang="nl-NL" dirty="0" err="1"/>
              <a:t>Bitwise</a:t>
            </a:r>
            <a:r>
              <a:rPr lang="nl-NL" dirty="0"/>
              <a:t> / Bacon</a:t>
            </a:r>
          </a:p>
          <a:p>
            <a:r>
              <a:rPr lang="nl-NL" dirty="0" err="1"/>
              <a:t>Numeral</a:t>
            </a:r>
            <a:endParaRPr lang="nl-NL" dirty="0"/>
          </a:p>
          <a:p>
            <a:r>
              <a:rPr lang="nl-NL" dirty="0"/>
              <a:t>Enigma</a:t>
            </a:r>
          </a:p>
        </p:txBody>
      </p:sp>
      <p:pic>
        <p:nvPicPr>
          <p:cNvPr id="5122" name="Picture 2" descr="Morse code chart – MODERN OUT">
            <a:extLst>
              <a:ext uri="{FF2B5EF4-FFF2-40B4-BE49-F238E27FC236}">
                <a16:creationId xmlns:a16="http://schemas.microsoft.com/office/drawing/2014/main" id="{0401F112-7B5B-1A14-15F0-0F2BF4425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974" y="1671093"/>
            <a:ext cx="4532026" cy="416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04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CEDBCA-9686-BA2D-7700-D01EFBD5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Film aanrader: The </a:t>
            </a:r>
            <a:r>
              <a:rPr lang="nl-NL" dirty="0" err="1"/>
              <a:t>imitation</a:t>
            </a:r>
            <a:r>
              <a:rPr lang="nl-NL" dirty="0"/>
              <a:t> game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0B36D81-519F-A10E-F674-C0032D7C6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4970" cy="3872442"/>
          </a:xfrm>
        </p:spPr>
        <p:txBody>
          <a:bodyPr/>
          <a:lstStyle/>
          <a:p>
            <a:r>
              <a:rPr lang="nl-NL" dirty="0"/>
              <a:t>WW2 film over het breken van de enigma code</a:t>
            </a:r>
          </a:p>
          <a:p>
            <a:r>
              <a:rPr lang="nl-NL" dirty="0"/>
              <a:t>Gaat ook over Alan Turing, de grootvader van IT</a:t>
            </a:r>
          </a:p>
        </p:txBody>
      </p:sp>
      <p:pic>
        <p:nvPicPr>
          <p:cNvPr id="4098" name="Picture 2" descr="Imitation Game, The - DVD : Benedict Cumberbatch, Keira Knightley, Mark  Strong, Rory Kinnear, Matthew Goode: Movies &amp; TV - Amazon.com">
            <a:extLst>
              <a:ext uri="{FF2B5EF4-FFF2-40B4-BE49-F238E27FC236}">
                <a16:creationId xmlns:a16="http://schemas.microsoft.com/office/drawing/2014/main" id="{1AB21805-F00F-783F-874F-A3589B4F3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227" y="1146853"/>
            <a:ext cx="3392774" cy="477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40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06040-FB16-44F9-C1DE-5E5770B52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Programeer opdrachten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74CFEF9-956F-E8EB-F701-5D7E315E2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Kijk op de Dummymeneer GitHub voor de opdrachten van Cyber security en de slides</a:t>
            </a:r>
          </a:p>
          <a:p>
            <a:r>
              <a:rPr lang="nl-NL" dirty="0"/>
              <a:t>Hier komen ook extra materialen op te staan om te helpen met het examen.</a:t>
            </a:r>
          </a:p>
          <a:p>
            <a:r>
              <a:rPr lang="nl-NL" dirty="0">
                <a:hlinkClick r:id="rId2"/>
              </a:rPr>
              <a:t>https://github.com/DummyMeneer/Cyber-Security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0470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CC2B33-6240-1383-3AB0-654863A1F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week: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FEC841-999B-5A53-8831-A052022EA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Beveiliging</a:t>
            </a:r>
          </a:p>
          <a:p>
            <a:r>
              <a:rPr lang="nl-NL" dirty="0" err="1"/>
              <a:t>Algorithmes</a:t>
            </a:r>
            <a:endParaRPr lang="nl-NL" dirty="0"/>
          </a:p>
          <a:p>
            <a:r>
              <a:rPr lang="nl-NL" dirty="0"/>
              <a:t>Encryptie</a:t>
            </a:r>
          </a:p>
          <a:p>
            <a:pPr lvl="1"/>
            <a:r>
              <a:rPr lang="nl-NL" dirty="0" err="1"/>
              <a:t>Hashing</a:t>
            </a:r>
            <a:endParaRPr lang="nl-NL" dirty="0"/>
          </a:p>
          <a:p>
            <a:pPr lvl="1"/>
            <a:r>
              <a:rPr lang="nl-NL" dirty="0"/>
              <a:t>RSA</a:t>
            </a:r>
          </a:p>
        </p:txBody>
      </p:sp>
      <p:pic>
        <p:nvPicPr>
          <p:cNvPr id="7170" name="Picture 2" descr="Strengthening Your Digital Fortress: The Importance of ...">
            <a:extLst>
              <a:ext uri="{FF2B5EF4-FFF2-40B4-BE49-F238E27FC236}">
                <a16:creationId xmlns:a16="http://schemas.microsoft.com/office/drawing/2014/main" id="{DF0DC629-556D-942C-7407-3AB581DA0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927" y="-63394"/>
            <a:ext cx="4811914" cy="270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4624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581</Words>
  <Application>Microsoft Office PowerPoint</Application>
  <PresentationFormat>Breedbeeld</PresentationFormat>
  <Paragraphs>125</Paragraphs>
  <Slides>18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Kantoorthema</vt:lpstr>
      <vt:lpstr>Cyber security les 1</vt:lpstr>
      <vt:lpstr>Programma</vt:lpstr>
      <vt:lpstr>Introductie: cyber security</vt:lpstr>
      <vt:lpstr>Introductie: cyber security</vt:lpstr>
      <vt:lpstr>Toetsing – 2 delig</vt:lpstr>
      <vt:lpstr>Lesopbouw</vt:lpstr>
      <vt:lpstr>Leerdoelen</vt:lpstr>
      <vt:lpstr>Berichten versturen</vt:lpstr>
      <vt:lpstr>Ciphers – Atbash (Hebreeuws) </vt:lpstr>
      <vt:lpstr>Ciphers – Caesar (Romeins)</vt:lpstr>
      <vt:lpstr>Ciphers – Caesar - zelf proberen</vt:lpstr>
      <vt:lpstr>Ciphers – Caesar (Romeins)</vt:lpstr>
      <vt:lpstr>Ciphers – Vignere (Italiaans/Frans)</vt:lpstr>
      <vt:lpstr>Ciphers – Vignere – zelf proberen</vt:lpstr>
      <vt:lpstr>Andere ciphers en vroege methodes zijn:</vt:lpstr>
      <vt:lpstr>Film aanrader: The imitation game</vt:lpstr>
      <vt:lpstr>Programeer opdrachten</vt:lpstr>
      <vt:lpstr>Volgende week: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15</cp:revision>
  <dcterms:created xsi:type="dcterms:W3CDTF">2026-02-02T17:12:25Z</dcterms:created>
  <dcterms:modified xsi:type="dcterms:W3CDTF">2026-02-18T21:23:19Z</dcterms:modified>
</cp:coreProperties>
</file>