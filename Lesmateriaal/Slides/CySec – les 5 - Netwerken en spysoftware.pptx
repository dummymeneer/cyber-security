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8" r:id="rId6"/>
    <p:sldId id="265" r:id="rId7"/>
    <p:sldId id="269" r:id="rId8"/>
    <p:sldId id="261" r:id="rId9"/>
    <p:sldId id="273" r:id="rId10"/>
    <p:sldId id="264" r:id="rId11"/>
    <p:sldId id="262" r:id="rId12"/>
    <p:sldId id="263" r:id="rId13"/>
    <p:sldId id="271" r:id="rId14"/>
    <p:sldId id="272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216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7-3-2026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CySec</a:t>
            </a:r>
            <a:r>
              <a:rPr lang="nl-NL" dirty="0"/>
              <a:t> – les 5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Netwerken, Man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middle</a:t>
            </a:r>
            <a:r>
              <a:rPr lang="nl-NL" dirty="0"/>
              <a:t>, netwerk beveiliging en </a:t>
            </a:r>
            <a:r>
              <a:rPr lang="nl-NL" dirty="0" err="1"/>
              <a:t>wireshark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vorige les</a:t>
            </a:r>
          </a:p>
          <a:p>
            <a:r>
              <a:rPr lang="nl-NL" dirty="0"/>
              <a:t>Leerdoelen</a:t>
            </a:r>
          </a:p>
          <a:p>
            <a:r>
              <a:rPr lang="nl-NL" dirty="0"/>
              <a:t>Netwerken</a:t>
            </a:r>
          </a:p>
          <a:p>
            <a:r>
              <a:rPr lang="nl-NL" dirty="0"/>
              <a:t>Man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middle</a:t>
            </a:r>
            <a:endParaRPr lang="nl-NL" dirty="0"/>
          </a:p>
          <a:p>
            <a:r>
              <a:rPr lang="nl-NL" dirty="0"/>
              <a:t>Netwerk beveiliging</a:t>
            </a:r>
          </a:p>
          <a:p>
            <a:r>
              <a:rPr lang="nl-NL" dirty="0" err="1"/>
              <a:t>Wireshark</a:t>
            </a:r>
            <a:r>
              <a:rPr lang="nl-NL" dirty="0"/>
              <a:t> en netwerkverkeer</a:t>
            </a:r>
          </a:p>
          <a:p>
            <a:r>
              <a:rPr lang="nl-NL" dirty="0"/>
              <a:t>Volgende week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5855A-447C-1837-7276-355F822E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C96C40-E495-1DDD-8C30-9641A0EA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Weet je de basis structuur van een netwerk</a:t>
            </a:r>
          </a:p>
          <a:p>
            <a:pPr lvl="1"/>
            <a:r>
              <a:rPr lang="nl-NL" dirty="0"/>
              <a:t>Weet je wat voor soort berichten over een netwerk gaan</a:t>
            </a:r>
          </a:p>
          <a:p>
            <a:pPr lvl="1"/>
            <a:r>
              <a:rPr lang="nl-NL" dirty="0"/>
              <a:t>Weet je hoe een man in de </a:t>
            </a:r>
            <a:r>
              <a:rPr lang="nl-NL" dirty="0" err="1"/>
              <a:t>middle</a:t>
            </a:r>
            <a:r>
              <a:rPr lang="nl-NL" dirty="0"/>
              <a:t> werkt</a:t>
            </a:r>
          </a:p>
          <a:p>
            <a:pPr lvl="1"/>
            <a:r>
              <a:rPr lang="nl-NL" dirty="0"/>
              <a:t>Weet je wat te doen om een man in de </a:t>
            </a:r>
            <a:r>
              <a:rPr lang="nl-NL" dirty="0" err="1"/>
              <a:t>middle</a:t>
            </a:r>
            <a:r>
              <a:rPr lang="nl-NL" dirty="0"/>
              <a:t> tegen te gaan</a:t>
            </a:r>
          </a:p>
          <a:p>
            <a:pPr lvl="1"/>
            <a:r>
              <a:rPr lang="nl-NL" dirty="0"/>
              <a:t>Weet je wat je kan doen om een netwerk gepast te beveiligen</a:t>
            </a:r>
          </a:p>
          <a:p>
            <a:pPr lvl="1"/>
            <a:r>
              <a:rPr lang="nl-NL" dirty="0"/>
              <a:t>Kan je een Netwerk monitoren en berichten filteren</a:t>
            </a:r>
          </a:p>
        </p:txBody>
      </p:sp>
    </p:spTree>
    <p:extLst>
      <p:ext uri="{BB962C8B-B14F-4D97-AF65-F5344CB8AC3E}">
        <p14:creationId xmlns:p14="http://schemas.microsoft.com/office/powerpoint/2010/main" val="261652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CD66F-CF73-FEB2-B219-E7F12F8A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Netwerken</a:t>
            </a:r>
          </a:p>
        </p:txBody>
      </p:sp>
      <p:pic>
        <p:nvPicPr>
          <p:cNvPr id="5" name="Graphic 4" descr="Netwerk met effen opvulling">
            <a:extLst>
              <a:ext uri="{FF2B5EF4-FFF2-40B4-BE49-F238E27FC236}">
                <a16:creationId xmlns:a16="http://schemas.microsoft.com/office/drawing/2014/main" id="{D2DA0BF0-5957-EBB2-5B1B-FDB47B929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708" y="1825625"/>
            <a:ext cx="4018584" cy="4018584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9B7252-C2BB-B3F6-C40F-DA15C2ADD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>
            <a:normAutofit/>
          </a:bodyPr>
          <a:lstStyle/>
          <a:p>
            <a:r>
              <a:rPr lang="nl-NL" dirty="0"/>
              <a:t>Een connectie tussen twee of meer computerende apparaten</a:t>
            </a:r>
          </a:p>
          <a:p>
            <a:r>
              <a:rPr lang="nl-NL" dirty="0"/>
              <a:t>3 kern-types van netwerken</a:t>
            </a:r>
          </a:p>
          <a:p>
            <a:pPr lvl="1"/>
            <a:r>
              <a:rPr lang="nl-NL" sz="2800"/>
              <a:t>Direct pc-pc (Komt bijna niet meer voor)</a:t>
            </a:r>
          </a:p>
          <a:p>
            <a:pPr lvl="1"/>
            <a:r>
              <a:rPr lang="nl-NL" sz="2800"/>
              <a:t>Kabelnetwerk (Ethernet, USB-C)</a:t>
            </a:r>
          </a:p>
          <a:p>
            <a:pPr lvl="1"/>
            <a:r>
              <a:rPr lang="nl-NL" sz="2800"/>
              <a:t>Draadloos (Wifi, 5G)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163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9FCC-7831-D105-403F-A8314BB0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4C9877-E549-5D69-27BA-0A5EA4AD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Netwerk aanvallen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BCE78C-2EB1-CD07-E8E9-3BA9D9AE7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NL" dirty="0"/>
              <a:t>Blokkade/weigeringsaanvallen</a:t>
            </a:r>
          </a:p>
          <a:p>
            <a:pPr lvl="1"/>
            <a:r>
              <a:rPr lang="nl-NL" dirty="0"/>
              <a:t>DDOS – Distributed </a:t>
            </a:r>
            <a:r>
              <a:rPr lang="nl-NL" dirty="0" err="1"/>
              <a:t>denial</a:t>
            </a:r>
            <a:r>
              <a:rPr lang="nl-NL" dirty="0"/>
              <a:t> of services</a:t>
            </a:r>
          </a:p>
          <a:p>
            <a:pPr lvl="2"/>
            <a:r>
              <a:rPr lang="nl-NL" dirty="0"/>
              <a:t>Het platleggen van een systeem door het netwerk te bombarderen met verzoeken van vele plaatsen</a:t>
            </a:r>
          </a:p>
          <a:p>
            <a:pPr lvl="1"/>
            <a:r>
              <a:rPr lang="nl-NL" dirty="0"/>
              <a:t>Volume bezetting/sturing</a:t>
            </a:r>
          </a:p>
          <a:p>
            <a:pPr lvl="2"/>
            <a:r>
              <a:rPr lang="nl-NL" dirty="0"/>
              <a:t>Een netwerk bezet houden waardoor werkelijke berichten niet erdoorheen komen</a:t>
            </a:r>
          </a:p>
          <a:p>
            <a:pPr lvl="1"/>
            <a:r>
              <a:rPr lang="nl-NL" dirty="0"/>
              <a:t>Malafide geformatteerde pakketten aanvallen</a:t>
            </a:r>
          </a:p>
          <a:p>
            <a:pPr lvl="2"/>
            <a:r>
              <a:rPr lang="nl-NL" dirty="0"/>
              <a:t>Een invoer die de server/service der mate verlangzaamd dat deze niet goed meer kan functioneren</a:t>
            </a:r>
          </a:p>
          <a:p>
            <a:r>
              <a:rPr lang="nl-NL" dirty="0"/>
              <a:t>Toegang aanvallen</a:t>
            </a:r>
          </a:p>
          <a:p>
            <a:pPr lvl="1"/>
            <a:r>
              <a:rPr lang="nl-NL" dirty="0"/>
              <a:t>IP </a:t>
            </a:r>
            <a:r>
              <a:rPr lang="nl-NL" dirty="0" err="1"/>
              <a:t>spoofing</a:t>
            </a:r>
            <a:endParaRPr lang="nl-NL" dirty="0"/>
          </a:p>
          <a:p>
            <a:pPr lvl="2"/>
            <a:r>
              <a:rPr lang="nl-NL" dirty="0"/>
              <a:t>Maskeer je IP adres om te doen alsof je al op een netwerk zit of hoort om toegang te krijgen.</a:t>
            </a:r>
          </a:p>
          <a:p>
            <a:pPr lvl="1"/>
            <a:r>
              <a:rPr lang="nl-NL" dirty="0"/>
              <a:t>Man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middle</a:t>
            </a:r>
            <a:r>
              <a:rPr lang="nl-NL" dirty="0"/>
              <a:t>/ </a:t>
            </a:r>
            <a:r>
              <a:rPr lang="nl-NL" dirty="0" err="1"/>
              <a:t>packet</a:t>
            </a:r>
            <a:r>
              <a:rPr lang="nl-NL" dirty="0"/>
              <a:t> </a:t>
            </a:r>
            <a:r>
              <a:rPr lang="nl-NL" dirty="0" err="1"/>
              <a:t>sniffing</a:t>
            </a:r>
            <a:endParaRPr lang="nl-NL" dirty="0"/>
          </a:p>
          <a:p>
            <a:pPr lvl="2"/>
            <a:r>
              <a:rPr lang="nl-NL" dirty="0"/>
              <a:t>Netwerken afluisteren om data te krijgen of om cruciale gegevens te vinden om meer toegang te krijgen.</a:t>
            </a:r>
          </a:p>
        </p:txBody>
      </p:sp>
      <p:pic>
        <p:nvPicPr>
          <p:cNvPr id="5" name="Graphic 4" descr="Bakstenen muur met effen opvulling">
            <a:extLst>
              <a:ext uri="{FF2B5EF4-FFF2-40B4-BE49-F238E27FC236}">
                <a16:creationId xmlns:a16="http://schemas.microsoft.com/office/drawing/2014/main" id="{1A534065-879A-3BA4-B7D5-DF39963B0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3626" y="425415"/>
            <a:ext cx="2026170" cy="2026170"/>
          </a:xfrm>
          <a:prstGeom prst="rect">
            <a:avLst/>
          </a:prstGeom>
        </p:spPr>
      </p:pic>
      <p:pic>
        <p:nvPicPr>
          <p:cNvPr id="7" name="Graphic 6" descr="Klep open met effen opvulling">
            <a:extLst>
              <a:ext uri="{FF2B5EF4-FFF2-40B4-BE49-F238E27FC236}">
                <a16:creationId xmlns:a16="http://schemas.microsoft.com/office/drawing/2014/main" id="{394F891C-4958-5F7C-ABBE-99508366C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850" y="4729397"/>
            <a:ext cx="1307892" cy="130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7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07051-0F3C-18D1-A04F-F432EA76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Netwerk aanvallen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5DC7E6-20F3-149A-4BB4-6A7FD625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Onderzoekende aanvallen</a:t>
            </a:r>
          </a:p>
          <a:p>
            <a:pPr lvl="1"/>
            <a:r>
              <a:rPr lang="nl-NL" dirty="0"/>
              <a:t>Ping/port </a:t>
            </a:r>
            <a:r>
              <a:rPr lang="nl-NL" dirty="0" err="1"/>
              <a:t>sweeping</a:t>
            </a:r>
            <a:endParaRPr lang="nl-NL" dirty="0"/>
          </a:p>
          <a:p>
            <a:pPr lvl="2"/>
            <a:r>
              <a:rPr lang="nl-NL" dirty="0"/>
              <a:t>Welke apparaten/ poorten staan open om toegang te verlenen op een netwerk en hoe kan je die benutten om vervolgens verder in het systeem te komen.</a:t>
            </a:r>
          </a:p>
          <a:p>
            <a:r>
              <a:rPr lang="nl-NL" dirty="0"/>
              <a:t>Afluisterende aanvallen</a:t>
            </a:r>
          </a:p>
          <a:p>
            <a:pPr lvl="1"/>
            <a:r>
              <a:rPr lang="nl-NL" dirty="0"/>
              <a:t>IP </a:t>
            </a:r>
            <a:r>
              <a:rPr lang="nl-NL" dirty="0" err="1"/>
              <a:t>spoofing</a:t>
            </a:r>
            <a:endParaRPr lang="nl-NL" dirty="0"/>
          </a:p>
          <a:p>
            <a:pPr lvl="2"/>
            <a:r>
              <a:rPr lang="nl-NL" dirty="0"/>
              <a:t>Slechte netwerken controleren niet of er een dubbel IP adres actief is op het netwerk. Beide krijgen een kopie van al hun binnenkomende berichten.</a:t>
            </a:r>
          </a:p>
        </p:txBody>
      </p:sp>
      <p:pic>
        <p:nvPicPr>
          <p:cNvPr id="5" name="Graphic 4" descr="Vergrootglas met effen opvulling">
            <a:extLst>
              <a:ext uri="{FF2B5EF4-FFF2-40B4-BE49-F238E27FC236}">
                <a16:creationId xmlns:a16="http://schemas.microsoft.com/office/drawing/2014/main" id="{AB4A0A85-D6C4-DD81-CD96-9C714D763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46" y="365125"/>
            <a:ext cx="1661410" cy="1661410"/>
          </a:xfrm>
          <a:prstGeom prst="rect">
            <a:avLst/>
          </a:prstGeom>
        </p:spPr>
      </p:pic>
      <p:pic>
        <p:nvPicPr>
          <p:cNvPr id="7" name="Graphic 6" descr="Oor met effen opvulling">
            <a:extLst>
              <a:ext uri="{FF2B5EF4-FFF2-40B4-BE49-F238E27FC236}">
                <a16:creationId xmlns:a16="http://schemas.microsoft.com/office/drawing/2014/main" id="{FB76A6A6-A8B4-26B8-999D-580E994A1F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8314" y="4507441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7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2699A-2C07-D10A-E265-468613EB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Netwerk aanvallen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D0633F-36BA-C132-F28C-B68877065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Brekende/manipulerende aanvallen</a:t>
            </a:r>
          </a:p>
          <a:p>
            <a:pPr lvl="1"/>
            <a:r>
              <a:rPr lang="nl-NL" dirty="0"/>
              <a:t>Buffer overflow aanvallen</a:t>
            </a:r>
          </a:p>
          <a:p>
            <a:pPr lvl="2"/>
            <a:r>
              <a:rPr lang="nl-NL" dirty="0"/>
              <a:t>Gebruik maken van server zwaktes om </a:t>
            </a:r>
            <a:r>
              <a:rPr lang="nl-NL" dirty="0" err="1"/>
              <a:t>errors</a:t>
            </a:r>
            <a:r>
              <a:rPr lang="nl-NL" dirty="0"/>
              <a:t> herhaaldelijk te </a:t>
            </a:r>
            <a:r>
              <a:rPr lang="nl-NL" dirty="0" err="1"/>
              <a:t>creeren</a:t>
            </a:r>
            <a:r>
              <a:rPr lang="nl-NL" dirty="0"/>
              <a:t> om zo het </a:t>
            </a:r>
            <a:r>
              <a:rPr lang="nl-NL" dirty="0" err="1"/>
              <a:t>systeem’s</a:t>
            </a:r>
            <a:r>
              <a:rPr lang="nl-NL" dirty="0"/>
              <a:t> geheugen aan te tasten. Dit zorgt ervoor dat er een gat ontstaat in de code en die kan een hacker vullen met eigen code</a:t>
            </a:r>
          </a:p>
          <a:p>
            <a:endParaRPr lang="nl-NL" dirty="0"/>
          </a:p>
        </p:txBody>
      </p:sp>
      <p:pic>
        <p:nvPicPr>
          <p:cNvPr id="5" name="Graphic 4" descr="Hammer1 met effen opvulling">
            <a:extLst>
              <a:ext uri="{FF2B5EF4-FFF2-40B4-BE49-F238E27FC236}">
                <a16:creationId xmlns:a16="http://schemas.microsoft.com/office/drawing/2014/main" id="{FEC0A9AF-2F0D-F756-C4C5-0C64F205D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9590" y="4264701"/>
            <a:ext cx="2042410" cy="204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28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95BE0-501F-8251-3E4D-3CE87818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Man in de </a:t>
            </a:r>
            <a:r>
              <a:rPr lang="nl-NL" dirty="0" err="1"/>
              <a:t>middle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B0760A-3050-34A5-05D0-772090E8F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Tijdelijke aanduiding voor inhoud 4" descr="Man met effen opvulling">
            <a:extLst>
              <a:ext uri="{FF2B5EF4-FFF2-40B4-BE49-F238E27FC236}">
                <a16:creationId xmlns:a16="http://schemas.microsoft.com/office/drawing/2014/main" id="{B7B79539-17CB-2450-9FC6-D5040E1A9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8990" y="3176965"/>
            <a:ext cx="914400" cy="914400"/>
          </a:xfrm>
          <a:prstGeom prst="rect">
            <a:avLst/>
          </a:prstGeom>
        </p:spPr>
      </p:pic>
      <p:pic>
        <p:nvPicPr>
          <p:cNvPr id="6" name="Graphic 5" descr="Vrouw silhouet">
            <a:extLst>
              <a:ext uri="{FF2B5EF4-FFF2-40B4-BE49-F238E27FC236}">
                <a16:creationId xmlns:a16="http://schemas.microsoft.com/office/drawing/2014/main" id="{D27C3BD6-DFA4-00AA-16CF-98E4A3B88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8610" y="3203296"/>
            <a:ext cx="914400" cy="914400"/>
          </a:xfrm>
          <a:prstGeom prst="rect">
            <a:avLst/>
          </a:prstGeom>
        </p:spPr>
      </p:pic>
      <p:pic>
        <p:nvPicPr>
          <p:cNvPr id="7" name="Tijdelijke aanduiding voor inhoud 4" descr="Man met effen opvulling">
            <a:extLst>
              <a:ext uri="{FF2B5EF4-FFF2-40B4-BE49-F238E27FC236}">
                <a16:creationId xmlns:a16="http://schemas.microsoft.com/office/drawing/2014/main" id="{C3983198-50BE-6073-36EC-280FEC6C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7320" y="2136549"/>
            <a:ext cx="914400" cy="914400"/>
          </a:xfrm>
          <a:prstGeom prst="rect">
            <a:avLst/>
          </a:prstGeom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30F2914D-BBD0-DEC8-1DFB-4390909E7C97}"/>
              </a:ext>
            </a:extLst>
          </p:cNvPr>
          <p:cNvCxnSpPr/>
          <p:nvPr/>
        </p:nvCxnSpPr>
        <p:spPr>
          <a:xfrm>
            <a:off x="2533337" y="3687780"/>
            <a:ext cx="712032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Envelop met effen opvulling">
            <a:extLst>
              <a:ext uri="{FF2B5EF4-FFF2-40B4-BE49-F238E27FC236}">
                <a16:creationId xmlns:a16="http://schemas.microsoft.com/office/drawing/2014/main" id="{0F2AF238-03E9-7AC9-CD3C-B7440421C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2155" y="3011375"/>
            <a:ext cx="662365" cy="66236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F5A5E28D-B377-FA0B-39C8-9527CFAB42C1}"/>
              </a:ext>
            </a:extLst>
          </p:cNvPr>
          <p:cNvSpPr txBox="1"/>
          <p:nvPr/>
        </p:nvSpPr>
        <p:spPr>
          <a:xfrm>
            <a:off x="1607871" y="4209922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Sam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99FDECAB-7966-D746-FBF8-3A377C5CC855}"/>
              </a:ext>
            </a:extLst>
          </p:cNvPr>
          <p:cNvSpPr txBox="1"/>
          <p:nvPr/>
        </p:nvSpPr>
        <p:spPr>
          <a:xfrm>
            <a:off x="2533337" y="1767217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Mark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96D1ABE-2260-3DA4-5C7A-3AAED3F969F1}"/>
              </a:ext>
            </a:extLst>
          </p:cNvPr>
          <p:cNvSpPr txBox="1"/>
          <p:nvPr/>
        </p:nvSpPr>
        <p:spPr>
          <a:xfrm>
            <a:off x="9807491" y="4209922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Lisa</a:t>
            </a:r>
          </a:p>
        </p:txBody>
      </p:sp>
      <p:pic>
        <p:nvPicPr>
          <p:cNvPr id="13" name="Graphic 12" descr="Open enveloppe met effen opvulling">
            <a:extLst>
              <a:ext uri="{FF2B5EF4-FFF2-40B4-BE49-F238E27FC236}">
                <a16:creationId xmlns:a16="http://schemas.microsoft.com/office/drawing/2014/main" id="{2E10F89B-C470-7D66-7730-75B5003D5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1744" y="2975646"/>
            <a:ext cx="662365" cy="662365"/>
          </a:xfrm>
          <a:prstGeom prst="rect">
            <a:avLst/>
          </a:prstGeom>
        </p:spPr>
      </p:pic>
      <p:pic>
        <p:nvPicPr>
          <p:cNvPr id="14" name="Graphic 13" descr="Uitroepteken met effen opvulling">
            <a:extLst>
              <a:ext uri="{FF2B5EF4-FFF2-40B4-BE49-F238E27FC236}">
                <a16:creationId xmlns:a16="http://schemas.microsoft.com/office/drawing/2014/main" id="{CF4F3997-E385-C30A-726B-F46E75B35C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1383" y="715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0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24752 -7.40741E-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0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7.40741E-7 L 0.25195 -7.40741E-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48148E-6 L 0.27552 1.48148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52 1.48148E-6 L 0.58412 1.48148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30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95 -7.40741E-7 L 0.52617 -7.40741E-7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11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52 -7.40741E-7 L 0.51927 -7.40741E-7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1" grpId="1"/>
      <p:bldP spid="11" grpId="2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56AA6D-017F-3573-F044-9D2399B0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Bekende netwerk tactieken en voorbeelden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F5138A-4388-6D78-9143-191146A67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“Wifi in de trein” techniek</a:t>
            </a:r>
          </a:p>
          <a:p>
            <a:r>
              <a:rPr lang="nl-NL" dirty="0"/>
              <a:t>De “Koffieshop” techniek</a:t>
            </a:r>
          </a:p>
          <a:p>
            <a:r>
              <a:rPr lang="nl-NL" dirty="0"/>
              <a:t>Het “IT studentenhuis” fiasco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Extra: het pride parade schandaal van een groep onderzoekers</a:t>
            </a:r>
          </a:p>
        </p:txBody>
      </p:sp>
    </p:spTree>
    <p:extLst>
      <p:ext uri="{BB962C8B-B14F-4D97-AF65-F5344CB8AC3E}">
        <p14:creationId xmlns:p14="http://schemas.microsoft.com/office/powerpoint/2010/main" val="117770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D8AC7-F844-E434-22D7-47EB4666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Netwerk beveiliging - invalshoeken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A93119-D33B-E206-5C87-0A2420A03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Voorkom connectie</a:t>
            </a:r>
          </a:p>
          <a:p>
            <a:r>
              <a:rPr lang="nl-NL" dirty="0"/>
              <a:t>Voorkom toegang</a:t>
            </a:r>
          </a:p>
          <a:p>
            <a:r>
              <a:rPr lang="nl-NL" dirty="0"/>
              <a:t>Voorkom </a:t>
            </a:r>
            <a:r>
              <a:rPr lang="nl-NL" dirty="0" err="1"/>
              <a:t>ongeauthorizeerde</a:t>
            </a:r>
            <a:r>
              <a:rPr lang="nl-NL" dirty="0"/>
              <a:t> data</a:t>
            </a:r>
          </a:p>
          <a:p>
            <a:r>
              <a:rPr lang="nl-NL" dirty="0"/>
              <a:t>Voorkom data extractie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7852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1C623F-8EDD-04A0-7256-DD23FAC9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Netwerk beveiliging - thuis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1571CC-0F7B-F2C6-5EF9-09376272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WPA3 versleuteling</a:t>
            </a:r>
          </a:p>
          <a:p>
            <a:r>
              <a:rPr lang="nl-NL" dirty="0"/>
              <a:t>Splitsing tussen privé en gast netwerk</a:t>
            </a:r>
          </a:p>
          <a:p>
            <a:r>
              <a:rPr lang="nl-NL" dirty="0"/>
              <a:t>Beveiligd netwerk zonder publieke fysieke aansluiting</a:t>
            </a:r>
          </a:p>
          <a:p>
            <a:r>
              <a:rPr lang="nl-NL" dirty="0"/>
              <a:t>Firewalls</a:t>
            </a:r>
          </a:p>
          <a:p>
            <a:r>
              <a:rPr lang="nl-NL" dirty="0"/>
              <a:t>VPN</a:t>
            </a:r>
          </a:p>
          <a:p>
            <a:r>
              <a:rPr lang="nl-NL" dirty="0"/>
              <a:t>Sterke geheime wachtwoorden, dit blokkeert 70% van de privé dreigingen</a:t>
            </a:r>
          </a:p>
          <a:p>
            <a:r>
              <a:rPr lang="nl-NL" dirty="0"/>
              <a:t>Formeel verzoek tot verwijdering data geschiedenis bij internet provider</a:t>
            </a:r>
            <a:br>
              <a:rPr lang="nl-NL" dirty="0"/>
            </a:br>
            <a:r>
              <a:rPr lang="nl-NL" b="1" dirty="0"/>
              <a:t>'recht op vergetelheid'</a:t>
            </a:r>
            <a:r>
              <a:rPr lang="nl-NL" dirty="0"/>
              <a:t> (artikel 17 AVG)</a:t>
            </a:r>
          </a:p>
        </p:txBody>
      </p:sp>
    </p:spTree>
    <p:extLst>
      <p:ext uri="{BB962C8B-B14F-4D97-AF65-F5344CB8AC3E}">
        <p14:creationId xmlns:p14="http://schemas.microsoft.com/office/powerpoint/2010/main" val="407970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CEC88-3D46-F402-7693-C4F510DB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Spysoftware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26A35B-3FEA-46C1-6448-941478EAA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Hackers willen om meerdere redenen </a:t>
            </a:r>
            <a:r>
              <a:rPr lang="nl-NL" dirty="0" err="1"/>
              <a:t>spysoftware</a:t>
            </a:r>
            <a:r>
              <a:rPr lang="nl-NL" dirty="0"/>
              <a:t> plaatsen</a:t>
            </a:r>
          </a:p>
          <a:p>
            <a:pPr lvl="1"/>
            <a:r>
              <a:rPr lang="nl-NL" dirty="0"/>
              <a:t>Chantage (blackmail) van personen of bedrijven</a:t>
            </a:r>
          </a:p>
          <a:p>
            <a:pPr lvl="1"/>
            <a:r>
              <a:rPr lang="nl-NL" dirty="0"/>
              <a:t>Bedrijfsgeheimen</a:t>
            </a:r>
          </a:p>
          <a:p>
            <a:pPr lvl="1"/>
            <a:r>
              <a:rPr lang="nl-NL" dirty="0"/>
              <a:t>Zwarte markt voor data</a:t>
            </a:r>
          </a:p>
          <a:p>
            <a:pPr lvl="1"/>
            <a:r>
              <a:rPr lang="nl-NL" dirty="0"/>
              <a:t>Zwaktes ontdekken voor een zwaardere aanval</a:t>
            </a:r>
          </a:p>
          <a:p>
            <a:endParaRPr lang="nl-NL" dirty="0"/>
          </a:p>
          <a:p>
            <a:r>
              <a:rPr lang="nl-NL" dirty="0"/>
              <a:t>Veel van de bekende </a:t>
            </a:r>
            <a:r>
              <a:rPr lang="nl-NL" dirty="0" err="1"/>
              <a:t>spysoftware</a:t>
            </a:r>
            <a:r>
              <a:rPr lang="nl-NL" dirty="0"/>
              <a:t> is makkelijk te herkennen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6895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80BEB-6337-DB82-046D-18E84549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Spysoftware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34CD11-D667-7F30-83A9-740342E9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Syptomen</a:t>
            </a:r>
            <a:r>
              <a:rPr lang="nl-NL" dirty="0"/>
              <a:t> van </a:t>
            </a:r>
            <a:r>
              <a:rPr lang="nl-NL" dirty="0" err="1"/>
              <a:t>spysoftware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Camera’s die aan en uit gaan van apparaten zonder reden</a:t>
            </a:r>
          </a:p>
          <a:p>
            <a:pPr lvl="1"/>
            <a:r>
              <a:rPr lang="nl-NL" dirty="0"/>
              <a:t>Je computer is ineens verlangzaamd zonder reden</a:t>
            </a:r>
          </a:p>
          <a:p>
            <a:pPr lvl="1"/>
            <a:r>
              <a:rPr lang="nl-NL" dirty="0"/>
              <a:t>Je computer wordt veel warmer zonder reden</a:t>
            </a:r>
          </a:p>
          <a:p>
            <a:pPr lvl="1"/>
            <a:r>
              <a:rPr lang="nl-NL" dirty="0"/>
              <a:t>Je muis beweegt zonder dat er input is (Dit is ook control software)</a:t>
            </a:r>
          </a:p>
          <a:p>
            <a:pPr lvl="1"/>
            <a:r>
              <a:rPr lang="nl-NL" dirty="0"/>
              <a:t>Je computer gaat van </a:t>
            </a:r>
            <a:r>
              <a:rPr lang="nl-NL" dirty="0" err="1"/>
              <a:t>standby</a:t>
            </a:r>
            <a:r>
              <a:rPr lang="nl-NL" dirty="0"/>
              <a:t> ineens aan zonder reden.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086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B23E2-D110-25B3-CDF2-318AF570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Spysoftware</a:t>
            </a:r>
            <a:r>
              <a:rPr lang="nl-NL" dirty="0"/>
              <a:t> - beveiliging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46C0FB-42C0-08FD-6952-23E08F85C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Meeste </a:t>
            </a:r>
            <a:r>
              <a:rPr lang="nl-NL" dirty="0" err="1"/>
              <a:t>spysoftware</a:t>
            </a:r>
            <a:r>
              <a:rPr lang="nl-NL" dirty="0"/>
              <a:t> is te vinden via de standaard beveiliging</a:t>
            </a:r>
          </a:p>
          <a:p>
            <a:r>
              <a:rPr lang="nl-NL" dirty="0" err="1"/>
              <a:t>Mcafee</a:t>
            </a:r>
            <a:r>
              <a:rPr lang="nl-NL" dirty="0"/>
              <a:t> en AVG zijn iets beter maar deels betaald</a:t>
            </a:r>
          </a:p>
          <a:p>
            <a:endParaRPr lang="nl-NL" dirty="0"/>
          </a:p>
          <a:p>
            <a:r>
              <a:rPr lang="nl-NL" dirty="0"/>
              <a:t>Open geen files waarvan je niet weet waar en van wie ze vandaan komen. Een </a:t>
            </a:r>
            <a:r>
              <a:rPr lang="nl-NL" dirty="0" err="1"/>
              <a:t>spysoftware</a:t>
            </a:r>
            <a:r>
              <a:rPr lang="nl-NL" dirty="0"/>
              <a:t> kan al in een afbeelding verstopt zitten. </a:t>
            </a:r>
          </a:p>
          <a:p>
            <a:r>
              <a:rPr lang="nl-NL" dirty="0"/>
              <a:t>Klik niet op links van vreemde bronnen of advertenties die te mooi klinken.</a:t>
            </a:r>
          </a:p>
          <a:p>
            <a:r>
              <a:rPr lang="nl-NL" dirty="0"/>
              <a:t>Voorkom inloggen op publieke netwerken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723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D8D61-0B66-4C27-EF35-7FD222DE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Wireshark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D65B2C-0B29-6837-1A38-EBF4B3F9D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Wireshark</a:t>
            </a:r>
            <a:r>
              <a:rPr lang="nl-NL" dirty="0"/>
              <a:t> is een soort afluister programma dat in een grijs gebied valt.</a:t>
            </a:r>
          </a:p>
          <a:p>
            <a:r>
              <a:rPr lang="nl-NL" dirty="0"/>
              <a:t>Er is een opdracht beschikbaar voor maar die is </a:t>
            </a:r>
            <a:r>
              <a:rPr lang="nl-NL" b="1" dirty="0">
                <a:solidFill>
                  <a:srgbClr val="FF0000"/>
                </a:solidFill>
              </a:rPr>
              <a:t>NIET</a:t>
            </a:r>
            <a:r>
              <a:rPr lang="nl-NL" dirty="0"/>
              <a:t> verplicht.</a:t>
            </a:r>
          </a:p>
          <a:p>
            <a:r>
              <a:rPr lang="nl-NL" b="1" dirty="0">
                <a:solidFill>
                  <a:srgbClr val="FF0000"/>
                </a:solidFill>
              </a:rPr>
              <a:t>BELANGRIJK</a:t>
            </a:r>
            <a:r>
              <a:rPr lang="nl-NL" dirty="0"/>
              <a:t>: DOE dit </a:t>
            </a:r>
            <a:r>
              <a:rPr lang="nl-NL" b="1" dirty="0">
                <a:solidFill>
                  <a:srgbClr val="FF0000"/>
                </a:solidFill>
              </a:rPr>
              <a:t>NIET</a:t>
            </a:r>
            <a:r>
              <a:rPr lang="nl-NL" dirty="0"/>
              <a:t> op het </a:t>
            </a:r>
            <a:r>
              <a:rPr lang="nl-NL" dirty="0" err="1"/>
              <a:t>eduroam</a:t>
            </a:r>
            <a:r>
              <a:rPr lang="nl-NL" dirty="0"/>
              <a:t> netwerk maar op het ICT netwerk. Je IP wordt anders </a:t>
            </a:r>
            <a:r>
              <a:rPr lang="nl-NL" b="1" dirty="0">
                <a:solidFill>
                  <a:srgbClr val="FF0000"/>
                </a:solidFill>
              </a:rPr>
              <a:t>geblokkeerd. </a:t>
            </a:r>
          </a:p>
        </p:txBody>
      </p:sp>
      <p:pic>
        <p:nvPicPr>
          <p:cNvPr id="1026" name="Picture 2" descr="Wireshark - Free Icon PNG, SVG">
            <a:extLst>
              <a:ext uri="{FF2B5EF4-FFF2-40B4-BE49-F238E27FC236}">
                <a16:creationId xmlns:a16="http://schemas.microsoft.com/office/drawing/2014/main" id="{6DC348A4-C0E4-739B-43B6-89DBF7F1C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478" y="122250"/>
            <a:ext cx="1811311" cy="181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84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A3F00-D22C-8C45-2591-74E8FD01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86008C-654E-6F3B-AA1A-BDA418F9A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Wetgeving deel 2</a:t>
            </a:r>
          </a:p>
          <a:p>
            <a:pPr lvl="1"/>
            <a:r>
              <a:rPr lang="nl-NL" dirty="0"/>
              <a:t>Nederlandse cyber wetgeving</a:t>
            </a:r>
          </a:p>
          <a:p>
            <a:pPr lvl="1"/>
            <a:r>
              <a:rPr lang="nl-NL" dirty="0"/>
              <a:t>Amerikaanse cyber wetgeving</a:t>
            </a:r>
          </a:p>
          <a:p>
            <a:pPr lvl="1"/>
            <a:r>
              <a:rPr lang="nl-NL" dirty="0" err="1"/>
              <a:t>Chineese</a:t>
            </a:r>
            <a:r>
              <a:rPr lang="nl-NL" dirty="0"/>
              <a:t> cyber wetgeving</a:t>
            </a:r>
          </a:p>
          <a:p>
            <a:r>
              <a:rPr lang="nl-NL" dirty="0"/>
              <a:t>Contracten en NDA</a:t>
            </a:r>
          </a:p>
        </p:txBody>
      </p:sp>
    </p:spTree>
    <p:extLst>
      <p:ext uri="{BB962C8B-B14F-4D97-AF65-F5344CB8AC3E}">
        <p14:creationId xmlns:p14="http://schemas.microsoft.com/office/powerpoint/2010/main" val="252721527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685</Words>
  <Application>Microsoft Office PowerPoint</Application>
  <PresentationFormat>Breedbeeld</PresentationFormat>
  <Paragraphs>104</Paragraphs>
  <Slides>16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Kantoorthema</vt:lpstr>
      <vt:lpstr>CySec – les 5</vt:lpstr>
      <vt:lpstr>Programma</vt:lpstr>
      <vt:lpstr>Leerdoelen</vt:lpstr>
      <vt:lpstr>Netwerken</vt:lpstr>
      <vt:lpstr>Netwerk aanvallen</vt:lpstr>
      <vt:lpstr>Netwerk aanvallen</vt:lpstr>
      <vt:lpstr>Netwerk aanvallen</vt:lpstr>
      <vt:lpstr>Man in de middle</vt:lpstr>
      <vt:lpstr>Bekende netwerk tactieken en voorbeelden</vt:lpstr>
      <vt:lpstr>Netwerk beveiliging - invalshoeken</vt:lpstr>
      <vt:lpstr>Netwerk beveiliging - thuis</vt:lpstr>
      <vt:lpstr>Spysoftware</vt:lpstr>
      <vt:lpstr>Spysoftware</vt:lpstr>
      <vt:lpstr>Spysoftware - beveiliging</vt:lpstr>
      <vt:lpstr>Wireshark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13</cp:revision>
  <dcterms:created xsi:type="dcterms:W3CDTF">2026-02-10T21:24:48Z</dcterms:created>
  <dcterms:modified xsi:type="dcterms:W3CDTF">2026-03-06T23:10:13Z</dcterms:modified>
</cp:coreProperties>
</file>