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70" r:id="rId7"/>
    <p:sldId id="268" r:id="rId8"/>
    <p:sldId id="265" r:id="rId9"/>
    <p:sldId id="269" r:id="rId10"/>
    <p:sldId id="261" r:id="rId11"/>
    <p:sldId id="273" r:id="rId12"/>
    <p:sldId id="264" r:id="rId13"/>
    <p:sldId id="262" r:id="rId14"/>
    <p:sldId id="263" r:id="rId15"/>
    <p:sldId id="271" r:id="rId16"/>
    <p:sldId id="272" r:id="rId17"/>
    <p:sldId id="266" r:id="rId18"/>
    <p:sldId id="26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C77"/>
    <a:srgbClr val="FBA400"/>
    <a:srgbClr val="FFFEF7"/>
    <a:srgbClr val="FFF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81" autoAdjust="0"/>
  </p:normalViewPr>
  <p:slideViewPr>
    <p:cSldViewPr snapToGrid="0">
      <p:cViewPr varScale="1">
        <p:scale>
          <a:sx n="104" d="100"/>
          <a:sy n="104" d="100"/>
        </p:scale>
        <p:origin x="216" y="8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3" d="100"/>
          <a:sy n="83" d="100"/>
        </p:scale>
        <p:origin x="3284" y="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58DB6F-D407-4DAD-8E07-F71A85896F6E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5FC6EB-00F9-4F26-856D-FED6C6A7B26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488550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B4C759-8C62-86C9-3B17-92FACEE3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6925" y="406400"/>
            <a:ext cx="645795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321D15F-B607-A2F4-7E5B-5C4C4A91C9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74266" y="3380783"/>
            <a:ext cx="55118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5970407-AC1E-7009-EC8F-8F2B816D79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69266" y="6356350"/>
            <a:ext cx="1905000" cy="365125"/>
          </a:xfrm>
        </p:spPr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0B12CD7-1DFB-6FCC-4B46-040832962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356350"/>
            <a:ext cx="4114800" cy="365125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ED0717B-501A-6AD2-FAD9-9FDB669F3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6356350"/>
            <a:ext cx="1159933" cy="365125"/>
          </a:xfrm>
        </p:spPr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244405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BFFC90-3395-0A72-C175-88454A108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FF9D1A7-AFA3-2D0A-5016-573C0085F7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AEF1A98-39F2-BCFE-A768-C7C7269E6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A3F0BBF-479B-F827-4D71-082BF9E1E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3D6B33F-8770-9341-9E76-F7A435377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05362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C40951-16BA-65BD-FA23-BCD4B3702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3432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223BC3E-99ED-F861-2FB2-1837A862A4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794332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04DFCE1-FF20-9098-F41B-CF8AE47B2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27527C-339C-A319-5AB8-112FB83F6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BC4418-4EF7-67F6-BB89-E7E06ACA8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49828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331BC1-8E05-7E69-F8A9-6DB02B032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2ED6838-DD66-E35D-E7CC-C7808F5D6C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18584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8D7FE4F-8286-26BD-2F95-E57806EDF7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18584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D0E1AED-39B0-79D9-7A2C-449973F53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254B2C4-BDF7-31CB-7DC9-B08438151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189A640-A58A-DEB2-536B-CD6A70C76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58894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2C2B3A-1D0A-5865-BE4A-04C18894F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78645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16E3B1D-231C-B7E9-8ECC-869ECCA356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464418"/>
            <a:ext cx="5157787" cy="71423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07D4D88-D8C1-6D25-C28C-87B8DCECC9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299305"/>
            <a:ext cx="5157787" cy="3576709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0B794A09-E8F5-29C8-7AAA-9CCB4BF452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33991"/>
            <a:ext cx="5183188" cy="7446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BD06865D-4034-733F-0C0B-2A32C8EDB3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299305"/>
            <a:ext cx="5183188" cy="3576709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9615BE59-3F81-7BD5-4DB4-278648CEC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DE8CE4A8-74CC-EC89-649F-1C83DAD30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56CBCA2E-28ED-9718-15AD-1B3FFBE1A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56480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3C4379-2683-9B5B-54BA-E3A636049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05F0E2A3-FBE9-DC25-394E-AE9A6C39F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B400D92-2550-0867-9483-45ED646CB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B71C9D5D-E51E-CA71-9A90-C4EAB3B95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914590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FC5446D9-5DF5-F7C0-2628-90BC9A1C3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FF65D153-6E89-D8A5-45CD-F5E3B8296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C4BE700-8736-DEBD-54F5-CD85EBEDB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69294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6DB1C2-788C-5E67-1126-186FE5DFF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9A3E2AF-FE3E-C3CA-0E2C-9C0235AADF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72E7AF5-2E5A-4DE2-1F3D-EE384028A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4CCBAC4-7095-68D4-1F70-41489D11E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69FD96D4-0AD8-6168-4590-B26CA93A3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DB30B07-5631-A050-3B75-0C5F5D002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280183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9B1091-E1AE-DDD5-15E4-4FBF3510F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676DA624-4C35-30ED-18A7-B6FB1563DF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C0BB913-4F09-18DD-A1BA-8427E38417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13FF6D7-870A-E1AF-4B59-6101B009D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49C309F-2101-E8AD-9159-474BFC226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CEE4378-BA38-4FB0-C906-B9BA89930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11610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2D5996-E7C8-5CF7-C2D3-B8748FD4C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4E21B26B-BA69-E9AD-7CFF-9F77659328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04E0D85-1929-B19A-7CEE-1C5F655EE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DF32821-6BD5-551A-0269-B059B749A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20D5A6D-2538-85A7-38BB-7F795A3E9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594497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2B48FD73-4D0B-A3A3-2319-42AE9E7263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44000" y="365125"/>
            <a:ext cx="2671638" cy="5455230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NL" dirty="0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B1C23176-7D84-A884-661D-CD5DEA0485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4056" y="365125"/>
            <a:ext cx="8340918" cy="545523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DAFAA59-F7D1-5531-36D8-900F9C119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606688D-6FDD-6771-2106-A56DB363A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8D3E2E9-404E-C081-A941-A3629B304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46609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bg1"/>
            </a:gs>
            <a:gs pos="35000">
              <a:srgbClr val="FFFEF3"/>
            </a:gs>
            <a:gs pos="62000">
              <a:srgbClr val="FFFEF7"/>
            </a:gs>
            <a:gs pos="0">
              <a:schemeClr val="bg1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ACF1BF85-4B6C-F008-1B3C-11B47EC59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5411684-1A7E-DFCF-F13E-B761FD6B0A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97150" y="631031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18414D-5A9A-49A8-AA48-E9E7CADEA260}" type="datetimeFigureOut">
              <a:rPr lang="nl-NL" smtClean="0"/>
              <a:t>18-2-2026</a:t>
            </a:fld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9B745CD-F00A-8626-6B75-9275E77135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4200" y="6310311"/>
            <a:ext cx="454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40EA63F-C77B-C305-2060-ECC2516828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04500" y="6310312"/>
            <a:ext cx="13843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064B82-868F-4D41-994F-76B4E64C671C}" type="slidenum">
              <a:rPr lang="nl-NL" smtClean="0"/>
              <a:t>‹nr.›</a:t>
            </a:fld>
            <a:endParaRPr lang="nl-NL" dirty="0"/>
          </a:p>
        </p:txBody>
      </p:sp>
      <p:pic>
        <p:nvPicPr>
          <p:cNvPr id="7" name="Picture 2" descr="Nova College zorgopleidingen inspireren studenten met casussen | BureauTekst">
            <a:extLst>
              <a:ext uri="{FF2B5EF4-FFF2-40B4-BE49-F238E27FC236}">
                <a16:creationId xmlns:a16="http://schemas.microsoft.com/office/drawing/2014/main" id="{E15B2672-438A-D562-D6EE-438FCB4005E2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886" b="38682"/>
          <a:stretch>
            <a:fillRect/>
          </a:stretch>
        </p:blipFill>
        <p:spPr bwMode="auto">
          <a:xfrm>
            <a:off x="-186927" y="6217427"/>
            <a:ext cx="2664618" cy="642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hthoek 7">
            <a:extLst>
              <a:ext uri="{FF2B5EF4-FFF2-40B4-BE49-F238E27FC236}">
                <a16:creationId xmlns:a16="http://schemas.microsoft.com/office/drawing/2014/main" id="{DBB024C6-06AD-9F73-4AE8-0D072837629D}"/>
              </a:ext>
            </a:extLst>
          </p:cNvPr>
          <p:cNvSpPr/>
          <p:nvPr userDrawn="1"/>
        </p:nvSpPr>
        <p:spPr>
          <a:xfrm>
            <a:off x="230715" y="-55031"/>
            <a:ext cx="270000" cy="5782734"/>
          </a:xfrm>
          <a:prstGeom prst="rect">
            <a:avLst/>
          </a:prstGeom>
          <a:solidFill>
            <a:srgbClr val="005C7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Rechthoek 8">
            <a:extLst>
              <a:ext uri="{FF2B5EF4-FFF2-40B4-BE49-F238E27FC236}">
                <a16:creationId xmlns:a16="http://schemas.microsoft.com/office/drawing/2014/main" id="{66087544-C7D3-7A9A-4800-2D515179E7A0}"/>
              </a:ext>
            </a:extLst>
          </p:cNvPr>
          <p:cNvSpPr/>
          <p:nvPr userDrawn="1"/>
        </p:nvSpPr>
        <p:spPr>
          <a:xfrm rot="16200000">
            <a:off x="6427197" y="294152"/>
            <a:ext cx="270000" cy="11530543"/>
          </a:xfrm>
          <a:prstGeom prst="rect">
            <a:avLst/>
          </a:prstGeom>
          <a:solidFill>
            <a:srgbClr val="005C7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" name="Cirkel: leeg 9">
            <a:extLst>
              <a:ext uri="{FF2B5EF4-FFF2-40B4-BE49-F238E27FC236}">
                <a16:creationId xmlns:a16="http://schemas.microsoft.com/office/drawing/2014/main" id="{4EF2F36C-85C6-F227-4C7C-C834D410BF31}"/>
              </a:ext>
            </a:extLst>
          </p:cNvPr>
          <p:cNvSpPr/>
          <p:nvPr userDrawn="1"/>
        </p:nvSpPr>
        <p:spPr>
          <a:xfrm>
            <a:off x="228598" y="5218536"/>
            <a:ext cx="991659" cy="987389"/>
          </a:xfrm>
          <a:prstGeom prst="donut">
            <a:avLst>
              <a:gd name="adj" fmla="val 27560"/>
            </a:avLst>
          </a:prstGeom>
          <a:gradFill flip="none" rotWithShape="1">
            <a:gsLst>
              <a:gs pos="0">
                <a:srgbClr val="FBA400">
                  <a:shade val="30000"/>
                  <a:satMod val="115000"/>
                </a:srgbClr>
              </a:gs>
              <a:gs pos="50000">
                <a:srgbClr val="FBA400">
                  <a:shade val="67500"/>
                  <a:satMod val="115000"/>
                </a:srgbClr>
              </a:gs>
              <a:gs pos="100000">
                <a:srgbClr val="FBA400">
                  <a:shade val="100000"/>
                  <a:satMod val="115000"/>
                </a:srgb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11" name="Rechthoek 10">
            <a:extLst>
              <a:ext uri="{FF2B5EF4-FFF2-40B4-BE49-F238E27FC236}">
                <a16:creationId xmlns:a16="http://schemas.microsoft.com/office/drawing/2014/main" id="{FFD04524-8452-D704-99A9-33F20CC99B04}"/>
              </a:ext>
            </a:extLst>
          </p:cNvPr>
          <p:cNvSpPr/>
          <p:nvPr userDrawn="1"/>
        </p:nvSpPr>
        <p:spPr>
          <a:xfrm>
            <a:off x="503358" y="4862527"/>
            <a:ext cx="802745" cy="817034"/>
          </a:xfrm>
          <a:prstGeom prst="rect">
            <a:avLst/>
          </a:prstGeom>
          <a:solidFill>
            <a:srgbClr val="FFFE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103C7D41-C72B-C057-5586-DAF1E5937DA5}"/>
              </a:ext>
            </a:extLst>
          </p:cNvPr>
          <p:cNvSpPr/>
          <p:nvPr userDrawn="1"/>
        </p:nvSpPr>
        <p:spPr>
          <a:xfrm>
            <a:off x="764117" y="5107449"/>
            <a:ext cx="802745" cy="817034"/>
          </a:xfrm>
          <a:prstGeom prst="rect">
            <a:avLst/>
          </a:prstGeom>
          <a:solidFill>
            <a:srgbClr val="FFFE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166F715E-90D2-E02A-35F3-028366BBD0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38724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3664584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3.svg"/><Relationship Id="rId5" Type="http://schemas.openxmlformats.org/officeDocument/2006/relationships/image" Target="../media/image17.sv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E9C727-01AA-4DB2-26AE-DD2FEFCD13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 err="1"/>
              <a:t>CySec</a:t>
            </a:r>
            <a:r>
              <a:rPr lang="nl-NL" dirty="0"/>
              <a:t> – les 5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32F1F9D-91AC-244B-A75C-5DE4D060B5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Netwerken, Man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middle</a:t>
            </a:r>
            <a:r>
              <a:rPr lang="nl-NL" dirty="0"/>
              <a:t>, netwerk beveiliging en </a:t>
            </a:r>
            <a:r>
              <a:rPr lang="nl-NL" dirty="0" err="1"/>
              <a:t>wireshark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17761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C467E5-39E6-9E7F-1C58-661632973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Programma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E110306-4AAB-9607-E18E-ACBAC34BDE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Terugblik vorige les</a:t>
            </a:r>
          </a:p>
          <a:p>
            <a:r>
              <a:rPr lang="nl-NL" dirty="0"/>
              <a:t>Leerdoelen</a:t>
            </a:r>
          </a:p>
          <a:p>
            <a:r>
              <a:rPr lang="nl-NL" dirty="0"/>
              <a:t>Netwerken</a:t>
            </a:r>
          </a:p>
          <a:p>
            <a:r>
              <a:rPr lang="nl-NL" dirty="0"/>
              <a:t>Man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middle</a:t>
            </a:r>
            <a:endParaRPr lang="nl-NL" dirty="0"/>
          </a:p>
          <a:p>
            <a:r>
              <a:rPr lang="nl-NL" dirty="0"/>
              <a:t>Netwerk beveiliging</a:t>
            </a:r>
          </a:p>
          <a:p>
            <a:r>
              <a:rPr lang="nl-NL" dirty="0" err="1"/>
              <a:t>Wireshark</a:t>
            </a:r>
            <a:r>
              <a:rPr lang="nl-NL" dirty="0"/>
              <a:t> en netwerkverkeer</a:t>
            </a:r>
          </a:p>
          <a:p>
            <a:r>
              <a:rPr lang="nl-NL" dirty="0"/>
              <a:t>Volgende week</a:t>
            </a:r>
          </a:p>
        </p:txBody>
      </p:sp>
    </p:spTree>
    <p:extLst>
      <p:ext uri="{BB962C8B-B14F-4D97-AF65-F5344CB8AC3E}">
        <p14:creationId xmlns:p14="http://schemas.microsoft.com/office/powerpoint/2010/main" val="3969768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38AEF2-B1E0-DC5C-29EF-6DC8FC82E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Wat weten we nog van vorige les?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C3088DE-78F2-873D-A6F7-351239A77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810216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05855A-447C-1837-7276-355F822E9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Leerdoelen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9C96C40-E495-1DDD-8C30-9641A0EAEC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Aan het einde van de les:</a:t>
            </a:r>
          </a:p>
          <a:p>
            <a:pPr lvl="1"/>
            <a:r>
              <a:rPr lang="nl-NL" dirty="0"/>
              <a:t>Weet je de basis structuur van een netwerk</a:t>
            </a:r>
          </a:p>
          <a:p>
            <a:pPr lvl="1"/>
            <a:r>
              <a:rPr lang="nl-NL" dirty="0"/>
              <a:t>Weet je wat voor soort berichten over een netwerk gaan</a:t>
            </a:r>
          </a:p>
          <a:p>
            <a:pPr lvl="1"/>
            <a:r>
              <a:rPr lang="nl-NL" dirty="0"/>
              <a:t>Weet je hoe een man in de </a:t>
            </a:r>
            <a:r>
              <a:rPr lang="nl-NL" dirty="0" err="1"/>
              <a:t>middle</a:t>
            </a:r>
            <a:r>
              <a:rPr lang="nl-NL" dirty="0"/>
              <a:t> werkt</a:t>
            </a:r>
          </a:p>
          <a:p>
            <a:pPr lvl="1"/>
            <a:r>
              <a:rPr lang="nl-NL" dirty="0"/>
              <a:t>Weet je wat te doen om een man in de </a:t>
            </a:r>
            <a:r>
              <a:rPr lang="nl-NL" dirty="0" err="1"/>
              <a:t>middle</a:t>
            </a:r>
            <a:r>
              <a:rPr lang="nl-NL" dirty="0"/>
              <a:t> tegen te gaan</a:t>
            </a:r>
          </a:p>
          <a:p>
            <a:pPr lvl="1"/>
            <a:r>
              <a:rPr lang="nl-NL" dirty="0"/>
              <a:t>Weet je wat je kan doen om een netwerk gepast te beveiligen</a:t>
            </a:r>
          </a:p>
          <a:p>
            <a:pPr lvl="1"/>
            <a:r>
              <a:rPr lang="nl-NL" dirty="0"/>
              <a:t>Kan je een Netwerk monitoren en berichten filteren</a:t>
            </a:r>
          </a:p>
        </p:txBody>
      </p:sp>
    </p:spTree>
    <p:extLst>
      <p:ext uri="{BB962C8B-B14F-4D97-AF65-F5344CB8AC3E}">
        <p14:creationId xmlns:p14="http://schemas.microsoft.com/office/powerpoint/2010/main" val="26165268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0CD66F-CF73-FEB2-B219-E7F12F8AD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nl-NL" dirty="0"/>
              <a:t>Netwerken</a:t>
            </a:r>
          </a:p>
        </p:txBody>
      </p:sp>
      <p:pic>
        <p:nvPicPr>
          <p:cNvPr id="5" name="Graphic 4" descr="Netwerk met effen opvulling">
            <a:extLst>
              <a:ext uri="{FF2B5EF4-FFF2-40B4-BE49-F238E27FC236}">
                <a16:creationId xmlns:a16="http://schemas.microsoft.com/office/drawing/2014/main" id="{D2DA0BF0-5957-EBB2-5B1B-FDB47B929B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9708" y="1825625"/>
            <a:ext cx="4018584" cy="4018584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89B7252-C2BB-B3F6-C40F-DA15C2ADD9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18584"/>
          </a:xfrm>
        </p:spPr>
        <p:txBody>
          <a:bodyPr>
            <a:normAutofit/>
          </a:bodyPr>
          <a:lstStyle/>
          <a:p>
            <a:r>
              <a:rPr lang="nl-NL" dirty="0"/>
              <a:t>Een connectie tussen twee of meer computerende apparaten</a:t>
            </a:r>
          </a:p>
          <a:p>
            <a:r>
              <a:rPr lang="nl-NL" dirty="0"/>
              <a:t>3 kern-types van netwerken</a:t>
            </a:r>
          </a:p>
          <a:p>
            <a:pPr lvl="1"/>
            <a:r>
              <a:rPr lang="nl-NL" sz="2800"/>
              <a:t>Direct pc-pc (Komt bijna niet meer voor)</a:t>
            </a:r>
          </a:p>
          <a:p>
            <a:pPr lvl="1"/>
            <a:r>
              <a:rPr lang="nl-NL" sz="2800"/>
              <a:t>Kabelnetwerk (Ethernet, USB-C)</a:t>
            </a:r>
          </a:p>
          <a:p>
            <a:pPr lvl="1"/>
            <a:r>
              <a:rPr lang="nl-NL" sz="2800"/>
              <a:t>Draadloos (Wifi, 5G)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616330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C81737-8944-0A78-FE04-49DC4DA64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Werkvorm - Netwerken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F4F2452-C492-8917-2ACC-54517833A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dirty="0"/>
              <a:t>2 paren kiezen een wachtwoord voor ieder paar uit de opties</a:t>
            </a:r>
          </a:p>
          <a:p>
            <a:r>
              <a:rPr lang="nl-NL" dirty="0"/>
              <a:t>1 persoon is de netwerk runner.</a:t>
            </a:r>
          </a:p>
          <a:p>
            <a:r>
              <a:rPr lang="nl-NL" dirty="0"/>
              <a:t>De twee paren staan op overstaande zijdes van het lokaal met de ruggen naar elkaar toe.</a:t>
            </a:r>
          </a:p>
          <a:p>
            <a:r>
              <a:rPr lang="nl-NL" dirty="0"/>
              <a:t>De verzoeker stuurt berichten met hun wachtwoord</a:t>
            </a:r>
          </a:p>
          <a:p>
            <a:r>
              <a:rPr lang="nl-NL" dirty="0"/>
              <a:t>De ontvanger geeft het correcte bericht terug naar de verzoeker</a:t>
            </a:r>
          </a:p>
          <a:p>
            <a:r>
              <a:rPr lang="nl-NL" dirty="0"/>
              <a:t>Communicatie is blind en via de netwerk runner.</a:t>
            </a:r>
          </a:p>
        </p:txBody>
      </p:sp>
    </p:spTree>
    <p:extLst>
      <p:ext uri="{BB962C8B-B14F-4D97-AF65-F5344CB8AC3E}">
        <p14:creationId xmlns:p14="http://schemas.microsoft.com/office/powerpoint/2010/main" val="4094207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D9FCC-7831-D105-403F-A8314BB08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4C9877-E549-5D69-27BA-0A5EA4AD6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Netwerk aanvallen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1BCE78C-2EB1-CD07-E8E9-3BA9D9AE7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nl-NL" dirty="0"/>
              <a:t>Blokkade/</a:t>
            </a:r>
            <a:r>
              <a:rPr lang="nl-NL" dirty="0" err="1"/>
              <a:t>wijgering</a:t>
            </a:r>
            <a:r>
              <a:rPr lang="nl-NL" dirty="0"/>
              <a:t> aanvallen</a:t>
            </a:r>
          </a:p>
          <a:p>
            <a:pPr lvl="1"/>
            <a:r>
              <a:rPr lang="nl-NL" dirty="0"/>
              <a:t>DDOS – Distributed </a:t>
            </a:r>
            <a:r>
              <a:rPr lang="nl-NL" dirty="0" err="1"/>
              <a:t>denial</a:t>
            </a:r>
            <a:r>
              <a:rPr lang="nl-NL" dirty="0"/>
              <a:t> of services</a:t>
            </a:r>
          </a:p>
          <a:p>
            <a:pPr lvl="2"/>
            <a:r>
              <a:rPr lang="nl-NL" dirty="0"/>
              <a:t>Het platleggen van een systeem door het netwerk te bombarderen met verzoeken van vele plaatsen</a:t>
            </a:r>
          </a:p>
          <a:p>
            <a:pPr lvl="1"/>
            <a:r>
              <a:rPr lang="nl-NL" dirty="0"/>
              <a:t>Volume bezetting/sturing</a:t>
            </a:r>
          </a:p>
          <a:p>
            <a:pPr lvl="2"/>
            <a:r>
              <a:rPr lang="nl-NL" dirty="0"/>
              <a:t>Een netwerk bezet houden waardoor werkelijke berichten niet erdoorheen komen</a:t>
            </a:r>
          </a:p>
          <a:p>
            <a:pPr lvl="1"/>
            <a:r>
              <a:rPr lang="nl-NL" dirty="0"/>
              <a:t>Malafide geformatteerde pakketten aanvallen</a:t>
            </a:r>
          </a:p>
          <a:p>
            <a:pPr lvl="2"/>
            <a:r>
              <a:rPr lang="nl-NL" dirty="0"/>
              <a:t>Een invoer die de server/service der mate verlangzaamd dat deze niet goed meer kan functioneren</a:t>
            </a:r>
          </a:p>
          <a:p>
            <a:r>
              <a:rPr lang="nl-NL" dirty="0"/>
              <a:t>Toegang aanvallen</a:t>
            </a:r>
          </a:p>
          <a:p>
            <a:pPr lvl="1"/>
            <a:r>
              <a:rPr lang="nl-NL" dirty="0"/>
              <a:t>IP </a:t>
            </a:r>
            <a:r>
              <a:rPr lang="nl-NL" dirty="0" err="1"/>
              <a:t>spoofing</a:t>
            </a:r>
            <a:endParaRPr lang="nl-NL" dirty="0"/>
          </a:p>
          <a:p>
            <a:pPr lvl="2"/>
            <a:r>
              <a:rPr lang="nl-NL" dirty="0"/>
              <a:t>Maskeer je IP adres om te doen alsof je al op een netwerk zit of hoort om toegang te krijgen.</a:t>
            </a:r>
          </a:p>
          <a:p>
            <a:pPr lvl="1"/>
            <a:r>
              <a:rPr lang="nl-NL" dirty="0"/>
              <a:t>Man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middle</a:t>
            </a:r>
            <a:r>
              <a:rPr lang="nl-NL" dirty="0"/>
              <a:t>/ </a:t>
            </a:r>
            <a:r>
              <a:rPr lang="nl-NL" dirty="0" err="1"/>
              <a:t>packet</a:t>
            </a:r>
            <a:r>
              <a:rPr lang="nl-NL" dirty="0"/>
              <a:t> </a:t>
            </a:r>
            <a:r>
              <a:rPr lang="nl-NL" dirty="0" err="1"/>
              <a:t>sniffing</a:t>
            </a:r>
            <a:endParaRPr lang="nl-NL" dirty="0"/>
          </a:p>
          <a:p>
            <a:pPr lvl="2"/>
            <a:r>
              <a:rPr lang="nl-NL" dirty="0"/>
              <a:t>Netwerken afluisteren om data te krijgen of om cruciale gegevens te vinden om meer toegang te krijgen.</a:t>
            </a:r>
          </a:p>
        </p:txBody>
      </p:sp>
      <p:pic>
        <p:nvPicPr>
          <p:cNvPr id="5" name="Graphic 4" descr="Bakstenen muur met effen opvulling">
            <a:extLst>
              <a:ext uri="{FF2B5EF4-FFF2-40B4-BE49-F238E27FC236}">
                <a16:creationId xmlns:a16="http://schemas.microsoft.com/office/drawing/2014/main" id="{1A534065-879A-3BA4-B7D5-DF39963B0F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13626" y="425415"/>
            <a:ext cx="2026170" cy="2026170"/>
          </a:xfrm>
          <a:prstGeom prst="rect">
            <a:avLst/>
          </a:prstGeom>
        </p:spPr>
      </p:pic>
      <p:pic>
        <p:nvPicPr>
          <p:cNvPr id="7" name="Graphic 6" descr="Klep open met effen opvulling">
            <a:extLst>
              <a:ext uri="{FF2B5EF4-FFF2-40B4-BE49-F238E27FC236}">
                <a16:creationId xmlns:a16="http://schemas.microsoft.com/office/drawing/2014/main" id="{394F891C-4958-5F7C-ABBE-99508366C1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85850" y="4729397"/>
            <a:ext cx="1307892" cy="1307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2173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607051-0F3C-18D1-A04F-F432EA764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Netwerk aanvallen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65DC7E6-20F3-149A-4BB4-6A7FD62524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dirty="0"/>
              <a:t>Onderzoekende aanvallen</a:t>
            </a:r>
          </a:p>
          <a:p>
            <a:pPr lvl="1"/>
            <a:r>
              <a:rPr lang="nl-NL" dirty="0"/>
              <a:t>Ping/port </a:t>
            </a:r>
            <a:r>
              <a:rPr lang="nl-NL" dirty="0" err="1"/>
              <a:t>sweeping</a:t>
            </a:r>
            <a:endParaRPr lang="nl-NL" dirty="0"/>
          </a:p>
          <a:p>
            <a:pPr lvl="2"/>
            <a:r>
              <a:rPr lang="nl-NL" dirty="0"/>
              <a:t>Welke apparaten/ poorten staan open om toegang te verlenen op een netwerk en hoe kan je die benutten om vervolgens verder in het systeem te komen.</a:t>
            </a:r>
          </a:p>
          <a:p>
            <a:r>
              <a:rPr lang="nl-NL" dirty="0"/>
              <a:t>Afluisterende aanvallen</a:t>
            </a:r>
          </a:p>
          <a:p>
            <a:pPr lvl="1"/>
            <a:r>
              <a:rPr lang="nl-NL" dirty="0"/>
              <a:t>IP </a:t>
            </a:r>
            <a:r>
              <a:rPr lang="nl-NL" dirty="0" err="1"/>
              <a:t>spoofing</a:t>
            </a:r>
            <a:endParaRPr lang="nl-NL" dirty="0"/>
          </a:p>
          <a:p>
            <a:pPr lvl="2"/>
            <a:r>
              <a:rPr lang="nl-NL" dirty="0"/>
              <a:t>Slechte netwerken controleren niet of er een dubbel IP adres actief is op het netwerk. Beide krijgen een kopie van al hun binnenkomende berichten.</a:t>
            </a:r>
          </a:p>
        </p:txBody>
      </p:sp>
      <p:pic>
        <p:nvPicPr>
          <p:cNvPr id="5" name="Graphic 4" descr="Vergrootglas met effen opvulling">
            <a:extLst>
              <a:ext uri="{FF2B5EF4-FFF2-40B4-BE49-F238E27FC236}">
                <a16:creationId xmlns:a16="http://schemas.microsoft.com/office/drawing/2014/main" id="{AB4A0A85-D6C4-DD81-CD96-9C714D763D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78446" y="365125"/>
            <a:ext cx="1661410" cy="1661410"/>
          </a:xfrm>
          <a:prstGeom prst="rect">
            <a:avLst/>
          </a:prstGeom>
        </p:spPr>
      </p:pic>
      <p:pic>
        <p:nvPicPr>
          <p:cNvPr id="7" name="Graphic 6" descr="Oor met effen opvulling">
            <a:extLst>
              <a:ext uri="{FF2B5EF4-FFF2-40B4-BE49-F238E27FC236}">
                <a16:creationId xmlns:a16="http://schemas.microsoft.com/office/drawing/2014/main" id="{FB76A6A6-A8B4-26B8-999D-580E994A1F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38314" y="4507441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2762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B2699A-2C07-D10A-E265-468613EBC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Netwerk aanvallen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BD0633F-36BA-C132-F28C-B688770650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Brekende/manipulerende aanvallen</a:t>
            </a:r>
          </a:p>
          <a:p>
            <a:pPr lvl="1"/>
            <a:r>
              <a:rPr lang="nl-NL" dirty="0"/>
              <a:t>Buffer overflow aanvallen</a:t>
            </a:r>
          </a:p>
          <a:p>
            <a:pPr lvl="2"/>
            <a:r>
              <a:rPr lang="nl-NL" dirty="0"/>
              <a:t>Gebruik maken van server zwaktes om </a:t>
            </a:r>
            <a:r>
              <a:rPr lang="nl-NL" dirty="0" err="1"/>
              <a:t>errors</a:t>
            </a:r>
            <a:r>
              <a:rPr lang="nl-NL" dirty="0"/>
              <a:t> herhaaldelijk te </a:t>
            </a:r>
            <a:r>
              <a:rPr lang="nl-NL" dirty="0" err="1"/>
              <a:t>creeren</a:t>
            </a:r>
            <a:r>
              <a:rPr lang="nl-NL" dirty="0"/>
              <a:t> om zo het </a:t>
            </a:r>
            <a:r>
              <a:rPr lang="nl-NL" dirty="0" err="1"/>
              <a:t>systeem’s</a:t>
            </a:r>
            <a:r>
              <a:rPr lang="nl-NL" dirty="0"/>
              <a:t> geheugen aan te tasten. Dit zorgt ervoor dat er een gat ontstaat in de code en die kan een hacker vullen met eigen code</a:t>
            </a:r>
          </a:p>
          <a:p>
            <a:endParaRPr lang="nl-NL" dirty="0"/>
          </a:p>
        </p:txBody>
      </p:sp>
      <p:pic>
        <p:nvPicPr>
          <p:cNvPr id="5" name="Graphic 4" descr="Hammer1 met effen opvulling">
            <a:extLst>
              <a:ext uri="{FF2B5EF4-FFF2-40B4-BE49-F238E27FC236}">
                <a16:creationId xmlns:a16="http://schemas.microsoft.com/office/drawing/2014/main" id="{FEC0A9AF-2F0D-F756-C4C5-0C64F205DD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49590" y="4264701"/>
            <a:ext cx="2042410" cy="2042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9288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695BE0-501F-8251-3E4D-3CE878185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Man in de </a:t>
            </a:r>
            <a:r>
              <a:rPr lang="nl-NL" dirty="0" err="1"/>
              <a:t>middle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2B0760A-3050-34A5-05D0-772090E8F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5" name="Tijdelijke aanduiding voor inhoud 4" descr="Man met effen opvulling">
            <a:extLst>
              <a:ext uri="{FF2B5EF4-FFF2-40B4-BE49-F238E27FC236}">
                <a16:creationId xmlns:a16="http://schemas.microsoft.com/office/drawing/2014/main" id="{B7B79539-17CB-2450-9FC6-D5040E1A9B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8990" y="3176965"/>
            <a:ext cx="914400" cy="914400"/>
          </a:xfrm>
          <a:prstGeom prst="rect">
            <a:avLst/>
          </a:prstGeom>
        </p:spPr>
      </p:pic>
      <p:pic>
        <p:nvPicPr>
          <p:cNvPr id="6" name="Graphic 5" descr="Vrouw silhouet">
            <a:extLst>
              <a:ext uri="{FF2B5EF4-FFF2-40B4-BE49-F238E27FC236}">
                <a16:creationId xmlns:a16="http://schemas.microsoft.com/office/drawing/2014/main" id="{D27C3BD6-DFA4-00AA-16CF-98E4A3B88B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38610" y="3203296"/>
            <a:ext cx="914400" cy="914400"/>
          </a:xfrm>
          <a:prstGeom prst="rect">
            <a:avLst/>
          </a:prstGeom>
        </p:spPr>
      </p:pic>
      <p:pic>
        <p:nvPicPr>
          <p:cNvPr id="7" name="Tijdelijke aanduiding voor inhoud 4" descr="Man met effen opvulling">
            <a:extLst>
              <a:ext uri="{FF2B5EF4-FFF2-40B4-BE49-F238E27FC236}">
                <a16:creationId xmlns:a16="http://schemas.microsoft.com/office/drawing/2014/main" id="{C3983198-50BE-6073-36EC-280FEC6C01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07320" y="2136549"/>
            <a:ext cx="914400" cy="914400"/>
          </a:xfrm>
          <a:prstGeom prst="rect">
            <a:avLst/>
          </a:prstGeom>
        </p:spPr>
      </p:pic>
      <p:cxnSp>
        <p:nvCxnSpPr>
          <p:cNvPr id="8" name="Rechte verbindingslijn met pijl 7">
            <a:extLst>
              <a:ext uri="{FF2B5EF4-FFF2-40B4-BE49-F238E27FC236}">
                <a16:creationId xmlns:a16="http://schemas.microsoft.com/office/drawing/2014/main" id="{30F2914D-BBD0-DEC8-1DFB-4390909E7C97}"/>
              </a:ext>
            </a:extLst>
          </p:cNvPr>
          <p:cNvCxnSpPr/>
          <p:nvPr/>
        </p:nvCxnSpPr>
        <p:spPr>
          <a:xfrm>
            <a:off x="2533337" y="3687780"/>
            <a:ext cx="7120328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Graphic 8" descr="Envelop met effen opvulling">
            <a:extLst>
              <a:ext uri="{FF2B5EF4-FFF2-40B4-BE49-F238E27FC236}">
                <a16:creationId xmlns:a16="http://schemas.microsoft.com/office/drawing/2014/main" id="{0F2AF238-03E9-7AC9-CD3C-B7440421C36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02155" y="3011375"/>
            <a:ext cx="662365" cy="662365"/>
          </a:xfrm>
          <a:prstGeom prst="rect">
            <a:avLst/>
          </a:prstGeom>
        </p:spPr>
      </p:pic>
      <p:sp>
        <p:nvSpPr>
          <p:cNvPr id="10" name="Tekstvak 9">
            <a:extLst>
              <a:ext uri="{FF2B5EF4-FFF2-40B4-BE49-F238E27FC236}">
                <a16:creationId xmlns:a16="http://schemas.microsoft.com/office/drawing/2014/main" id="{F5A5E28D-B377-FA0B-39C8-9527CFAB42C1}"/>
              </a:ext>
            </a:extLst>
          </p:cNvPr>
          <p:cNvSpPr txBox="1"/>
          <p:nvPr/>
        </p:nvSpPr>
        <p:spPr>
          <a:xfrm>
            <a:off x="1607871" y="4209922"/>
            <a:ext cx="845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Sam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99FDECAB-7966-D746-FBF8-3A377C5CC855}"/>
              </a:ext>
            </a:extLst>
          </p:cNvPr>
          <p:cNvSpPr txBox="1"/>
          <p:nvPr/>
        </p:nvSpPr>
        <p:spPr>
          <a:xfrm>
            <a:off x="2533337" y="1767217"/>
            <a:ext cx="845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Mark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896D1ABE-2260-3DA4-5C7A-3AAED3F969F1}"/>
              </a:ext>
            </a:extLst>
          </p:cNvPr>
          <p:cNvSpPr txBox="1"/>
          <p:nvPr/>
        </p:nvSpPr>
        <p:spPr>
          <a:xfrm>
            <a:off x="9807491" y="4209922"/>
            <a:ext cx="845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Lisa</a:t>
            </a:r>
          </a:p>
        </p:txBody>
      </p:sp>
      <p:pic>
        <p:nvPicPr>
          <p:cNvPr id="13" name="Graphic 12" descr="Open enveloppe met effen opvulling">
            <a:extLst>
              <a:ext uri="{FF2B5EF4-FFF2-40B4-BE49-F238E27FC236}">
                <a16:creationId xmlns:a16="http://schemas.microsoft.com/office/drawing/2014/main" id="{2E10F89B-C470-7D66-7730-75B5003D593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571744" y="2975646"/>
            <a:ext cx="662365" cy="662365"/>
          </a:xfrm>
          <a:prstGeom prst="rect">
            <a:avLst/>
          </a:prstGeom>
        </p:spPr>
      </p:pic>
      <p:pic>
        <p:nvPicPr>
          <p:cNvPr id="14" name="Graphic 13" descr="Uitroepteken met effen opvulling">
            <a:extLst>
              <a:ext uri="{FF2B5EF4-FFF2-40B4-BE49-F238E27FC236}">
                <a16:creationId xmlns:a16="http://schemas.microsoft.com/office/drawing/2014/main" id="{CF4F3997-E385-C30A-726B-F46E75B35C0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511383" y="71578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807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7.40741E-7 L 0.24752 -7.40741E-7 " pathEditMode="relative" rAng="0" ptsTypes="AA">
                                      <p:cBhvr>
                                        <p:cTn id="35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70" y="0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-7.40741E-7 L 0.25195 -7.40741E-7 " pathEditMode="relative" rAng="0" ptsTypes="AA">
                                      <p:cBhvr>
                                        <p:cTn id="3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91" y="0"/>
                                    </p:animMotion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1.48148E-6 L 0.27552 1.48148E-6 " pathEditMode="relative" rAng="0" ptsTypes="AA">
                                      <p:cBhvr>
                                        <p:cTn id="39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776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7552 1.48148E-6 L 0.58412 1.48148E-6 " pathEditMode="relative" rAng="0" ptsTypes="AA">
                                      <p:cBhvr>
                                        <p:cTn id="65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430" y="0"/>
                                    </p:animMotion>
                                  </p:childTnLst>
                                </p:cTn>
                              </p:par>
                              <p:par>
                                <p:cTn id="66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5195 -7.40741E-7 L 0.52617 -7.40741E-7 " pathEditMode="relative" rAng="0" ptsTypes="AA">
                                      <p:cBhvr>
                                        <p:cTn id="6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711" y="0"/>
                                    </p:animMotion>
                                  </p:childTnLst>
                                </p:cTn>
                              </p:par>
                              <p:par>
                                <p:cTn id="68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4752 -7.40741E-7 L 0.51927 -7.40741E-7 " pathEditMode="relative" rAng="0" ptsTypes="AA">
                                      <p:cBhvr>
                                        <p:cTn id="69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58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1" grpId="1"/>
      <p:bldP spid="11" grpId="2"/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56AA6D-017F-3573-F044-9D2399B0A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Bekende netwerk tactieken en voorbeelden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AF5138A-4388-6D78-9143-191146A671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De “Wifi in de trein” techniek</a:t>
            </a:r>
          </a:p>
          <a:p>
            <a:r>
              <a:rPr lang="nl-NL" dirty="0"/>
              <a:t>De “Koffieshop” techniek</a:t>
            </a:r>
          </a:p>
          <a:p>
            <a:r>
              <a:rPr lang="nl-NL" dirty="0"/>
              <a:t>Het “IT studentenhuis” fiasco</a:t>
            </a:r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Extra: het pride parade schandaal van een groep onderzoekers</a:t>
            </a:r>
          </a:p>
        </p:txBody>
      </p:sp>
    </p:spTree>
    <p:extLst>
      <p:ext uri="{BB962C8B-B14F-4D97-AF65-F5344CB8AC3E}">
        <p14:creationId xmlns:p14="http://schemas.microsoft.com/office/powerpoint/2010/main" val="1177706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0D8AC7-F844-E434-22D7-47EB46662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Netwerk beveiliging - invalshoeken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FA93119-D33B-E206-5C87-0A2420A03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Voorkom connectie</a:t>
            </a:r>
          </a:p>
          <a:p>
            <a:r>
              <a:rPr lang="nl-NL" dirty="0"/>
              <a:t>Voorkom toegang</a:t>
            </a:r>
          </a:p>
          <a:p>
            <a:r>
              <a:rPr lang="nl-NL" dirty="0"/>
              <a:t>Voorkom </a:t>
            </a:r>
            <a:r>
              <a:rPr lang="nl-NL" dirty="0" err="1"/>
              <a:t>ongeauthorizeerde</a:t>
            </a:r>
            <a:r>
              <a:rPr lang="nl-NL" dirty="0"/>
              <a:t> data</a:t>
            </a:r>
          </a:p>
          <a:p>
            <a:r>
              <a:rPr lang="nl-NL" dirty="0"/>
              <a:t>Voorkom data extractie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3278529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1C623F-8EDD-04A0-7256-DD23FAC9E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Netwerk beveiliging - thuis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C1571CC-0F7B-F2C6-5EF9-0937627231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nl-NL" dirty="0"/>
              <a:t>WPA3 versleuteling</a:t>
            </a:r>
          </a:p>
          <a:p>
            <a:r>
              <a:rPr lang="nl-NL" dirty="0"/>
              <a:t>Splitsing tussen privé en gast netwerk</a:t>
            </a:r>
          </a:p>
          <a:p>
            <a:r>
              <a:rPr lang="nl-NL" dirty="0"/>
              <a:t>Beveiligd netwerk zonder publieke fysieke aansluiting</a:t>
            </a:r>
          </a:p>
          <a:p>
            <a:r>
              <a:rPr lang="nl-NL" dirty="0"/>
              <a:t>Firewalls</a:t>
            </a:r>
          </a:p>
          <a:p>
            <a:r>
              <a:rPr lang="nl-NL" dirty="0"/>
              <a:t>VPN</a:t>
            </a:r>
          </a:p>
          <a:p>
            <a:r>
              <a:rPr lang="nl-NL" dirty="0"/>
              <a:t>Sterke geheime wachtwoorden, dit blokkeert 70% van de privé dreigingen</a:t>
            </a:r>
          </a:p>
          <a:p>
            <a:r>
              <a:rPr lang="nl-NL" dirty="0"/>
              <a:t>Formeel verzoek tot verwijdering data geschiedenis bij internet provider</a:t>
            </a:r>
            <a:br>
              <a:rPr lang="nl-NL" dirty="0"/>
            </a:br>
            <a:r>
              <a:rPr lang="nl-NL" b="1" dirty="0"/>
              <a:t>'recht op vergetelheid'</a:t>
            </a:r>
            <a:r>
              <a:rPr lang="nl-NL" dirty="0"/>
              <a:t> (artikel 17 AVG)</a:t>
            </a:r>
          </a:p>
        </p:txBody>
      </p:sp>
    </p:spTree>
    <p:extLst>
      <p:ext uri="{BB962C8B-B14F-4D97-AF65-F5344CB8AC3E}">
        <p14:creationId xmlns:p14="http://schemas.microsoft.com/office/powerpoint/2010/main" val="40797015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FCEC88-3D46-F402-7693-C4F510DB4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Spysoftware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826A35B-3FEA-46C1-6448-941478EAA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Hackers willen om meerdere redenen </a:t>
            </a:r>
            <a:r>
              <a:rPr lang="nl-NL" dirty="0" err="1"/>
              <a:t>spysoftware</a:t>
            </a:r>
            <a:r>
              <a:rPr lang="nl-NL" dirty="0"/>
              <a:t> plaatsen</a:t>
            </a:r>
          </a:p>
          <a:p>
            <a:pPr lvl="1"/>
            <a:r>
              <a:rPr lang="nl-NL" dirty="0"/>
              <a:t>Chantage (blackmail) van personen of bedrijven</a:t>
            </a:r>
          </a:p>
          <a:p>
            <a:pPr lvl="1"/>
            <a:r>
              <a:rPr lang="nl-NL" dirty="0"/>
              <a:t>Bedrijfsgeheimen</a:t>
            </a:r>
          </a:p>
          <a:p>
            <a:pPr lvl="1"/>
            <a:r>
              <a:rPr lang="nl-NL" dirty="0"/>
              <a:t>Zwarte markt voor data</a:t>
            </a:r>
          </a:p>
          <a:p>
            <a:pPr lvl="1"/>
            <a:r>
              <a:rPr lang="nl-NL" dirty="0"/>
              <a:t>Zwaktes ontdekken voor een zwaardere aanval</a:t>
            </a:r>
          </a:p>
          <a:p>
            <a:endParaRPr lang="nl-NL" dirty="0"/>
          </a:p>
          <a:p>
            <a:r>
              <a:rPr lang="nl-NL" dirty="0"/>
              <a:t>Veel van de bekende </a:t>
            </a:r>
            <a:r>
              <a:rPr lang="nl-NL" dirty="0" err="1"/>
              <a:t>spysoftware</a:t>
            </a:r>
            <a:r>
              <a:rPr lang="nl-NL" dirty="0"/>
              <a:t> is makkelijk te herkennen</a:t>
            </a:r>
          </a:p>
          <a:p>
            <a:pPr lvl="1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568958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180BEB-6337-DB82-046D-18E845496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Spysoftware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F34CD11-D667-7F30-83A9-740342E96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Syptomen</a:t>
            </a:r>
            <a:r>
              <a:rPr lang="nl-NL" dirty="0"/>
              <a:t> van </a:t>
            </a:r>
            <a:r>
              <a:rPr lang="nl-NL" dirty="0" err="1"/>
              <a:t>spysoftware</a:t>
            </a:r>
            <a:r>
              <a:rPr lang="nl-NL" dirty="0"/>
              <a:t>:</a:t>
            </a:r>
          </a:p>
          <a:p>
            <a:pPr lvl="1"/>
            <a:r>
              <a:rPr lang="nl-NL" dirty="0"/>
              <a:t>Camera’s die aan en uit gaan van apparaten zonder reden</a:t>
            </a:r>
          </a:p>
          <a:p>
            <a:pPr lvl="1"/>
            <a:r>
              <a:rPr lang="nl-NL" dirty="0"/>
              <a:t>Je computer is ineens verlangzaamd zonder reden</a:t>
            </a:r>
          </a:p>
          <a:p>
            <a:pPr lvl="1"/>
            <a:r>
              <a:rPr lang="nl-NL" dirty="0"/>
              <a:t>Je computer wordt veel warmer zonder reden</a:t>
            </a:r>
          </a:p>
          <a:p>
            <a:pPr lvl="1"/>
            <a:r>
              <a:rPr lang="nl-NL" dirty="0"/>
              <a:t>Je muis beweegt zonder dat er input is (Dit is ook control software)</a:t>
            </a:r>
          </a:p>
          <a:p>
            <a:pPr lvl="1"/>
            <a:r>
              <a:rPr lang="nl-NL" dirty="0"/>
              <a:t>Je computer gaat van </a:t>
            </a:r>
            <a:r>
              <a:rPr lang="nl-NL" dirty="0" err="1"/>
              <a:t>standby</a:t>
            </a:r>
            <a:r>
              <a:rPr lang="nl-NL" dirty="0"/>
              <a:t> ineens aan zonder reden.</a:t>
            </a:r>
          </a:p>
          <a:p>
            <a:pPr lvl="1"/>
            <a:endParaRPr lang="nl-NL" dirty="0"/>
          </a:p>
          <a:p>
            <a:pPr lvl="1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908650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3B23E2-D110-25B3-CDF2-318AF570F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Spysoftware</a:t>
            </a:r>
            <a:r>
              <a:rPr lang="nl-NL" dirty="0"/>
              <a:t> - beveiliging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F46C0FB-42C0-08FD-6952-23E08F85CB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Meeste </a:t>
            </a:r>
            <a:r>
              <a:rPr lang="nl-NL" dirty="0" err="1"/>
              <a:t>spysoftware</a:t>
            </a:r>
            <a:r>
              <a:rPr lang="nl-NL" dirty="0"/>
              <a:t> is te vinden via de standaard beveiliging</a:t>
            </a:r>
          </a:p>
          <a:p>
            <a:r>
              <a:rPr lang="nl-NL" dirty="0" err="1"/>
              <a:t>Mcafee</a:t>
            </a:r>
            <a:r>
              <a:rPr lang="nl-NL" dirty="0"/>
              <a:t> en AVG zijn iets beter maar deels betaald</a:t>
            </a:r>
          </a:p>
          <a:p>
            <a:endParaRPr lang="nl-NL" dirty="0"/>
          </a:p>
          <a:p>
            <a:r>
              <a:rPr lang="nl-NL" dirty="0"/>
              <a:t>Open geen files waarvan je niet weet waar en van wie ze vandaan komen. Een </a:t>
            </a:r>
            <a:r>
              <a:rPr lang="nl-NL" dirty="0" err="1"/>
              <a:t>spysoftware</a:t>
            </a:r>
            <a:r>
              <a:rPr lang="nl-NL" dirty="0"/>
              <a:t> kan al in een afbeelding verstopt zitten. </a:t>
            </a:r>
          </a:p>
          <a:p>
            <a:r>
              <a:rPr lang="nl-NL" dirty="0"/>
              <a:t>Klik niet op links van vreemde bronnen of advertenties die te mooi klinken.</a:t>
            </a:r>
          </a:p>
          <a:p>
            <a:r>
              <a:rPr lang="nl-NL" dirty="0"/>
              <a:t>Voorkom inloggen op publieke netwerken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672324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9D8D61-0B66-4C27-EF35-7FD222DE7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Wireshark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3D65B2C-0B29-6837-1A38-EBF4B3F9DA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Wireshark</a:t>
            </a:r>
            <a:r>
              <a:rPr lang="nl-NL" dirty="0"/>
              <a:t> is een soort afluister programma dat in een grijs gebied valt.</a:t>
            </a:r>
          </a:p>
          <a:p>
            <a:r>
              <a:rPr lang="nl-NL" dirty="0"/>
              <a:t>Er is een opdracht beschikbaar voor maar die is </a:t>
            </a:r>
            <a:r>
              <a:rPr lang="nl-NL" b="1" dirty="0">
                <a:solidFill>
                  <a:srgbClr val="FF0000"/>
                </a:solidFill>
              </a:rPr>
              <a:t>NIET</a:t>
            </a:r>
            <a:r>
              <a:rPr lang="nl-NL" dirty="0"/>
              <a:t> verplicht.</a:t>
            </a:r>
          </a:p>
          <a:p>
            <a:r>
              <a:rPr lang="nl-NL" b="1" dirty="0">
                <a:solidFill>
                  <a:srgbClr val="FF0000"/>
                </a:solidFill>
              </a:rPr>
              <a:t>BELANGRIJK</a:t>
            </a:r>
            <a:r>
              <a:rPr lang="nl-NL" dirty="0"/>
              <a:t>: DOE dit </a:t>
            </a:r>
            <a:r>
              <a:rPr lang="nl-NL" b="1" dirty="0">
                <a:solidFill>
                  <a:srgbClr val="FF0000"/>
                </a:solidFill>
              </a:rPr>
              <a:t>NIET</a:t>
            </a:r>
            <a:r>
              <a:rPr lang="nl-NL" dirty="0"/>
              <a:t> op het </a:t>
            </a:r>
            <a:r>
              <a:rPr lang="nl-NL" dirty="0" err="1"/>
              <a:t>eduroam</a:t>
            </a:r>
            <a:r>
              <a:rPr lang="nl-NL" dirty="0"/>
              <a:t> netwerk maar op het ICT netwerk. Je IP wordt anders </a:t>
            </a:r>
            <a:r>
              <a:rPr lang="nl-NL" b="1" dirty="0">
                <a:solidFill>
                  <a:srgbClr val="FF0000"/>
                </a:solidFill>
              </a:rPr>
              <a:t>geblokkeerd. </a:t>
            </a:r>
          </a:p>
        </p:txBody>
      </p:sp>
      <p:pic>
        <p:nvPicPr>
          <p:cNvPr id="1026" name="Picture 2" descr="Wireshark - Free Icon PNG, SVG">
            <a:extLst>
              <a:ext uri="{FF2B5EF4-FFF2-40B4-BE49-F238E27FC236}">
                <a16:creationId xmlns:a16="http://schemas.microsoft.com/office/drawing/2014/main" id="{6DC348A4-C0E4-739B-43B6-89DBF7F1C8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38478" y="122250"/>
            <a:ext cx="1811311" cy="1811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48477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1A3F00-D22C-8C45-2591-74E8FD01C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week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186008C-654E-6F3B-AA1A-BDA418F9A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Wetgeving deel 2</a:t>
            </a:r>
          </a:p>
          <a:p>
            <a:pPr lvl="1"/>
            <a:r>
              <a:rPr lang="nl-NL" dirty="0"/>
              <a:t>Nederlandse cyber wetgeving</a:t>
            </a:r>
          </a:p>
          <a:p>
            <a:pPr lvl="1"/>
            <a:r>
              <a:rPr lang="nl-NL" dirty="0"/>
              <a:t>Amerikaanse cyber wetgeving</a:t>
            </a:r>
          </a:p>
          <a:p>
            <a:pPr lvl="1"/>
            <a:r>
              <a:rPr lang="nl-NL" dirty="0" err="1"/>
              <a:t>Chineese</a:t>
            </a:r>
            <a:r>
              <a:rPr lang="nl-NL" dirty="0"/>
              <a:t> cyber wetgeving</a:t>
            </a:r>
          </a:p>
          <a:p>
            <a:r>
              <a:rPr lang="nl-NL" dirty="0"/>
              <a:t>Contracten en NDA</a:t>
            </a:r>
          </a:p>
        </p:txBody>
      </p:sp>
    </p:spTree>
    <p:extLst>
      <p:ext uri="{BB962C8B-B14F-4D97-AF65-F5344CB8AC3E}">
        <p14:creationId xmlns:p14="http://schemas.microsoft.com/office/powerpoint/2010/main" val="2527215279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e2" id="{9E7AAD1C-B155-4896-B55B-3944D7133965}" vid="{4C889715-0D36-4A12-BFED-915D686707C6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Nova1</Template>
  <TotalTime>0</TotalTime>
  <Words>758</Words>
  <Application>Microsoft Office PowerPoint</Application>
  <PresentationFormat>Breedbeeld</PresentationFormat>
  <Paragraphs>112</Paragraphs>
  <Slides>18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Kantoorthema</vt:lpstr>
      <vt:lpstr>CySec – les 5</vt:lpstr>
      <vt:lpstr>Programma</vt:lpstr>
      <vt:lpstr>Wat weten we nog van vorige les?</vt:lpstr>
      <vt:lpstr>Leerdoelen</vt:lpstr>
      <vt:lpstr>Netwerken</vt:lpstr>
      <vt:lpstr>Werkvorm - Netwerken</vt:lpstr>
      <vt:lpstr>Netwerk aanvallen</vt:lpstr>
      <vt:lpstr>Netwerk aanvallen</vt:lpstr>
      <vt:lpstr>Netwerk aanvallen</vt:lpstr>
      <vt:lpstr>Man in de middle</vt:lpstr>
      <vt:lpstr>Bekende netwerk tactieken en voorbeelden</vt:lpstr>
      <vt:lpstr>Netwerk beveiliging - invalshoeken</vt:lpstr>
      <vt:lpstr>Netwerk beveiliging - thuis</vt:lpstr>
      <vt:lpstr>Spysoftware</vt:lpstr>
      <vt:lpstr>Spysoftware</vt:lpstr>
      <vt:lpstr>Spysoftware - beveiliging</vt:lpstr>
      <vt:lpstr>Wireshark</vt:lpstr>
      <vt:lpstr>Volgende week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Erwin van Hunnik</dc:creator>
  <cp:lastModifiedBy>Erwin van Hunnik</cp:lastModifiedBy>
  <cp:revision>12</cp:revision>
  <dcterms:created xsi:type="dcterms:W3CDTF">2026-02-10T21:24:48Z</dcterms:created>
  <dcterms:modified xsi:type="dcterms:W3CDTF">2026-02-18T21:25:47Z</dcterms:modified>
</cp:coreProperties>
</file>