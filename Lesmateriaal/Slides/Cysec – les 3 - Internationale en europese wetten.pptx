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9" r:id="rId4"/>
    <p:sldId id="260" r:id="rId5"/>
    <p:sldId id="261" r:id="rId6"/>
    <p:sldId id="262" r:id="rId7"/>
    <p:sldId id="263" r:id="rId8"/>
    <p:sldId id="273" r:id="rId9"/>
    <p:sldId id="265" r:id="rId10"/>
    <p:sldId id="274" r:id="rId11"/>
    <p:sldId id="276" r:id="rId12"/>
    <p:sldId id="277" r:id="rId13"/>
    <p:sldId id="275" r:id="rId14"/>
    <p:sldId id="278" r:id="rId15"/>
    <p:sldId id="279" r:id="rId16"/>
    <p:sldId id="280" r:id="rId17"/>
    <p:sldId id="25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C77"/>
    <a:srgbClr val="FBA400"/>
    <a:srgbClr val="FFFEF7"/>
    <a:srgbClr val="FFFE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81" autoAdjust="0"/>
  </p:normalViewPr>
  <p:slideViewPr>
    <p:cSldViewPr snapToGrid="0">
      <p:cViewPr varScale="1">
        <p:scale>
          <a:sx n="104" d="100"/>
          <a:sy n="104" d="100"/>
        </p:scale>
        <p:origin x="216" y="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284" y="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58DB6F-D407-4DAD-8E07-F71A85896F6E}" type="datetimeFigureOut">
              <a:rPr lang="nl-NL" smtClean="0"/>
              <a:t>7-3-2026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5FC6EB-00F9-4F26-856D-FED6C6A7B264}" type="slidenum">
              <a:rPr lang="nl-NL" smtClean="0"/>
              <a:t>‹nr.›</a:t>
            </a:fld>
            <a:endParaRPr lang="nl-NL"/>
          </a:p>
        </p:txBody>
      </p:sp>
    </p:spTree>
    <p:extLst>
      <p:ext uri="{BB962C8B-B14F-4D97-AF65-F5344CB8AC3E}">
        <p14:creationId xmlns:p14="http://schemas.microsoft.com/office/powerpoint/2010/main" val="2448855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B4C759-8C62-86C9-3B17-92FACEE38A12}"/>
              </a:ext>
            </a:extLst>
          </p:cNvPr>
          <p:cNvSpPr>
            <a:spLocks noGrp="1"/>
          </p:cNvSpPr>
          <p:nvPr>
            <p:ph type="ctrTitle"/>
          </p:nvPr>
        </p:nvSpPr>
        <p:spPr>
          <a:xfrm>
            <a:off x="796925" y="406400"/>
            <a:ext cx="645795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A321D15F-B607-A2F4-7E5B-5C4C4A91C98D}"/>
              </a:ext>
            </a:extLst>
          </p:cNvPr>
          <p:cNvSpPr>
            <a:spLocks noGrp="1"/>
          </p:cNvSpPr>
          <p:nvPr>
            <p:ph type="subTitle" idx="1"/>
          </p:nvPr>
        </p:nvSpPr>
        <p:spPr>
          <a:xfrm>
            <a:off x="5774266" y="3380783"/>
            <a:ext cx="55118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35970407-AC1E-7009-EC8F-8F2B816D797E}"/>
              </a:ext>
            </a:extLst>
          </p:cNvPr>
          <p:cNvSpPr>
            <a:spLocks noGrp="1"/>
          </p:cNvSpPr>
          <p:nvPr>
            <p:ph type="dt" sz="half" idx="10"/>
          </p:nvPr>
        </p:nvSpPr>
        <p:spPr>
          <a:xfrm>
            <a:off x="3869266" y="6356350"/>
            <a:ext cx="1905000" cy="365125"/>
          </a:xfrm>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C0B12CD7-1DFB-6FCC-4B46-040832962F86}"/>
              </a:ext>
            </a:extLst>
          </p:cNvPr>
          <p:cNvSpPr>
            <a:spLocks noGrp="1"/>
          </p:cNvSpPr>
          <p:nvPr>
            <p:ph type="ftr" sz="quarter" idx="11"/>
          </p:nvPr>
        </p:nvSpPr>
        <p:spPr>
          <a:xfrm>
            <a:off x="6096000" y="6356350"/>
            <a:ext cx="4114800" cy="365125"/>
          </a:xfrm>
        </p:spPr>
        <p:txBody>
          <a:bodyPr/>
          <a:lstStyle/>
          <a:p>
            <a:endParaRPr lang="nl-NL" dirty="0"/>
          </a:p>
        </p:txBody>
      </p:sp>
      <p:sp>
        <p:nvSpPr>
          <p:cNvPr id="6" name="Tijdelijke aanduiding voor dianummer 5">
            <a:extLst>
              <a:ext uri="{FF2B5EF4-FFF2-40B4-BE49-F238E27FC236}">
                <a16:creationId xmlns:a16="http://schemas.microsoft.com/office/drawing/2014/main" id="{FED0717B-501A-6AD2-FAD9-9FDB669F358D}"/>
              </a:ext>
            </a:extLst>
          </p:cNvPr>
          <p:cNvSpPr>
            <a:spLocks noGrp="1"/>
          </p:cNvSpPr>
          <p:nvPr>
            <p:ph type="sldNum" sz="quarter" idx="12"/>
          </p:nvPr>
        </p:nvSpPr>
        <p:spPr>
          <a:xfrm>
            <a:off x="10668000" y="6356350"/>
            <a:ext cx="1159933" cy="365125"/>
          </a:xfrm>
        </p:spPr>
        <p:txBody>
          <a:bodyPr/>
          <a:lstStyle/>
          <a:p>
            <a:fld id="{E9064B82-868F-4D41-994F-76B4E64C671C}" type="slidenum">
              <a:rPr lang="nl-NL" smtClean="0"/>
              <a:t>‹nr.›</a:t>
            </a:fld>
            <a:endParaRPr lang="nl-NL" dirty="0"/>
          </a:p>
        </p:txBody>
      </p:sp>
    </p:spTree>
    <p:extLst>
      <p:ext uri="{BB962C8B-B14F-4D97-AF65-F5344CB8AC3E}">
        <p14:creationId xmlns:p14="http://schemas.microsoft.com/office/powerpoint/2010/main" val="3244405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BFFC90-3395-0A72-C175-88454A1082CD}"/>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2FF9D1A7-AFA3-2D0A-5016-573C0085F7A3}"/>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6AEF1A98-39F2-BCFE-A768-C7C7269E6009}"/>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3A3F0BBF-479B-F827-4D71-082BF9E1E225}"/>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3D6B33F-8770-9341-9E76-F7A435377425}"/>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3605362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C40951-16BA-65BD-FA23-BCD4B37026A1}"/>
              </a:ext>
            </a:extLst>
          </p:cNvPr>
          <p:cNvSpPr>
            <a:spLocks noGrp="1"/>
          </p:cNvSpPr>
          <p:nvPr>
            <p:ph type="title"/>
          </p:nvPr>
        </p:nvSpPr>
        <p:spPr>
          <a:xfrm>
            <a:off x="838200" y="453432"/>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A223BC3E-99ED-F861-2FB2-1837A862A4C4}"/>
              </a:ext>
            </a:extLst>
          </p:cNvPr>
          <p:cNvSpPr>
            <a:spLocks noGrp="1"/>
          </p:cNvSpPr>
          <p:nvPr>
            <p:ph type="body" idx="1"/>
          </p:nvPr>
        </p:nvSpPr>
        <p:spPr>
          <a:xfrm>
            <a:off x="838200" y="3794332"/>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004DFCE1-FF20-9098-F41B-CF8AE47B2474}"/>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C527527C-339C-A319-5AB8-112FB83F622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2BC4418-4EF7-67F6-BB89-E7E06ACA8A73}"/>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3349828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331BC1-8E05-7E69-F8A9-6DB02B0328AB}"/>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72ED6838-DD66-E35D-E7CC-C7808F5D6C0B}"/>
              </a:ext>
            </a:extLst>
          </p:cNvPr>
          <p:cNvSpPr>
            <a:spLocks noGrp="1"/>
          </p:cNvSpPr>
          <p:nvPr>
            <p:ph sz="half" idx="1"/>
          </p:nvPr>
        </p:nvSpPr>
        <p:spPr>
          <a:xfrm>
            <a:off x="838200" y="1825625"/>
            <a:ext cx="5181600" cy="401858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A8D7FE4F-8286-26BD-2F95-E57806EDF7FB}"/>
              </a:ext>
            </a:extLst>
          </p:cNvPr>
          <p:cNvSpPr>
            <a:spLocks noGrp="1"/>
          </p:cNvSpPr>
          <p:nvPr>
            <p:ph sz="half" idx="2"/>
          </p:nvPr>
        </p:nvSpPr>
        <p:spPr>
          <a:xfrm>
            <a:off x="6172200" y="1825625"/>
            <a:ext cx="5181600" cy="401858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6D0E1AED-39B0-79D9-7A2C-449973F5357F}"/>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6" name="Tijdelijke aanduiding voor voettekst 5">
            <a:extLst>
              <a:ext uri="{FF2B5EF4-FFF2-40B4-BE49-F238E27FC236}">
                <a16:creationId xmlns:a16="http://schemas.microsoft.com/office/drawing/2014/main" id="{A254B2C4-BDF7-31CB-7DC9-B08438151C8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2189A640-A58A-DEB2-536B-CD6A70C76CF1}"/>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658894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2C2B3A-1D0A-5865-BE4A-04C18894FB42}"/>
              </a:ext>
            </a:extLst>
          </p:cNvPr>
          <p:cNvSpPr>
            <a:spLocks noGrp="1"/>
          </p:cNvSpPr>
          <p:nvPr>
            <p:ph type="title"/>
          </p:nvPr>
        </p:nvSpPr>
        <p:spPr>
          <a:xfrm>
            <a:off x="839788" y="365125"/>
            <a:ext cx="10515600" cy="978645"/>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416E3B1D-231C-B7E9-8ECC-869ECCA3566F}"/>
              </a:ext>
            </a:extLst>
          </p:cNvPr>
          <p:cNvSpPr>
            <a:spLocks noGrp="1"/>
          </p:cNvSpPr>
          <p:nvPr>
            <p:ph type="body" idx="1"/>
          </p:nvPr>
        </p:nvSpPr>
        <p:spPr>
          <a:xfrm>
            <a:off x="839788" y="1464418"/>
            <a:ext cx="5157787" cy="7142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907D4D88-D8C1-6D25-C28C-87B8DCECC9AC}"/>
              </a:ext>
            </a:extLst>
          </p:cNvPr>
          <p:cNvSpPr>
            <a:spLocks noGrp="1"/>
          </p:cNvSpPr>
          <p:nvPr>
            <p:ph sz="half" idx="2"/>
          </p:nvPr>
        </p:nvSpPr>
        <p:spPr>
          <a:xfrm>
            <a:off x="839788" y="2299305"/>
            <a:ext cx="5157787" cy="357670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0B794A09-E8F5-29C8-7AAA-9CCB4BF45293}"/>
              </a:ext>
            </a:extLst>
          </p:cNvPr>
          <p:cNvSpPr>
            <a:spLocks noGrp="1"/>
          </p:cNvSpPr>
          <p:nvPr>
            <p:ph type="body" sz="quarter" idx="3"/>
          </p:nvPr>
        </p:nvSpPr>
        <p:spPr>
          <a:xfrm>
            <a:off x="6169024" y="1433991"/>
            <a:ext cx="5183188" cy="7446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BD06865D-4034-733F-0C0B-2A32C8EDB392}"/>
              </a:ext>
            </a:extLst>
          </p:cNvPr>
          <p:cNvSpPr>
            <a:spLocks noGrp="1"/>
          </p:cNvSpPr>
          <p:nvPr>
            <p:ph sz="quarter" idx="4"/>
          </p:nvPr>
        </p:nvSpPr>
        <p:spPr>
          <a:xfrm>
            <a:off x="6169024" y="2299305"/>
            <a:ext cx="5183188" cy="357670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7" name="Tijdelijke aanduiding voor datum 6">
            <a:extLst>
              <a:ext uri="{FF2B5EF4-FFF2-40B4-BE49-F238E27FC236}">
                <a16:creationId xmlns:a16="http://schemas.microsoft.com/office/drawing/2014/main" id="{9615BE59-3F81-7BD5-4DB4-278648CEC517}"/>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8" name="Tijdelijke aanduiding voor voettekst 7">
            <a:extLst>
              <a:ext uri="{FF2B5EF4-FFF2-40B4-BE49-F238E27FC236}">
                <a16:creationId xmlns:a16="http://schemas.microsoft.com/office/drawing/2014/main" id="{DE8CE4A8-74CC-EC89-649F-1C83DAD30591}"/>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56CBCA2E-28ED-9718-15AD-1B3FFBE1ABBF}"/>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3056480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3C4379-2683-9B5B-54BA-E3A636049975}"/>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05F0E2A3-FBE9-DC25-394E-AE9A6C39F395}"/>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4" name="Tijdelijke aanduiding voor voettekst 3">
            <a:extLst>
              <a:ext uri="{FF2B5EF4-FFF2-40B4-BE49-F238E27FC236}">
                <a16:creationId xmlns:a16="http://schemas.microsoft.com/office/drawing/2014/main" id="{BB400D92-2550-0867-9483-45ED646CB30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B71C9D5D-E51E-CA71-9A90-C4EAB3B95EB5}"/>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3691459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C5446D9-5DF5-F7C0-2628-90BC9A1C3D3C}"/>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3" name="Tijdelijke aanduiding voor voettekst 2">
            <a:extLst>
              <a:ext uri="{FF2B5EF4-FFF2-40B4-BE49-F238E27FC236}">
                <a16:creationId xmlns:a16="http://schemas.microsoft.com/office/drawing/2014/main" id="{FF65D153-6E89-D8A5-45CD-F5E3B8296345}"/>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8C4BE700-8736-DEBD-54F5-CD85EBEDBB4B}"/>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2569294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6DB1C2-788C-5E67-1126-186FE5DFFDE0}"/>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E9A3E2AF-FE3E-C3CA-0E2C-9C0235AADF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972E7AF5-2E5A-4DE2-1F3D-EE384028A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34CCBAC4-7095-68D4-1F70-41489D11E421}"/>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6" name="Tijdelijke aanduiding voor voettekst 5">
            <a:extLst>
              <a:ext uri="{FF2B5EF4-FFF2-40B4-BE49-F238E27FC236}">
                <a16:creationId xmlns:a16="http://schemas.microsoft.com/office/drawing/2014/main" id="{69FD96D4-0AD8-6168-4590-B26CA93A3FB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0DB30B07-5631-A050-3B75-0C5F5D0021AB}"/>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1628018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9B1091-E1AE-DDD5-15E4-4FBF3510FEBC}"/>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676DA624-4C35-30ED-18A7-B6FB1563DF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p>
        </p:txBody>
      </p:sp>
      <p:sp>
        <p:nvSpPr>
          <p:cNvPr id="4" name="Tijdelijke aanduiding voor tekst 3">
            <a:extLst>
              <a:ext uri="{FF2B5EF4-FFF2-40B4-BE49-F238E27FC236}">
                <a16:creationId xmlns:a16="http://schemas.microsoft.com/office/drawing/2014/main" id="{6C0BB913-4F09-18DD-A1BA-8427E3841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E13FF6D7-870A-E1AF-4B59-6101B009DEE5}"/>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6" name="Tijdelijke aanduiding voor voettekst 5">
            <a:extLst>
              <a:ext uri="{FF2B5EF4-FFF2-40B4-BE49-F238E27FC236}">
                <a16:creationId xmlns:a16="http://schemas.microsoft.com/office/drawing/2014/main" id="{349C309F-2101-E8AD-9159-474BFC226787}"/>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CEE4378-BA38-4FB0-C906-B9BA8993001E}"/>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2511610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2D5996-E7C8-5CF7-C2D3-B8748FD4CC4F}"/>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4E21B26B-BA69-E9AD-7CFF-9F776593287F}"/>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604E0D85-1929-B19A-7CEE-1C5F655EE053}"/>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6DF32821-6BD5-551A-0269-B059B749A5C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20D5A6D-2538-85A7-38BB-7F795A3E91C3}"/>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2159449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2B48FD73-4D0B-A3A3-2319-42AE9E7263D1}"/>
              </a:ext>
            </a:extLst>
          </p:cNvPr>
          <p:cNvSpPr>
            <a:spLocks noGrp="1"/>
          </p:cNvSpPr>
          <p:nvPr>
            <p:ph type="title" orient="vert"/>
          </p:nvPr>
        </p:nvSpPr>
        <p:spPr>
          <a:xfrm>
            <a:off x="9144000" y="365125"/>
            <a:ext cx="2671638" cy="5455230"/>
          </a:xfrm>
        </p:spPr>
        <p:txBody>
          <a:bodyPr vert="eaVert"/>
          <a:lstStyle/>
          <a:p>
            <a:r>
              <a:rPr lang="nl-NL"/>
              <a:t>Klik om stijl te bewerken</a:t>
            </a:r>
            <a:endParaRPr lang="nl-NL" dirty="0"/>
          </a:p>
        </p:txBody>
      </p:sp>
      <p:sp>
        <p:nvSpPr>
          <p:cNvPr id="3" name="Tijdelijke aanduiding voor verticale tekst 2">
            <a:extLst>
              <a:ext uri="{FF2B5EF4-FFF2-40B4-BE49-F238E27FC236}">
                <a16:creationId xmlns:a16="http://schemas.microsoft.com/office/drawing/2014/main" id="{B1C23176-7D84-A884-661D-CD5DEA0485E6}"/>
              </a:ext>
            </a:extLst>
          </p:cNvPr>
          <p:cNvSpPr>
            <a:spLocks noGrp="1"/>
          </p:cNvSpPr>
          <p:nvPr>
            <p:ph type="body" orient="vert" idx="1"/>
          </p:nvPr>
        </p:nvSpPr>
        <p:spPr>
          <a:xfrm>
            <a:off x="644056" y="365125"/>
            <a:ext cx="8340918" cy="5455230"/>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5DAFAA59-F7D1-5531-36D8-900F9C119EB8}"/>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D606688D-6FDD-6771-2106-A56DB363A52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8D3E2E9-404E-C081-A941-A3629B3047F5}"/>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4246609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gs>
            <a:gs pos="35000">
              <a:srgbClr val="FFFEF3"/>
            </a:gs>
            <a:gs pos="62000">
              <a:srgbClr val="FFFEF7"/>
            </a:gs>
            <a:gs pos="0">
              <a:schemeClr val="bg1"/>
            </a:gs>
          </a:gsLst>
          <a:lin ang="5400000" scaled="1"/>
          <a:tileRect/>
        </a:gra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ACF1BF85-4B6C-F008-1B3C-11B47EC59E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4" name="Tijdelijke aanduiding voor datum 3">
            <a:extLst>
              <a:ext uri="{FF2B5EF4-FFF2-40B4-BE49-F238E27FC236}">
                <a16:creationId xmlns:a16="http://schemas.microsoft.com/office/drawing/2014/main" id="{E5411684-1A7E-DFCF-F13E-B761FD6B0AB4}"/>
              </a:ext>
            </a:extLst>
          </p:cNvPr>
          <p:cNvSpPr>
            <a:spLocks noGrp="1"/>
          </p:cNvSpPr>
          <p:nvPr>
            <p:ph type="dt" sz="half" idx="2"/>
          </p:nvPr>
        </p:nvSpPr>
        <p:spPr>
          <a:xfrm>
            <a:off x="2597150" y="631031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18414D-5A9A-49A8-AA48-E9E7CADEA260}" type="datetimeFigureOut">
              <a:rPr lang="nl-NL" smtClean="0"/>
              <a:t>7-3-2026</a:t>
            </a:fld>
            <a:endParaRPr lang="nl-NL" dirty="0"/>
          </a:p>
        </p:txBody>
      </p:sp>
      <p:sp>
        <p:nvSpPr>
          <p:cNvPr id="5" name="Tijdelijke aanduiding voor voettekst 4">
            <a:extLst>
              <a:ext uri="{FF2B5EF4-FFF2-40B4-BE49-F238E27FC236}">
                <a16:creationId xmlns:a16="http://schemas.microsoft.com/office/drawing/2014/main" id="{A9B745CD-F00A-8626-6B75-9275E77135C4}"/>
              </a:ext>
            </a:extLst>
          </p:cNvPr>
          <p:cNvSpPr>
            <a:spLocks noGrp="1"/>
          </p:cNvSpPr>
          <p:nvPr>
            <p:ph type="ftr" sz="quarter" idx="3"/>
          </p:nvPr>
        </p:nvSpPr>
        <p:spPr>
          <a:xfrm>
            <a:off x="5664200" y="6310311"/>
            <a:ext cx="4546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dirty="0"/>
          </a:p>
        </p:txBody>
      </p:sp>
      <p:sp>
        <p:nvSpPr>
          <p:cNvPr id="6" name="Tijdelijke aanduiding voor dianummer 5">
            <a:extLst>
              <a:ext uri="{FF2B5EF4-FFF2-40B4-BE49-F238E27FC236}">
                <a16:creationId xmlns:a16="http://schemas.microsoft.com/office/drawing/2014/main" id="{B40EA63F-C77B-C305-2060-ECC251682868}"/>
              </a:ext>
            </a:extLst>
          </p:cNvPr>
          <p:cNvSpPr>
            <a:spLocks noGrp="1"/>
          </p:cNvSpPr>
          <p:nvPr>
            <p:ph type="sldNum" sz="quarter" idx="4"/>
          </p:nvPr>
        </p:nvSpPr>
        <p:spPr>
          <a:xfrm>
            <a:off x="10604500" y="6310312"/>
            <a:ext cx="13843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064B82-868F-4D41-994F-76B4E64C671C}" type="slidenum">
              <a:rPr lang="nl-NL" smtClean="0"/>
              <a:t>‹nr.›</a:t>
            </a:fld>
            <a:endParaRPr lang="nl-NL" dirty="0"/>
          </a:p>
        </p:txBody>
      </p:sp>
      <p:pic>
        <p:nvPicPr>
          <p:cNvPr id="7" name="Picture 2" descr="Nova College zorgopleidingen inspireren studenten met casussen | BureauTekst">
            <a:extLst>
              <a:ext uri="{FF2B5EF4-FFF2-40B4-BE49-F238E27FC236}">
                <a16:creationId xmlns:a16="http://schemas.microsoft.com/office/drawing/2014/main" id="{E15B2672-438A-D562-D6EE-438FCB4005E2}"/>
              </a:ext>
            </a:extLst>
          </p:cNvPr>
          <p:cNvPicPr>
            <a:picLocks noChangeAspect="1" noChangeArrowheads="1"/>
          </p:cNvPicPr>
          <p:nvPr userDrawn="1"/>
        </p:nvPicPr>
        <p:blipFill rotWithShape="1">
          <a:blip r:embed="rId13">
            <a:extLst>
              <a:ext uri="{28A0092B-C50C-407E-A947-70E740481C1C}">
                <a14:useLocalDpi xmlns:a14="http://schemas.microsoft.com/office/drawing/2010/main" val="0"/>
              </a:ext>
            </a:extLst>
          </a:blip>
          <a:srcRect t="40886" b="38682"/>
          <a:stretch>
            <a:fillRect/>
          </a:stretch>
        </p:blipFill>
        <p:spPr bwMode="auto">
          <a:xfrm>
            <a:off x="-186927" y="6217427"/>
            <a:ext cx="2664618" cy="642970"/>
          </a:xfrm>
          <a:prstGeom prst="rect">
            <a:avLst/>
          </a:prstGeom>
          <a:noFill/>
          <a:extLst>
            <a:ext uri="{909E8E84-426E-40DD-AFC4-6F175D3DCCD1}">
              <a14:hiddenFill xmlns:a14="http://schemas.microsoft.com/office/drawing/2010/main">
                <a:solidFill>
                  <a:srgbClr val="FFFFFF"/>
                </a:solidFill>
              </a14:hiddenFill>
            </a:ext>
          </a:extLst>
        </p:spPr>
      </p:pic>
      <p:sp>
        <p:nvSpPr>
          <p:cNvPr id="8" name="Rechthoek 7">
            <a:extLst>
              <a:ext uri="{FF2B5EF4-FFF2-40B4-BE49-F238E27FC236}">
                <a16:creationId xmlns:a16="http://schemas.microsoft.com/office/drawing/2014/main" id="{DBB024C6-06AD-9F73-4AE8-0D072837629D}"/>
              </a:ext>
            </a:extLst>
          </p:cNvPr>
          <p:cNvSpPr/>
          <p:nvPr userDrawn="1"/>
        </p:nvSpPr>
        <p:spPr>
          <a:xfrm>
            <a:off x="230715" y="-55031"/>
            <a:ext cx="270000" cy="5782734"/>
          </a:xfrm>
          <a:prstGeom prst="rect">
            <a:avLst/>
          </a:prstGeom>
          <a:solidFill>
            <a:srgbClr val="005C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Rechthoek 8">
            <a:extLst>
              <a:ext uri="{FF2B5EF4-FFF2-40B4-BE49-F238E27FC236}">
                <a16:creationId xmlns:a16="http://schemas.microsoft.com/office/drawing/2014/main" id="{66087544-C7D3-7A9A-4800-2D515179E7A0}"/>
              </a:ext>
            </a:extLst>
          </p:cNvPr>
          <p:cNvSpPr/>
          <p:nvPr userDrawn="1"/>
        </p:nvSpPr>
        <p:spPr>
          <a:xfrm rot="16200000">
            <a:off x="6427197" y="294152"/>
            <a:ext cx="270000" cy="11530543"/>
          </a:xfrm>
          <a:prstGeom prst="rect">
            <a:avLst/>
          </a:prstGeom>
          <a:solidFill>
            <a:srgbClr val="005C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Cirkel: leeg 9">
            <a:extLst>
              <a:ext uri="{FF2B5EF4-FFF2-40B4-BE49-F238E27FC236}">
                <a16:creationId xmlns:a16="http://schemas.microsoft.com/office/drawing/2014/main" id="{4EF2F36C-85C6-F227-4C7C-C834D410BF31}"/>
              </a:ext>
            </a:extLst>
          </p:cNvPr>
          <p:cNvSpPr/>
          <p:nvPr userDrawn="1"/>
        </p:nvSpPr>
        <p:spPr>
          <a:xfrm>
            <a:off x="228598" y="5218536"/>
            <a:ext cx="991659" cy="987389"/>
          </a:xfrm>
          <a:prstGeom prst="donut">
            <a:avLst>
              <a:gd name="adj" fmla="val 27560"/>
            </a:avLst>
          </a:prstGeom>
          <a:gradFill flip="none" rotWithShape="1">
            <a:gsLst>
              <a:gs pos="0">
                <a:srgbClr val="FBA400">
                  <a:shade val="30000"/>
                  <a:satMod val="115000"/>
                </a:srgbClr>
              </a:gs>
              <a:gs pos="50000">
                <a:srgbClr val="FBA400">
                  <a:shade val="67500"/>
                  <a:satMod val="115000"/>
                </a:srgbClr>
              </a:gs>
              <a:gs pos="100000">
                <a:srgbClr val="FBA400">
                  <a:shade val="100000"/>
                  <a:satMod val="115000"/>
                </a:srgbClr>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solidFill>
                <a:schemeClr val="tx1"/>
              </a:solidFill>
            </a:endParaRPr>
          </a:p>
        </p:txBody>
      </p:sp>
      <p:sp>
        <p:nvSpPr>
          <p:cNvPr id="11" name="Rechthoek 10">
            <a:extLst>
              <a:ext uri="{FF2B5EF4-FFF2-40B4-BE49-F238E27FC236}">
                <a16:creationId xmlns:a16="http://schemas.microsoft.com/office/drawing/2014/main" id="{FFD04524-8452-D704-99A9-33F20CC99B04}"/>
              </a:ext>
            </a:extLst>
          </p:cNvPr>
          <p:cNvSpPr/>
          <p:nvPr userDrawn="1"/>
        </p:nvSpPr>
        <p:spPr>
          <a:xfrm>
            <a:off x="503358" y="4862527"/>
            <a:ext cx="802745" cy="817034"/>
          </a:xfrm>
          <a:prstGeom prst="rect">
            <a:avLst/>
          </a:prstGeom>
          <a:solidFill>
            <a:srgbClr val="FFFE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2" name="Rechthoek 11">
            <a:extLst>
              <a:ext uri="{FF2B5EF4-FFF2-40B4-BE49-F238E27FC236}">
                <a16:creationId xmlns:a16="http://schemas.microsoft.com/office/drawing/2014/main" id="{103C7D41-C72B-C057-5586-DAF1E5937DA5}"/>
              </a:ext>
            </a:extLst>
          </p:cNvPr>
          <p:cNvSpPr/>
          <p:nvPr userDrawn="1"/>
        </p:nvSpPr>
        <p:spPr>
          <a:xfrm>
            <a:off x="764117" y="5107449"/>
            <a:ext cx="802745" cy="817034"/>
          </a:xfrm>
          <a:prstGeom prst="rect">
            <a:avLst/>
          </a:prstGeom>
          <a:solidFill>
            <a:srgbClr val="FFFE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3" name="Tijdelijke aanduiding voor tekst 2">
            <a:extLst>
              <a:ext uri="{FF2B5EF4-FFF2-40B4-BE49-F238E27FC236}">
                <a16:creationId xmlns:a16="http://schemas.microsoft.com/office/drawing/2014/main" id="{166F715E-90D2-E02A-35F3-028366BBD017}"/>
              </a:ext>
            </a:extLst>
          </p:cNvPr>
          <p:cNvSpPr>
            <a:spLocks noGrp="1"/>
          </p:cNvSpPr>
          <p:nvPr>
            <p:ph type="body" idx="1"/>
          </p:nvPr>
        </p:nvSpPr>
        <p:spPr>
          <a:xfrm>
            <a:off x="838200" y="1825625"/>
            <a:ext cx="10515600" cy="3872442"/>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3664584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Jdkl_Y6yRJ8"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yn74wGfJ-z8"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aq1v3AilrpA"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europarl.europa.eu/topics/en/article/20230112STO66402/five-ways-the-european-parliament-wants-to-protect-online-gamers" TargetMode="External"/><Relationship Id="rId2" Type="http://schemas.openxmlformats.org/officeDocument/2006/relationships/hyperlink" Target="https://www.europarl.europa.eu/news/en/agenda/plenary-news/2026-02-09/9/eu-action-plan-to-protect-young-people-from-cyberbullying" TargetMode="External"/><Relationship Id="rId1" Type="http://schemas.openxmlformats.org/officeDocument/2006/relationships/slideLayout" Target="../slideLayouts/slideLayout2.xml"/><Relationship Id="rId4" Type="http://schemas.openxmlformats.org/officeDocument/2006/relationships/hyperlink" Target="https://www.youtube.com/watch?v=oWHCyLfUgUw"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E9C727-01AA-4DB2-26AE-DD2FEFCD1352}"/>
              </a:ext>
            </a:extLst>
          </p:cNvPr>
          <p:cNvSpPr>
            <a:spLocks noGrp="1"/>
          </p:cNvSpPr>
          <p:nvPr>
            <p:ph type="ctrTitle"/>
          </p:nvPr>
        </p:nvSpPr>
        <p:spPr/>
        <p:txBody>
          <a:bodyPr/>
          <a:lstStyle/>
          <a:p>
            <a:r>
              <a:rPr lang="nl-NL" noProof="0" dirty="0" err="1"/>
              <a:t>Cysec</a:t>
            </a:r>
            <a:r>
              <a:rPr lang="nl-NL" noProof="0" dirty="0"/>
              <a:t> – les 3</a:t>
            </a:r>
          </a:p>
        </p:txBody>
      </p:sp>
      <p:sp>
        <p:nvSpPr>
          <p:cNvPr id="3" name="Ondertitel 2">
            <a:extLst>
              <a:ext uri="{FF2B5EF4-FFF2-40B4-BE49-F238E27FC236}">
                <a16:creationId xmlns:a16="http://schemas.microsoft.com/office/drawing/2014/main" id="{532F1F9D-91AC-244B-A75C-5DE4D060B516}"/>
              </a:ext>
            </a:extLst>
          </p:cNvPr>
          <p:cNvSpPr>
            <a:spLocks noGrp="1"/>
          </p:cNvSpPr>
          <p:nvPr>
            <p:ph type="subTitle" idx="1"/>
          </p:nvPr>
        </p:nvSpPr>
        <p:spPr/>
        <p:txBody>
          <a:bodyPr/>
          <a:lstStyle/>
          <a:p>
            <a:r>
              <a:rPr lang="nl-NL" noProof="0" dirty="0"/>
              <a:t>Internationale wetten en Europese wetten</a:t>
            </a:r>
          </a:p>
        </p:txBody>
      </p:sp>
    </p:spTree>
    <p:extLst>
      <p:ext uri="{BB962C8B-B14F-4D97-AF65-F5344CB8AC3E}">
        <p14:creationId xmlns:p14="http://schemas.microsoft.com/office/powerpoint/2010/main" val="717761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C467E5-39E6-9E7F-1C58-661632973934}"/>
              </a:ext>
            </a:extLst>
          </p:cNvPr>
          <p:cNvSpPr>
            <a:spLocks noGrp="1"/>
          </p:cNvSpPr>
          <p:nvPr>
            <p:ph type="title"/>
          </p:nvPr>
        </p:nvSpPr>
        <p:spPr/>
        <p:txBody>
          <a:bodyPr/>
          <a:lstStyle/>
          <a:p>
            <a:r>
              <a:rPr lang="nl-NL" noProof="0" dirty="0"/>
              <a:t>Wat weten we nog van vorige les?</a:t>
            </a:r>
          </a:p>
        </p:txBody>
      </p:sp>
      <p:sp>
        <p:nvSpPr>
          <p:cNvPr id="3" name="Tijdelijke aanduiding voor inhoud 2">
            <a:extLst>
              <a:ext uri="{FF2B5EF4-FFF2-40B4-BE49-F238E27FC236}">
                <a16:creationId xmlns:a16="http://schemas.microsoft.com/office/drawing/2014/main" id="{DE110306-4AAB-9607-E18E-ACBAC34BDE30}"/>
              </a:ext>
            </a:extLst>
          </p:cNvPr>
          <p:cNvSpPr>
            <a:spLocks noGrp="1"/>
          </p:cNvSpPr>
          <p:nvPr>
            <p:ph idx="1"/>
          </p:nvPr>
        </p:nvSpPr>
        <p:spPr/>
        <p:txBody>
          <a:bodyPr/>
          <a:lstStyle/>
          <a:p>
            <a:endParaRPr lang="nl-NL" noProof="0" dirty="0"/>
          </a:p>
        </p:txBody>
      </p:sp>
    </p:spTree>
    <p:extLst>
      <p:ext uri="{BB962C8B-B14F-4D97-AF65-F5344CB8AC3E}">
        <p14:creationId xmlns:p14="http://schemas.microsoft.com/office/powerpoint/2010/main" val="3969768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CEFE3C-47F2-B084-D806-41E14BEC8BD7}"/>
              </a:ext>
            </a:extLst>
          </p:cNvPr>
          <p:cNvSpPr>
            <a:spLocks noGrp="1"/>
          </p:cNvSpPr>
          <p:nvPr>
            <p:ph type="title"/>
          </p:nvPr>
        </p:nvSpPr>
        <p:spPr/>
        <p:txBody>
          <a:bodyPr/>
          <a:lstStyle/>
          <a:p>
            <a:r>
              <a:rPr lang="nl-NL" noProof="0" dirty="0"/>
              <a:t>Programma</a:t>
            </a:r>
          </a:p>
        </p:txBody>
      </p:sp>
      <p:sp>
        <p:nvSpPr>
          <p:cNvPr id="3" name="Tijdelijke aanduiding voor inhoud 2">
            <a:extLst>
              <a:ext uri="{FF2B5EF4-FFF2-40B4-BE49-F238E27FC236}">
                <a16:creationId xmlns:a16="http://schemas.microsoft.com/office/drawing/2014/main" id="{CD14E334-3A6C-606C-7206-691017670EBB}"/>
              </a:ext>
            </a:extLst>
          </p:cNvPr>
          <p:cNvSpPr>
            <a:spLocks noGrp="1"/>
          </p:cNvSpPr>
          <p:nvPr>
            <p:ph idx="1"/>
          </p:nvPr>
        </p:nvSpPr>
        <p:spPr/>
        <p:txBody>
          <a:bodyPr>
            <a:normAutofit/>
          </a:bodyPr>
          <a:lstStyle/>
          <a:p>
            <a:r>
              <a:rPr lang="nl-NL" noProof="0" dirty="0"/>
              <a:t>Leerdoelen</a:t>
            </a:r>
          </a:p>
          <a:p>
            <a:r>
              <a:rPr lang="nl-NL" noProof="0" dirty="0"/>
              <a:t>Wetgeving</a:t>
            </a:r>
          </a:p>
          <a:p>
            <a:r>
              <a:rPr lang="nl-NL" noProof="0" dirty="0"/>
              <a:t>Internationale cyber wetten</a:t>
            </a:r>
          </a:p>
          <a:p>
            <a:r>
              <a:rPr lang="nl-NL" noProof="0" dirty="0"/>
              <a:t>Europese cyber wetten</a:t>
            </a:r>
          </a:p>
          <a:p>
            <a:r>
              <a:rPr lang="nl-NL" noProof="0" dirty="0"/>
              <a:t>Klassen discussie</a:t>
            </a:r>
          </a:p>
          <a:p>
            <a:r>
              <a:rPr lang="nl-NL" noProof="0" dirty="0"/>
              <a:t>Bonus: de 3 wetten van </a:t>
            </a:r>
            <a:r>
              <a:rPr lang="nl-NL" noProof="0" dirty="0" err="1"/>
              <a:t>robotics</a:t>
            </a:r>
            <a:endParaRPr lang="nl-NL" noProof="0" dirty="0"/>
          </a:p>
          <a:p>
            <a:r>
              <a:rPr lang="nl-NL" noProof="0" dirty="0"/>
              <a:t>Volgende week</a:t>
            </a:r>
          </a:p>
          <a:p>
            <a:endParaRPr lang="nl-NL" noProof="0" dirty="0"/>
          </a:p>
        </p:txBody>
      </p:sp>
    </p:spTree>
    <p:extLst>
      <p:ext uri="{BB962C8B-B14F-4D97-AF65-F5344CB8AC3E}">
        <p14:creationId xmlns:p14="http://schemas.microsoft.com/office/powerpoint/2010/main" val="3536018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D81EDC-8EFE-052F-C764-5F5B616212B7}"/>
              </a:ext>
            </a:extLst>
          </p:cNvPr>
          <p:cNvSpPr>
            <a:spLocks noGrp="1"/>
          </p:cNvSpPr>
          <p:nvPr>
            <p:ph type="title"/>
          </p:nvPr>
        </p:nvSpPr>
        <p:spPr/>
        <p:txBody>
          <a:bodyPr/>
          <a:lstStyle/>
          <a:p>
            <a:r>
              <a:rPr lang="nl-NL" noProof="0" dirty="0"/>
              <a:t>Leerdoelen</a:t>
            </a:r>
          </a:p>
        </p:txBody>
      </p:sp>
      <p:sp>
        <p:nvSpPr>
          <p:cNvPr id="3" name="Tijdelijke aanduiding voor inhoud 2">
            <a:extLst>
              <a:ext uri="{FF2B5EF4-FFF2-40B4-BE49-F238E27FC236}">
                <a16:creationId xmlns:a16="http://schemas.microsoft.com/office/drawing/2014/main" id="{4B5B369B-0E31-860F-C96D-911EAFAF2AA1}"/>
              </a:ext>
            </a:extLst>
          </p:cNvPr>
          <p:cNvSpPr>
            <a:spLocks noGrp="1"/>
          </p:cNvSpPr>
          <p:nvPr>
            <p:ph idx="1"/>
          </p:nvPr>
        </p:nvSpPr>
        <p:spPr/>
        <p:txBody>
          <a:bodyPr/>
          <a:lstStyle/>
          <a:p>
            <a:r>
              <a:rPr lang="nl-NL" noProof="0" dirty="0"/>
              <a:t>Aan het einde van deze les</a:t>
            </a:r>
          </a:p>
          <a:p>
            <a:pPr lvl="1"/>
            <a:r>
              <a:rPr lang="nl-NL" noProof="0" dirty="0"/>
              <a:t>Kennen we enkele van de belangrijkste internationale cyber wetten</a:t>
            </a:r>
          </a:p>
          <a:p>
            <a:pPr lvl="1"/>
            <a:r>
              <a:rPr lang="nl-NL" noProof="0" dirty="0"/>
              <a:t>Kennen we enkele van de belangrijkste Europese cyber wetten</a:t>
            </a:r>
          </a:p>
          <a:p>
            <a:pPr lvl="1"/>
            <a:r>
              <a:rPr lang="nl-NL" noProof="0" dirty="0"/>
              <a:t>Kunnen we een voorbeeld noemen van een overtreding van een cyber wet</a:t>
            </a:r>
          </a:p>
          <a:p>
            <a:pPr lvl="1"/>
            <a:endParaRPr lang="nl-NL" noProof="0" dirty="0"/>
          </a:p>
        </p:txBody>
      </p:sp>
    </p:spTree>
    <p:extLst>
      <p:ext uri="{BB962C8B-B14F-4D97-AF65-F5344CB8AC3E}">
        <p14:creationId xmlns:p14="http://schemas.microsoft.com/office/powerpoint/2010/main" val="1388133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822228-D4E6-B0ED-3C50-A4E09D4D9B7C}"/>
              </a:ext>
            </a:extLst>
          </p:cNvPr>
          <p:cNvSpPr>
            <a:spLocks noGrp="1"/>
          </p:cNvSpPr>
          <p:nvPr>
            <p:ph type="title"/>
          </p:nvPr>
        </p:nvSpPr>
        <p:spPr/>
        <p:txBody>
          <a:bodyPr/>
          <a:lstStyle/>
          <a:p>
            <a:r>
              <a:rPr lang="nl-NL" noProof="0" dirty="0"/>
              <a:t>Wetgeving algemeen</a:t>
            </a:r>
          </a:p>
        </p:txBody>
      </p:sp>
      <p:sp>
        <p:nvSpPr>
          <p:cNvPr id="3" name="Tijdelijke aanduiding voor inhoud 2">
            <a:extLst>
              <a:ext uri="{FF2B5EF4-FFF2-40B4-BE49-F238E27FC236}">
                <a16:creationId xmlns:a16="http://schemas.microsoft.com/office/drawing/2014/main" id="{23EF6056-1020-B866-9E57-0443FA4F0D7D}"/>
              </a:ext>
            </a:extLst>
          </p:cNvPr>
          <p:cNvSpPr>
            <a:spLocks noGrp="1"/>
          </p:cNvSpPr>
          <p:nvPr>
            <p:ph idx="1"/>
          </p:nvPr>
        </p:nvSpPr>
        <p:spPr/>
        <p:txBody>
          <a:bodyPr/>
          <a:lstStyle/>
          <a:p>
            <a:r>
              <a:rPr lang="nl-NL" noProof="0" dirty="0"/>
              <a:t>Wetgeving is om te voorkomen dat er iets mis gaat in de samenleving en om mensen te beschermen</a:t>
            </a:r>
          </a:p>
          <a:p>
            <a:r>
              <a:rPr lang="nl-NL" noProof="0" dirty="0"/>
              <a:t>Wetgeving loopt altijd achter op de feiten, het moet eerst fout gaan voordat er een wet is.</a:t>
            </a:r>
          </a:p>
          <a:p>
            <a:r>
              <a:rPr lang="nl-NL" noProof="0" dirty="0"/>
              <a:t>Internationaal&gt;</a:t>
            </a:r>
            <a:r>
              <a:rPr lang="nl-NL" noProof="0" dirty="0" err="1"/>
              <a:t>europees</a:t>
            </a:r>
            <a:r>
              <a:rPr lang="nl-NL" noProof="0" dirty="0"/>
              <a:t>&gt;landelijk&gt;regionaal&gt;community</a:t>
            </a:r>
          </a:p>
          <a:p>
            <a:r>
              <a:rPr lang="nl-NL" noProof="0" dirty="0"/>
              <a:t>Wetgeving is zo sterk als dat opvolging is.</a:t>
            </a:r>
          </a:p>
        </p:txBody>
      </p:sp>
    </p:spTree>
    <p:extLst>
      <p:ext uri="{BB962C8B-B14F-4D97-AF65-F5344CB8AC3E}">
        <p14:creationId xmlns:p14="http://schemas.microsoft.com/office/powerpoint/2010/main" val="289335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C746AA-05C2-1FD3-0472-89D70A3EB6C9}"/>
              </a:ext>
            </a:extLst>
          </p:cNvPr>
          <p:cNvSpPr>
            <a:spLocks noGrp="1"/>
          </p:cNvSpPr>
          <p:nvPr>
            <p:ph type="title"/>
          </p:nvPr>
        </p:nvSpPr>
        <p:spPr/>
        <p:txBody>
          <a:bodyPr/>
          <a:lstStyle/>
          <a:p>
            <a:r>
              <a:rPr lang="nl-NL" noProof="0" dirty="0"/>
              <a:t>Cyber wetten - algemeen</a:t>
            </a:r>
          </a:p>
        </p:txBody>
      </p:sp>
      <p:sp>
        <p:nvSpPr>
          <p:cNvPr id="3" name="Tijdelijke aanduiding voor inhoud 2">
            <a:extLst>
              <a:ext uri="{FF2B5EF4-FFF2-40B4-BE49-F238E27FC236}">
                <a16:creationId xmlns:a16="http://schemas.microsoft.com/office/drawing/2014/main" id="{4B582766-90E1-23C8-E1C3-6B7F2632EB12}"/>
              </a:ext>
            </a:extLst>
          </p:cNvPr>
          <p:cNvSpPr>
            <a:spLocks noGrp="1"/>
          </p:cNvSpPr>
          <p:nvPr>
            <p:ph idx="1"/>
          </p:nvPr>
        </p:nvSpPr>
        <p:spPr>
          <a:xfrm>
            <a:off x="838200" y="1825625"/>
            <a:ext cx="9564974" cy="3872442"/>
          </a:xfrm>
        </p:spPr>
        <p:txBody>
          <a:bodyPr/>
          <a:lstStyle/>
          <a:p>
            <a:r>
              <a:rPr lang="nl-NL" noProof="0" dirty="0"/>
              <a:t>Cyber wetten zijn relatief nieuw, de oudste cyber wet was in 1986, een Amerikaanse wet tegen het hacken van de regering.</a:t>
            </a:r>
          </a:p>
          <a:p>
            <a:r>
              <a:rPr lang="nl-NL" noProof="0" dirty="0"/>
              <a:t>Code of </a:t>
            </a:r>
            <a:r>
              <a:rPr lang="nl-NL" noProof="0" dirty="0" err="1"/>
              <a:t>Ur-Nammu</a:t>
            </a:r>
            <a:r>
              <a:rPr lang="nl-NL" noProof="0" dirty="0"/>
              <a:t> is de eerste geschreven wet ooit, geschreven in ongeveer 2100–2050 voor Christus.</a:t>
            </a:r>
          </a:p>
          <a:p>
            <a:r>
              <a:rPr lang="nl-NL" dirty="0"/>
              <a:t>Cyber wetten zijn vaak gefocust rondom 3 onderwerpen:</a:t>
            </a:r>
          </a:p>
          <a:p>
            <a:pPr lvl="1"/>
            <a:r>
              <a:rPr lang="nl-NL" noProof="0" dirty="0"/>
              <a:t>(Financiële) veiligheid</a:t>
            </a:r>
          </a:p>
          <a:p>
            <a:pPr lvl="1"/>
            <a:r>
              <a:rPr lang="nl-NL" dirty="0"/>
              <a:t>Privacy</a:t>
            </a:r>
          </a:p>
          <a:p>
            <a:pPr lvl="1"/>
            <a:r>
              <a:rPr lang="nl-NL" noProof="0" dirty="0"/>
              <a:t>Competitie/copyright</a:t>
            </a:r>
          </a:p>
          <a:p>
            <a:endParaRPr lang="nl-NL" noProof="0" dirty="0"/>
          </a:p>
        </p:txBody>
      </p:sp>
      <p:pic>
        <p:nvPicPr>
          <p:cNvPr id="1026" name="Picture 2">
            <a:extLst>
              <a:ext uri="{FF2B5EF4-FFF2-40B4-BE49-F238E27FC236}">
                <a16:creationId xmlns:a16="http://schemas.microsoft.com/office/drawing/2014/main" id="{E359195B-B5BF-DAD1-28DB-C45D4589C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0528" y="2675745"/>
            <a:ext cx="1628967" cy="3244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882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BAE74B-0383-7407-583F-C87BC60BC2BE}"/>
              </a:ext>
            </a:extLst>
          </p:cNvPr>
          <p:cNvSpPr>
            <a:spLocks noGrp="1"/>
          </p:cNvSpPr>
          <p:nvPr>
            <p:ph type="title"/>
          </p:nvPr>
        </p:nvSpPr>
        <p:spPr/>
        <p:txBody>
          <a:bodyPr/>
          <a:lstStyle/>
          <a:p>
            <a:r>
              <a:rPr lang="nl-NL" noProof="0" dirty="0"/>
              <a:t>Cyber wetten - internationaal</a:t>
            </a:r>
          </a:p>
        </p:txBody>
      </p:sp>
      <p:sp>
        <p:nvSpPr>
          <p:cNvPr id="3" name="Tijdelijke aanduiding voor inhoud 2">
            <a:extLst>
              <a:ext uri="{FF2B5EF4-FFF2-40B4-BE49-F238E27FC236}">
                <a16:creationId xmlns:a16="http://schemas.microsoft.com/office/drawing/2014/main" id="{7CC62E7A-FDAD-A9EC-9144-BCE6098FF388}"/>
              </a:ext>
            </a:extLst>
          </p:cNvPr>
          <p:cNvSpPr>
            <a:spLocks noGrp="1"/>
          </p:cNvSpPr>
          <p:nvPr>
            <p:ph idx="1"/>
          </p:nvPr>
        </p:nvSpPr>
        <p:spPr/>
        <p:txBody>
          <a:bodyPr>
            <a:normAutofit fontScale="92500" lnSpcReduction="10000"/>
          </a:bodyPr>
          <a:lstStyle/>
          <a:p>
            <a:r>
              <a:rPr lang="nl-NL" noProof="0" dirty="0"/>
              <a:t>Meeste wetten zijn opgesteld door de VN (verenigde naties) en zijn heel recent: 2000 tot 2017</a:t>
            </a:r>
          </a:p>
          <a:p>
            <a:r>
              <a:rPr lang="nl-NL" dirty="0"/>
              <a:t>Er is een wet in de werking al sinds 2024 maar die staat op een stop</a:t>
            </a:r>
          </a:p>
          <a:p>
            <a:r>
              <a:rPr lang="nl-NL" noProof="0" dirty="0"/>
              <a:t>Meeste wetten gaan rondom de volgende onderwerpen:</a:t>
            </a:r>
          </a:p>
          <a:p>
            <a:pPr lvl="1"/>
            <a:r>
              <a:rPr lang="nl-NL" dirty="0"/>
              <a:t>De recht van landen op een plek op het internet, denk aan cyberlandcodes, de rechten om een regeringssite te hebben.</a:t>
            </a:r>
          </a:p>
          <a:p>
            <a:pPr lvl="1"/>
            <a:r>
              <a:rPr lang="nl-NL" noProof="0" dirty="0"/>
              <a:t>Rondom het bevechten van cyber criminaliteit</a:t>
            </a:r>
          </a:p>
          <a:p>
            <a:pPr lvl="1"/>
            <a:r>
              <a:rPr lang="nl-NL" noProof="0" dirty="0"/>
              <a:t>Wet tegen Kinderporno en seksuele mishandeling</a:t>
            </a:r>
          </a:p>
          <a:p>
            <a:pPr lvl="1"/>
            <a:r>
              <a:rPr lang="nl-NL" dirty="0"/>
              <a:t>Een algemene wetgeving rondom, racisme, </a:t>
            </a:r>
            <a:r>
              <a:rPr lang="nl-NL" dirty="0" err="1"/>
              <a:t>seksime</a:t>
            </a:r>
            <a:r>
              <a:rPr lang="nl-NL" dirty="0"/>
              <a:t>, en nauwe samenwerking</a:t>
            </a:r>
          </a:p>
          <a:p>
            <a:r>
              <a:rPr lang="nl-NL" noProof="0" dirty="0"/>
              <a:t>Wordt uitgevoerd door (onder andere) Interpol</a:t>
            </a:r>
          </a:p>
        </p:txBody>
      </p:sp>
    </p:spTree>
    <p:extLst>
      <p:ext uri="{BB962C8B-B14F-4D97-AF65-F5344CB8AC3E}">
        <p14:creationId xmlns:p14="http://schemas.microsoft.com/office/powerpoint/2010/main" val="1781531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E2D571-DF06-2B5E-4907-B02394A3D875}"/>
              </a:ext>
            </a:extLst>
          </p:cNvPr>
          <p:cNvSpPr>
            <a:spLocks noGrp="1"/>
          </p:cNvSpPr>
          <p:nvPr>
            <p:ph type="title"/>
          </p:nvPr>
        </p:nvSpPr>
        <p:spPr/>
        <p:txBody>
          <a:bodyPr/>
          <a:lstStyle/>
          <a:p>
            <a:r>
              <a:rPr lang="nl-NL" dirty="0"/>
              <a:t>Cyber wetten – Budapest conventie,</a:t>
            </a:r>
            <a:br>
              <a:rPr lang="nl-NL" dirty="0"/>
            </a:br>
            <a:r>
              <a:rPr lang="nl-NL" dirty="0"/>
              <a:t>				</a:t>
            </a:r>
            <a:r>
              <a:rPr lang="nl-NL" dirty="0" err="1"/>
              <a:t>the</a:t>
            </a:r>
            <a:r>
              <a:rPr lang="nl-NL" dirty="0"/>
              <a:t> gold standard</a:t>
            </a:r>
          </a:p>
        </p:txBody>
      </p:sp>
      <p:sp>
        <p:nvSpPr>
          <p:cNvPr id="3" name="Tijdelijke aanduiding voor inhoud 2">
            <a:extLst>
              <a:ext uri="{FF2B5EF4-FFF2-40B4-BE49-F238E27FC236}">
                <a16:creationId xmlns:a16="http://schemas.microsoft.com/office/drawing/2014/main" id="{76A086E4-E6DD-5467-0B23-01B52FB7ADE2}"/>
              </a:ext>
            </a:extLst>
          </p:cNvPr>
          <p:cNvSpPr>
            <a:spLocks noGrp="1"/>
          </p:cNvSpPr>
          <p:nvPr>
            <p:ph idx="1"/>
          </p:nvPr>
        </p:nvSpPr>
        <p:spPr/>
        <p:txBody>
          <a:bodyPr>
            <a:normAutofit lnSpcReduction="10000"/>
          </a:bodyPr>
          <a:lstStyle/>
          <a:p>
            <a:r>
              <a:rPr lang="nl-NL" dirty="0"/>
              <a:t>Meeste bekende internationale wet is de voor cybercrime.</a:t>
            </a:r>
          </a:p>
          <a:p>
            <a:r>
              <a:rPr lang="nl-NL" dirty="0"/>
              <a:t>Gemaakt in 2001, 2 maal herzien, in 2003 en 2022</a:t>
            </a:r>
          </a:p>
          <a:p>
            <a:r>
              <a:rPr lang="nl-NL" dirty="0"/>
              <a:t>De conventie bevat meer dan alleen wetten:</a:t>
            </a:r>
          </a:p>
          <a:p>
            <a:pPr lvl="1"/>
            <a:r>
              <a:rPr lang="nl-NL" dirty="0"/>
              <a:t>Afspraken rondom samenwerking tegen cybercriminaliteit tussen landen.</a:t>
            </a:r>
          </a:p>
          <a:p>
            <a:pPr lvl="1"/>
            <a:r>
              <a:rPr lang="nl-NL" dirty="0" err="1"/>
              <a:t>Frameworks</a:t>
            </a:r>
            <a:r>
              <a:rPr lang="nl-NL" dirty="0"/>
              <a:t> voor landelijke wetgeving opzetten, criminaliteit opsporen, vervolgen en bewijs verzamelen.</a:t>
            </a:r>
          </a:p>
          <a:p>
            <a:pPr lvl="1"/>
            <a:r>
              <a:rPr lang="nl-NL" dirty="0"/>
              <a:t>Wetten tegen Racisme, fraude, </a:t>
            </a:r>
            <a:r>
              <a:rPr lang="nl-NL" dirty="0" err="1"/>
              <a:t>privacyinbreuk</a:t>
            </a:r>
            <a:r>
              <a:rPr lang="nl-NL" dirty="0"/>
              <a:t>, </a:t>
            </a:r>
            <a:r>
              <a:rPr lang="nl-NL" dirty="0" err="1"/>
              <a:t>hacking</a:t>
            </a:r>
            <a:r>
              <a:rPr lang="nl-NL" dirty="0"/>
              <a:t>, kinderporno, spyware, illegaal zoeken door politie of regering en meer</a:t>
            </a:r>
          </a:p>
          <a:p>
            <a:r>
              <a:rPr lang="nl-NL" dirty="0"/>
              <a:t>Ieder land dat er aan mee doet zweert de anderen te helpen tegen cybercriminaliteit. </a:t>
            </a:r>
          </a:p>
        </p:txBody>
      </p:sp>
    </p:spTree>
    <p:extLst>
      <p:ext uri="{BB962C8B-B14F-4D97-AF65-F5344CB8AC3E}">
        <p14:creationId xmlns:p14="http://schemas.microsoft.com/office/powerpoint/2010/main" val="1625959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3B57C6-EAC0-4545-7012-A28CECDD6B2F}"/>
              </a:ext>
            </a:extLst>
          </p:cNvPr>
          <p:cNvSpPr>
            <a:spLocks noGrp="1"/>
          </p:cNvSpPr>
          <p:nvPr>
            <p:ph type="title"/>
          </p:nvPr>
        </p:nvSpPr>
        <p:spPr/>
        <p:txBody>
          <a:bodyPr/>
          <a:lstStyle/>
          <a:p>
            <a:r>
              <a:rPr lang="nl-NL" noProof="0" dirty="0"/>
              <a:t>Cyber wetten - Europees</a:t>
            </a:r>
          </a:p>
        </p:txBody>
      </p:sp>
      <p:sp>
        <p:nvSpPr>
          <p:cNvPr id="3" name="Tijdelijke aanduiding voor inhoud 2">
            <a:extLst>
              <a:ext uri="{FF2B5EF4-FFF2-40B4-BE49-F238E27FC236}">
                <a16:creationId xmlns:a16="http://schemas.microsoft.com/office/drawing/2014/main" id="{80E40AFD-DA4D-8111-C54A-AA438BDCF031}"/>
              </a:ext>
            </a:extLst>
          </p:cNvPr>
          <p:cNvSpPr>
            <a:spLocks noGrp="1"/>
          </p:cNvSpPr>
          <p:nvPr>
            <p:ph idx="1"/>
          </p:nvPr>
        </p:nvSpPr>
        <p:spPr/>
        <p:txBody>
          <a:bodyPr>
            <a:normAutofit fontScale="92500" lnSpcReduction="10000"/>
          </a:bodyPr>
          <a:lstStyle/>
          <a:p>
            <a:r>
              <a:rPr lang="nl-NL" noProof="0" dirty="0"/>
              <a:t>Europa, koning van regulatie, is de voortrekker op het gebied van cyber wetten. </a:t>
            </a:r>
          </a:p>
          <a:p>
            <a:r>
              <a:rPr lang="nl-NL" dirty="0"/>
              <a:t>Worden opgesteld door 1 </a:t>
            </a:r>
            <a:r>
              <a:rPr lang="nl-NL" dirty="0" err="1"/>
              <a:t>commisie</a:t>
            </a:r>
            <a:r>
              <a:rPr lang="nl-NL" dirty="0"/>
              <a:t> of land.</a:t>
            </a:r>
          </a:p>
          <a:p>
            <a:r>
              <a:rPr lang="nl-NL" noProof="0" dirty="0"/>
              <a:t>Daarna besproken door de EU, indien geaccepteerd wordt er een wetsvoorstel gemaakt.</a:t>
            </a:r>
          </a:p>
          <a:p>
            <a:r>
              <a:rPr lang="nl-NL" dirty="0"/>
              <a:t>Indien voldoende wordt deze in fases </a:t>
            </a:r>
            <a:r>
              <a:rPr lang="nl-NL" dirty="0" err="1"/>
              <a:t>geimplementeerd</a:t>
            </a:r>
            <a:r>
              <a:rPr lang="nl-NL" dirty="0"/>
              <a:t> over alle lidstaten.</a:t>
            </a:r>
          </a:p>
          <a:p>
            <a:r>
              <a:rPr lang="nl-NL" noProof="0" dirty="0"/>
              <a:t>Dit proces kan maanden duren, in sommige gevallen meer dan 10 jaar.</a:t>
            </a:r>
          </a:p>
          <a:p>
            <a:r>
              <a:rPr lang="nl-NL" dirty="0"/>
              <a:t>Onderhouden door eigen landen en soms door Interpol en Europol.</a:t>
            </a:r>
            <a:endParaRPr lang="nl-NL" noProof="0" dirty="0"/>
          </a:p>
        </p:txBody>
      </p:sp>
    </p:spTree>
    <p:extLst>
      <p:ext uri="{BB962C8B-B14F-4D97-AF65-F5344CB8AC3E}">
        <p14:creationId xmlns:p14="http://schemas.microsoft.com/office/powerpoint/2010/main" val="428929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017E20-FF8E-DE33-8A93-DEDA1E5A6209}"/>
              </a:ext>
            </a:extLst>
          </p:cNvPr>
          <p:cNvSpPr>
            <a:spLocks noGrp="1"/>
          </p:cNvSpPr>
          <p:nvPr>
            <p:ph type="title"/>
          </p:nvPr>
        </p:nvSpPr>
        <p:spPr/>
        <p:txBody>
          <a:bodyPr/>
          <a:lstStyle/>
          <a:p>
            <a:r>
              <a:rPr lang="nl-NL" dirty="0"/>
              <a:t>Cyber wetten – NIS2</a:t>
            </a:r>
          </a:p>
        </p:txBody>
      </p:sp>
      <p:sp>
        <p:nvSpPr>
          <p:cNvPr id="3" name="Tijdelijke aanduiding voor inhoud 2">
            <a:extLst>
              <a:ext uri="{FF2B5EF4-FFF2-40B4-BE49-F238E27FC236}">
                <a16:creationId xmlns:a16="http://schemas.microsoft.com/office/drawing/2014/main" id="{27891B2B-0D93-80CE-3964-42763AF217B2}"/>
              </a:ext>
            </a:extLst>
          </p:cNvPr>
          <p:cNvSpPr>
            <a:spLocks noGrp="1"/>
          </p:cNvSpPr>
          <p:nvPr>
            <p:ph idx="1"/>
          </p:nvPr>
        </p:nvSpPr>
        <p:spPr/>
        <p:txBody>
          <a:bodyPr>
            <a:normAutofit fontScale="92500" lnSpcReduction="20000"/>
          </a:bodyPr>
          <a:lstStyle/>
          <a:p>
            <a:r>
              <a:rPr lang="nl-NL" dirty="0"/>
              <a:t>NIS 2 (netwerk </a:t>
            </a:r>
            <a:r>
              <a:rPr lang="nl-NL" dirty="0" err="1"/>
              <a:t>and</a:t>
            </a:r>
            <a:r>
              <a:rPr lang="nl-NL" dirty="0"/>
              <a:t> information security </a:t>
            </a:r>
            <a:r>
              <a:rPr lang="nl-NL" dirty="0" err="1"/>
              <a:t>directive</a:t>
            </a:r>
            <a:r>
              <a:rPr lang="nl-NL" dirty="0"/>
              <a:t>) is een digitale weerbaarheidswet.</a:t>
            </a:r>
          </a:p>
          <a:p>
            <a:r>
              <a:rPr lang="nl-NL" dirty="0"/>
              <a:t>Zorgplicht – er moeten gepaste beveiligingsmaatregelen gesteld worden om gegevens van personeel en/of klanten te beschermen aan de hand van risicoanalyses.</a:t>
            </a:r>
          </a:p>
          <a:p>
            <a:r>
              <a:rPr lang="nl-NL" dirty="0"/>
              <a:t>Meldplicht – Incidenten van datalekken en hack incidenten moeten binnen 24 uur gemeld worden.</a:t>
            </a:r>
          </a:p>
          <a:p>
            <a:r>
              <a:rPr lang="nl-NL" dirty="0"/>
              <a:t>Aansprakelijkheid – bedrijven en de bestuurders kunnen aansprakelijk gemaakt worden en dus gestraft worden.</a:t>
            </a:r>
          </a:p>
          <a:p>
            <a:r>
              <a:rPr lang="nl-NL" dirty="0"/>
              <a:t>Extra uitleg: </a:t>
            </a:r>
            <a:r>
              <a:rPr lang="nl-NL" dirty="0">
                <a:hlinkClick r:id="rId2"/>
              </a:rPr>
              <a:t>link</a:t>
            </a:r>
            <a:r>
              <a:rPr lang="nl-NL" dirty="0"/>
              <a:t>, Vodafone focust op een paar sectoren, Nis2 wordt breder toegepast in praktijk</a:t>
            </a:r>
          </a:p>
          <a:p>
            <a:endParaRPr lang="nl-NL" dirty="0"/>
          </a:p>
        </p:txBody>
      </p:sp>
    </p:spTree>
    <p:extLst>
      <p:ext uri="{BB962C8B-B14F-4D97-AF65-F5344CB8AC3E}">
        <p14:creationId xmlns:p14="http://schemas.microsoft.com/office/powerpoint/2010/main" val="405173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69A35C-21CF-0EF0-1565-63BCC0850163}"/>
              </a:ext>
            </a:extLst>
          </p:cNvPr>
          <p:cNvSpPr>
            <a:spLocks noGrp="1"/>
          </p:cNvSpPr>
          <p:nvPr>
            <p:ph type="title"/>
          </p:nvPr>
        </p:nvSpPr>
        <p:spPr/>
        <p:txBody>
          <a:bodyPr/>
          <a:lstStyle/>
          <a:p>
            <a:r>
              <a:rPr lang="nl-NL" dirty="0"/>
              <a:t>Cyber wetten – GDPR / AVG</a:t>
            </a:r>
          </a:p>
        </p:txBody>
      </p:sp>
      <p:sp>
        <p:nvSpPr>
          <p:cNvPr id="3" name="Tijdelijke aanduiding voor inhoud 2">
            <a:extLst>
              <a:ext uri="{FF2B5EF4-FFF2-40B4-BE49-F238E27FC236}">
                <a16:creationId xmlns:a16="http://schemas.microsoft.com/office/drawing/2014/main" id="{F832BCF5-63E7-4C4F-8AD4-14BF828B76AA}"/>
              </a:ext>
            </a:extLst>
          </p:cNvPr>
          <p:cNvSpPr>
            <a:spLocks noGrp="1"/>
          </p:cNvSpPr>
          <p:nvPr>
            <p:ph idx="1"/>
          </p:nvPr>
        </p:nvSpPr>
        <p:spPr>
          <a:xfrm>
            <a:off x="838200" y="1644693"/>
            <a:ext cx="10515600" cy="4053374"/>
          </a:xfrm>
        </p:spPr>
        <p:txBody>
          <a:bodyPr>
            <a:normAutofit fontScale="77500" lnSpcReduction="20000"/>
          </a:bodyPr>
          <a:lstStyle/>
          <a:p>
            <a:r>
              <a:rPr lang="nl-NL" dirty="0"/>
              <a:t>Gegevensbescherming die binnen Europa de oude verschillende richtlijnen vervangt.</a:t>
            </a:r>
          </a:p>
          <a:p>
            <a:r>
              <a:rPr lang="nl-NL" dirty="0"/>
              <a:t>Meer uniform, strenger en duidelijker. </a:t>
            </a:r>
          </a:p>
          <a:p>
            <a:r>
              <a:rPr lang="nl-NL" dirty="0"/>
              <a:t>Wordt ook gebruikt om persoonsgegevens overdacht tussen landen te </a:t>
            </a:r>
            <a:r>
              <a:rPr lang="nl-NL" dirty="0" err="1"/>
              <a:t>standardiseren</a:t>
            </a:r>
            <a:r>
              <a:rPr lang="nl-NL" dirty="0"/>
              <a:t> en versimpelen.</a:t>
            </a:r>
          </a:p>
          <a:p>
            <a:r>
              <a:rPr lang="nl-NL" dirty="0"/>
              <a:t>Bedrijven moeten aan de land van origine of de EU verantwoorden waarom ze bepaalde persoonsgegevens (denk aan ID en burger nummer) nodig hebben om te verzamelen</a:t>
            </a:r>
          </a:p>
          <a:p>
            <a:r>
              <a:rPr lang="nl-NL" dirty="0"/>
              <a:t>Gebruikers moeten </a:t>
            </a:r>
            <a:r>
              <a:rPr lang="nl-NL" dirty="0" err="1"/>
              <a:t>geinformeerd</a:t>
            </a:r>
            <a:r>
              <a:rPr lang="nl-NL" dirty="0"/>
              <a:t> toestemming geven tot het delen van deze informatie aan het bedrijf en los toestemming verlenen tot het delen aan derde.</a:t>
            </a:r>
          </a:p>
          <a:p>
            <a:r>
              <a:rPr lang="nl-NL" dirty="0"/>
              <a:t>Ze moeten ook aangeven hoe ze deze beschermen en bewijs af leveren dat het voldoende beschermt is.</a:t>
            </a:r>
          </a:p>
          <a:p>
            <a:r>
              <a:rPr lang="nl-NL" dirty="0"/>
              <a:t>Extra uitleg: </a:t>
            </a:r>
            <a:r>
              <a:rPr lang="nl-NL" dirty="0">
                <a:hlinkClick r:id="rId2"/>
              </a:rPr>
              <a:t>link</a:t>
            </a:r>
            <a:endParaRPr lang="nl-NL" dirty="0"/>
          </a:p>
        </p:txBody>
      </p:sp>
    </p:spTree>
    <p:extLst>
      <p:ext uri="{BB962C8B-B14F-4D97-AF65-F5344CB8AC3E}">
        <p14:creationId xmlns:p14="http://schemas.microsoft.com/office/powerpoint/2010/main" val="437002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68A14A-E033-9376-8685-19BAC45711F0}"/>
              </a:ext>
            </a:extLst>
          </p:cNvPr>
          <p:cNvSpPr>
            <a:spLocks noGrp="1"/>
          </p:cNvSpPr>
          <p:nvPr>
            <p:ph type="title"/>
          </p:nvPr>
        </p:nvSpPr>
        <p:spPr/>
        <p:txBody>
          <a:bodyPr/>
          <a:lstStyle/>
          <a:p>
            <a:r>
              <a:rPr lang="nl-NL" dirty="0"/>
              <a:t>Cyber wetten – DSA en DMA</a:t>
            </a:r>
          </a:p>
        </p:txBody>
      </p:sp>
      <p:sp>
        <p:nvSpPr>
          <p:cNvPr id="3" name="Tijdelijke aanduiding voor inhoud 2">
            <a:extLst>
              <a:ext uri="{FF2B5EF4-FFF2-40B4-BE49-F238E27FC236}">
                <a16:creationId xmlns:a16="http://schemas.microsoft.com/office/drawing/2014/main" id="{3474BD7A-ACE0-BEA1-67FD-4F5F3064EE21}"/>
              </a:ext>
            </a:extLst>
          </p:cNvPr>
          <p:cNvSpPr>
            <a:spLocks noGrp="1"/>
          </p:cNvSpPr>
          <p:nvPr>
            <p:ph idx="1"/>
          </p:nvPr>
        </p:nvSpPr>
        <p:spPr/>
        <p:txBody>
          <a:bodyPr/>
          <a:lstStyle/>
          <a:p>
            <a:r>
              <a:rPr lang="nl-NL" dirty="0"/>
              <a:t>Digital services act en Digital </a:t>
            </a:r>
            <a:r>
              <a:rPr lang="nl-NL" dirty="0" err="1"/>
              <a:t>markets</a:t>
            </a:r>
            <a:r>
              <a:rPr lang="nl-NL" dirty="0"/>
              <a:t> act</a:t>
            </a:r>
          </a:p>
          <a:p>
            <a:r>
              <a:rPr lang="nl-NL" dirty="0"/>
              <a:t>DSA – beschermen en verwijderen van illegale content, het transparant maken van algoritmes, reclames reguleren, bevorder competitie en meer.</a:t>
            </a:r>
          </a:p>
          <a:p>
            <a:pPr lvl="1"/>
            <a:r>
              <a:rPr lang="nl-NL" dirty="0"/>
              <a:t>Aanrader voor een algemene uitleg: </a:t>
            </a:r>
            <a:r>
              <a:rPr lang="nl-NL" dirty="0">
                <a:hlinkClick r:id="rId2"/>
              </a:rPr>
              <a:t>link</a:t>
            </a:r>
            <a:endParaRPr lang="nl-NL" dirty="0"/>
          </a:p>
          <a:p>
            <a:r>
              <a:rPr lang="nl-NL" dirty="0"/>
              <a:t>DMA – beschermt (kleine) bedrijven van benadeeld worden door de </a:t>
            </a:r>
            <a:r>
              <a:rPr lang="nl-NL" dirty="0" err="1"/>
              <a:t>tech</a:t>
            </a:r>
            <a:r>
              <a:rPr lang="nl-NL" dirty="0"/>
              <a:t> reuzen zoals Microsoft en google</a:t>
            </a:r>
          </a:p>
          <a:p>
            <a:endParaRPr lang="nl-NL" dirty="0"/>
          </a:p>
        </p:txBody>
      </p:sp>
    </p:spTree>
    <p:extLst>
      <p:ext uri="{BB962C8B-B14F-4D97-AF65-F5344CB8AC3E}">
        <p14:creationId xmlns:p14="http://schemas.microsoft.com/office/powerpoint/2010/main" val="1600605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5C3F9F-0412-7C3A-C895-AAEB98EE302B}"/>
              </a:ext>
            </a:extLst>
          </p:cNvPr>
          <p:cNvSpPr>
            <a:spLocks noGrp="1"/>
          </p:cNvSpPr>
          <p:nvPr>
            <p:ph type="title"/>
          </p:nvPr>
        </p:nvSpPr>
        <p:spPr/>
        <p:txBody>
          <a:bodyPr/>
          <a:lstStyle/>
          <a:p>
            <a:r>
              <a:rPr lang="nl-NL" dirty="0"/>
              <a:t>Cyber wetten - Recent</a:t>
            </a:r>
          </a:p>
        </p:txBody>
      </p:sp>
      <p:sp>
        <p:nvSpPr>
          <p:cNvPr id="3" name="Tijdelijke aanduiding voor inhoud 2">
            <a:extLst>
              <a:ext uri="{FF2B5EF4-FFF2-40B4-BE49-F238E27FC236}">
                <a16:creationId xmlns:a16="http://schemas.microsoft.com/office/drawing/2014/main" id="{F8101F59-19DA-42A9-58A3-2D92F84958AF}"/>
              </a:ext>
            </a:extLst>
          </p:cNvPr>
          <p:cNvSpPr>
            <a:spLocks noGrp="1"/>
          </p:cNvSpPr>
          <p:nvPr>
            <p:ph idx="1"/>
          </p:nvPr>
        </p:nvSpPr>
        <p:spPr/>
        <p:txBody>
          <a:bodyPr/>
          <a:lstStyle/>
          <a:p>
            <a:r>
              <a:rPr lang="nl-NL" dirty="0"/>
              <a:t>EU AI act en de Digital Services Act (DSA)</a:t>
            </a:r>
          </a:p>
          <a:p>
            <a:r>
              <a:rPr lang="nl-NL" dirty="0"/>
              <a:t>Artikelen van de EU:</a:t>
            </a:r>
          </a:p>
          <a:p>
            <a:pPr lvl="1"/>
            <a:r>
              <a:rPr lang="nl-NL" dirty="0">
                <a:hlinkClick r:id="rId2"/>
              </a:rPr>
              <a:t>Cyberpesten wetten</a:t>
            </a:r>
            <a:endParaRPr lang="nl-NL" dirty="0"/>
          </a:p>
          <a:p>
            <a:pPr lvl="1"/>
            <a:r>
              <a:rPr lang="nl-NL" dirty="0">
                <a:hlinkClick r:id="rId3"/>
              </a:rPr>
              <a:t>Game wetten</a:t>
            </a:r>
            <a:endParaRPr lang="nl-NL" dirty="0"/>
          </a:p>
          <a:p>
            <a:r>
              <a:rPr lang="nl-NL" dirty="0"/>
              <a:t>EU AI act is een nieuwe wet die in fases wordt toegepast om AI te beperken en benutten binnen de EU, deze wetten zullen op den duur mogelijk verbeterd worden aangezien de technologie nog aan het ontwikkelen is. een redelijke uitleg video: </a:t>
            </a:r>
            <a:r>
              <a:rPr lang="nl-NL" dirty="0">
                <a:hlinkClick r:id="rId4"/>
              </a:rPr>
              <a:t>Link</a:t>
            </a:r>
            <a:endParaRPr lang="nl-NL" dirty="0"/>
          </a:p>
        </p:txBody>
      </p:sp>
    </p:spTree>
    <p:extLst>
      <p:ext uri="{BB962C8B-B14F-4D97-AF65-F5344CB8AC3E}">
        <p14:creationId xmlns:p14="http://schemas.microsoft.com/office/powerpoint/2010/main" val="3150224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3AF2EC-5406-A706-CB33-2674C4A51D30}"/>
              </a:ext>
            </a:extLst>
          </p:cNvPr>
          <p:cNvSpPr>
            <a:spLocks noGrp="1"/>
          </p:cNvSpPr>
          <p:nvPr>
            <p:ph type="title"/>
          </p:nvPr>
        </p:nvSpPr>
        <p:spPr/>
        <p:txBody>
          <a:bodyPr/>
          <a:lstStyle/>
          <a:p>
            <a:r>
              <a:rPr lang="nl-NL" dirty="0"/>
              <a:t>Bonus: de 3 wetten van </a:t>
            </a:r>
            <a:r>
              <a:rPr lang="nl-NL" dirty="0" err="1"/>
              <a:t>robotics</a:t>
            </a:r>
            <a:endParaRPr lang="nl-NL" dirty="0"/>
          </a:p>
        </p:txBody>
      </p:sp>
      <p:sp>
        <p:nvSpPr>
          <p:cNvPr id="3" name="Tijdelijke aanduiding voor inhoud 2">
            <a:extLst>
              <a:ext uri="{FF2B5EF4-FFF2-40B4-BE49-F238E27FC236}">
                <a16:creationId xmlns:a16="http://schemas.microsoft.com/office/drawing/2014/main" id="{D329BD46-DE35-8185-CB98-AB62FC8A1360}"/>
              </a:ext>
            </a:extLst>
          </p:cNvPr>
          <p:cNvSpPr>
            <a:spLocks noGrp="1"/>
          </p:cNvSpPr>
          <p:nvPr>
            <p:ph idx="1"/>
          </p:nvPr>
        </p:nvSpPr>
        <p:spPr/>
        <p:txBody>
          <a:bodyPr>
            <a:normAutofit fontScale="85000" lnSpcReduction="20000"/>
          </a:bodyPr>
          <a:lstStyle/>
          <a:p>
            <a:r>
              <a:rPr lang="nl-NL" dirty="0"/>
              <a:t>Een hypothetische set wetten gemaakt voor een </a:t>
            </a:r>
            <a:r>
              <a:rPr lang="nl-NL" dirty="0" err="1"/>
              <a:t>scifi</a:t>
            </a:r>
            <a:r>
              <a:rPr lang="nl-NL" dirty="0"/>
              <a:t> boek door Isaac </a:t>
            </a:r>
            <a:r>
              <a:rPr lang="nl-NL" dirty="0" err="1"/>
              <a:t>Asimov</a:t>
            </a:r>
            <a:r>
              <a:rPr lang="nl-NL" dirty="0"/>
              <a:t>.</a:t>
            </a:r>
          </a:p>
          <a:p>
            <a:r>
              <a:rPr lang="nl-NL" dirty="0"/>
              <a:t>Hij maakte zich zorgen over de groei van robotica en eventuele dreigingen voor de mens.</a:t>
            </a:r>
          </a:p>
          <a:p>
            <a:r>
              <a:rPr lang="nl-NL" dirty="0"/>
              <a:t>Wet 1: Een robot mag een mens geen letsel toebrengen of door niet te handelen toestaan dat een mens letsel oploopt.</a:t>
            </a:r>
          </a:p>
          <a:p>
            <a:r>
              <a:rPr lang="nl-NL" dirty="0"/>
              <a:t>Wet 2: Een robot moet de bevelen uitvoeren die hem door mensen gegeven worden, behalve als die opdrachten in strijd zijn met de Eerste Wet.</a:t>
            </a:r>
          </a:p>
          <a:p>
            <a:r>
              <a:rPr lang="nl-NL" dirty="0"/>
              <a:t>Wet 3: Een robot moet zijn eigen bestaan beschermen, voor zover die bescherming niet in strijd is met de Eerste of Tweede Wet.</a:t>
            </a:r>
          </a:p>
          <a:p>
            <a:r>
              <a:rPr lang="nl-NL" dirty="0"/>
              <a:t>De nulde wet: Een robot mag geen schade toebrengen aan de mensheid, of toelaten dat de mensheid schade toegebracht wordt door zijn nalatigheid.</a:t>
            </a:r>
          </a:p>
        </p:txBody>
      </p:sp>
    </p:spTree>
    <p:extLst>
      <p:ext uri="{BB962C8B-B14F-4D97-AF65-F5344CB8AC3E}">
        <p14:creationId xmlns:p14="http://schemas.microsoft.com/office/powerpoint/2010/main" val="4048224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E164D-E38E-A426-F2EC-6F924A0A2FE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4517769-1622-42B1-7D95-6FADBD924FFB}"/>
              </a:ext>
            </a:extLst>
          </p:cNvPr>
          <p:cNvSpPr>
            <a:spLocks noGrp="1"/>
          </p:cNvSpPr>
          <p:nvPr>
            <p:ph type="title"/>
          </p:nvPr>
        </p:nvSpPr>
        <p:spPr/>
        <p:txBody>
          <a:bodyPr/>
          <a:lstStyle/>
          <a:p>
            <a:r>
              <a:rPr lang="nl-NL" dirty="0"/>
              <a:t>Bonus: de 3 wetten van </a:t>
            </a:r>
            <a:r>
              <a:rPr lang="nl-NL" dirty="0" err="1"/>
              <a:t>robotics</a:t>
            </a:r>
            <a:endParaRPr lang="nl-NL" dirty="0"/>
          </a:p>
        </p:txBody>
      </p:sp>
      <p:sp>
        <p:nvSpPr>
          <p:cNvPr id="3" name="Tijdelijke aanduiding voor inhoud 2">
            <a:extLst>
              <a:ext uri="{FF2B5EF4-FFF2-40B4-BE49-F238E27FC236}">
                <a16:creationId xmlns:a16="http://schemas.microsoft.com/office/drawing/2014/main" id="{0E2AE59E-82F0-B2D7-FA10-3B91368E879B}"/>
              </a:ext>
            </a:extLst>
          </p:cNvPr>
          <p:cNvSpPr>
            <a:spLocks noGrp="1"/>
          </p:cNvSpPr>
          <p:nvPr>
            <p:ph idx="1"/>
          </p:nvPr>
        </p:nvSpPr>
        <p:spPr/>
        <p:txBody>
          <a:bodyPr>
            <a:normAutofit/>
          </a:bodyPr>
          <a:lstStyle/>
          <a:p>
            <a:r>
              <a:rPr lang="nl-NL" dirty="0"/>
              <a:t>Later werden dit de volgende “wetten”:</a:t>
            </a:r>
          </a:p>
          <a:p>
            <a:pPr lvl="1"/>
            <a:r>
              <a:rPr lang="nl-NL" dirty="0"/>
              <a:t>1: Een mens mag geen robot inzetten wanneer dit werk met de robot niet voldoet aan de hoogste wettelijke en professionele normen van veiligheid en ethiek.</a:t>
            </a:r>
          </a:p>
          <a:p>
            <a:pPr lvl="1"/>
            <a:r>
              <a:rPr lang="nl-NL" dirty="0"/>
              <a:t>2: Een robot moet afhankelijk van zijn functie mensen voldoende kunnen beantwoorden.</a:t>
            </a:r>
          </a:p>
          <a:p>
            <a:pPr lvl="1"/>
            <a:r>
              <a:rPr lang="nl-NL" dirty="0"/>
              <a:t>3: Een robot moet worden begiftigd met genoeg toereikende autonomie om zijn eigen bestaan te kunnen beschermen, zolang hij hierdoor gemakkelijk te bedienen blijft en zijn autonomie niet in strijd is met de Eerste en de Tweede Wet.</a:t>
            </a:r>
          </a:p>
        </p:txBody>
      </p:sp>
    </p:spTree>
    <p:extLst>
      <p:ext uri="{BB962C8B-B14F-4D97-AF65-F5344CB8AC3E}">
        <p14:creationId xmlns:p14="http://schemas.microsoft.com/office/powerpoint/2010/main" val="1145852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FDD956-3AC4-F7D5-EB2C-39C857ACC4C6}"/>
              </a:ext>
            </a:extLst>
          </p:cNvPr>
          <p:cNvSpPr>
            <a:spLocks noGrp="1"/>
          </p:cNvSpPr>
          <p:nvPr>
            <p:ph type="title"/>
          </p:nvPr>
        </p:nvSpPr>
        <p:spPr/>
        <p:txBody>
          <a:bodyPr/>
          <a:lstStyle/>
          <a:p>
            <a:r>
              <a:rPr lang="nl-NL" dirty="0"/>
              <a:t>Film aanrader: I, Robot</a:t>
            </a:r>
          </a:p>
        </p:txBody>
      </p:sp>
      <p:sp>
        <p:nvSpPr>
          <p:cNvPr id="3" name="Tijdelijke aanduiding voor inhoud 2">
            <a:extLst>
              <a:ext uri="{FF2B5EF4-FFF2-40B4-BE49-F238E27FC236}">
                <a16:creationId xmlns:a16="http://schemas.microsoft.com/office/drawing/2014/main" id="{66605E97-C4A2-9D72-5384-CE1BEBF9F3C6}"/>
              </a:ext>
            </a:extLst>
          </p:cNvPr>
          <p:cNvSpPr>
            <a:spLocks noGrp="1"/>
          </p:cNvSpPr>
          <p:nvPr>
            <p:ph idx="1"/>
          </p:nvPr>
        </p:nvSpPr>
        <p:spPr>
          <a:xfrm>
            <a:off x="838200" y="1825625"/>
            <a:ext cx="7728679" cy="3872442"/>
          </a:xfrm>
        </p:spPr>
        <p:txBody>
          <a:bodyPr/>
          <a:lstStyle/>
          <a:p>
            <a:r>
              <a:rPr lang="nl-NL" dirty="0"/>
              <a:t>Leuk als je de wetten van robotica </a:t>
            </a:r>
            <a:r>
              <a:rPr lang="nl-NL" dirty="0" err="1"/>
              <a:t>interresant</a:t>
            </a:r>
            <a:r>
              <a:rPr lang="nl-NL" dirty="0"/>
              <a:t> vind. </a:t>
            </a:r>
          </a:p>
          <a:p>
            <a:r>
              <a:rPr lang="nl-NL" dirty="0"/>
              <a:t>Kwalitatief </a:t>
            </a:r>
            <a:r>
              <a:rPr lang="nl-NL" dirty="0" err="1"/>
              <a:t>oke</a:t>
            </a:r>
            <a:r>
              <a:rPr lang="nl-NL" dirty="0"/>
              <a:t>, met wat leuke momenten</a:t>
            </a:r>
          </a:p>
        </p:txBody>
      </p:sp>
      <p:pic>
        <p:nvPicPr>
          <p:cNvPr id="2050" name="Picture 2" descr="I, Robot (film) - Wikipedia">
            <a:extLst>
              <a:ext uri="{FF2B5EF4-FFF2-40B4-BE49-F238E27FC236}">
                <a16:creationId xmlns:a16="http://schemas.microsoft.com/office/drawing/2014/main" id="{34DB74A7-EF89-7B0A-898B-EEE265A6D6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4236" y="1262625"/>
            <a:ext cx="3415259" cy="4672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597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38AEF2-B1E0-DC5C-29EF-6DC8FC82EB69}"/>
              </a:ext>
            </a:extLst>
          </p:cNvPr>
          <p:cNvSpPr>
            <a:spLocks noGrp="1"/>
          </p:cNvSpPr>
          <p:nvPr>
            <p:ph type="title"/>
          </p:nvPr>
        </p:nvSpPr>
        <p:spPr/>
        <p:txBody>
          <a:bodyPr/>
          <a:lstStyle/>
          <a:p>
            <a:r>
              <a:rPr lang="nl-NL" noProof="0" dirty="0"/>
              <a:t>Volgende week</a:t>
            </a:r>
          </a:p>
        </p:txBody>
      </p:sp>
      <p:sp>
        <p:nvSpPr>
          <p:cNvPr id="3" name="Tijdelijke aanduiding voor inhoud 2">
            <a:extLst>
              <a:ext uri="{FF2B5EF4-FFF2-40B4-BE49-F238E27FC236}">
                <a16:creationId xmlns:a16="http://schemas.microsoft.com/office/drawing/2014/main" id="{FC3088DE-78F2-873D-A6F7-351239A77C18}"/>
              </a:ext>
            </a:extLst>
          </p:cNvPr>
          <p:cNvSpPr>
            <a:spLocks noGrp="1"/>
          </p:cNvSpPr>
          <p:nvPr>
            <p:ph idx="1"/>
          </p:nvPr>
        </p:nvSpPr>
        <p:spPr/>
        <p:txBody>
          <a:bodyPr/>
          <a:lstStyle/>
          <a:p>
            <a:r>
              <a:rPr lang="nl-NL" noProof="0" dirty="0"/>
              <a:t>Database </a:t>
            </a:r>
            <a:r>
              <a:rPr lang="nl-NL" noProof="0" dirty="0" err="1"/>
              <a:t>injection</a:t>
            </a:r>
            <a:endParaRPr lang="nl-NL" noProof="0" dirty="0"/>
          </a:p>
          <a:p>
            <a:r>
              <a:rPr lang="nl-NL" noProof="0" dirty="0"/>
              <a:t>Database security</a:t>
            </a:r>
          </a:p>
          <a:p>
            <a:r>
              <a:rPr lang="nl-NL" noProof="0" dirty="0"/>
              <a:t>JWT (JSON Web Tokens)</a:t>
            </a:r>
          </a:p>
        </p:txBody>
      </p:sp>
    </p:spTree>
    <p:extLst>
      <p:ext uri="{BB962C8B-B14F-4D97-AF65-F5344CB8AC3E}">
        <p14:creationId xmlns:p14="http://schemas.microsoft.com/office/powerpoint/2010/main" val="2781021689"/>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e2" id="{9E7AAD1C-B155-4896-B55B-3944D7133965}" vid="{4C889715-0D36-4A12-BFED-915D686707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Nova1</Template>
  <TotalTime>0</TotalTime>
  <Words>1078</Words>
  <Application>Microsoft Office PowerPoint</Application>
  <PresentationFormat>Breedbeeld</PresentationFormat>
  <Paragraphs>96</Paragraphs>
  <Slides>17</Slides>
  <Notes>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17</vt:i4>
      </vt:variant>
    </vt:vector>
  </HeadingPairs>
  <TitlesOfParts>
    <vt:vector size="21" baseType="lpstr">
      <vt:lpstr>Aptos</vt:lpstr>
      <vt:lpstr>Aptos Display</vt:lpstr>
      <vt:lpstr>Arial</vt:lpstr>
      <vt:lpstr>Kantoorthema</vt:lpstr>
      <vt:lpstr>Cysec – les 3</vt:lpstr>
      <vt:lpstr>Wat weten we nog van vorige les?</vt:lpstr>
      <vt:lpstr>Programma</vt:lpstr>
      <vt:lpstr>Leerdoelen</vt:lpstr>
      <vt:lpstr>Wetgeving algemeen</vt:lpstr>
      <vt:lpstr>Cyber wetten - algemeen</vt:lpstr>
      <vt:lpstr>Cyber wetten - internationaal</vt:lpstr>
      <vt:lpstr>Cyber wetten – Budapest conventie,     the gold standard</vt:lpstr>
      <vt:lpstr>Cyber wetten - Europees</vt:lpstr>
      <vt:lpstr>Cyber wetten – NIS2</vt:lpstr>
      <vt:lpstr>Cyber wetten – GDPR / AVG</vt:lpstr>
      <vt:lpstr>Cyber wetten – DSA en DMA</vt:lpstr>
      <vt:lpstr>Cyber wetten - Recent</vt:lpstr>
      <vt:lpstr>Bonus: de 3 wetten van robotics</vt:lpstr>
      <vt:lpstr>Bonus: de 3 wetten van robotics</vt:lpstr>
      <vt:lpstr>Film aanrader: I, Robot</vt:lpstr>
      <vt:lpstr>Volgende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Erwin van Hunnik</dc:creator>
  <cp:lastModifiedBy>Erwin van Hunnik</cp:lastModifiedBy>
  <cp:revision>9</cp:revision>
  <dcterms:created xsi:type="dcterms:W3CDTF">2026-02-11T19:30:50Z</dcterms:created>
  <dcterms:modified xsi:type="dcterms:W3CDTF">2026-03-06T23:08:41Z</dcterms:modified>
</cp:coreProperties>
</file>