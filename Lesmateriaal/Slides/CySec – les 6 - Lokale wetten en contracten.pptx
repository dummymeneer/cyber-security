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8" r:id="rId6"/>
    <p:sldId id="269" r:id="rId7"/>
    <p:sldId id="283" r:id="rId8"/>
    <p:sldId id="284" r:id="rId9"/>
    <p:sldId id="285" r:id="rId10"/>
    <p:sldId id="286" r:id="rId11"/>
    <p:sldId id="287" r:id="rId12"/>
    <p:sldId id="288" r:id="rId13"/>
    <p:sldId id="276" r:id="rId14"/>
    <p:sldId id="270" r:id="rId15"/>
    <p:sldId id="271" r:id="rId16"/>
    <p:sldId id="277" r:id="rId17"/>
    <p:sldId id="279" r:id="rId18"/>
    <p:sldId id="278" r:id="rId19"/>
    <p:sldId id="272" r:id="rId20"/>
    <p:sldId id="280" r:id="rId21"/>
    <p:sldId id="281" r:id="rId22"/>
    <p:sldId id="282"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C77"/>
    <a:srgbClr val="FBA400"/>
    <a:srgbClr val="FFFEF7"/>
    <a:srgbClr val="FFFE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81" autoAdjust="0"/>
  </p:normalViewPr>
  <p:slideViewPr>
    <p:cSldViewPr snapToGrid="0">
      <p:cViewPr varScale="1">
        <p:scale>
          <a:sx n="104" d="100"/>
          <a:sy n="104" d="100"/>
        </p:scale>
        <p:origin x="216" y="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28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58DB6F-D407-4DAD-8E07-F71A85896F6E}" type="datetimeFigureOut">
              <a:rPr lang="nl-NL" smtClean="0"/>
              <a:t>7-3-2026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5FC6EB-00F9-4F26-856D-FED6C6A7B264}" type="slidenum">
              <a:rPr lang="nl-NL" smtClean="0"/>
              <a:t>‹nr.›</a:t>
            </a:fld>
            <a:endParaRPr lang="nl-NL"/>
          </a:p>
        </p:txBody>
      </p:sp>
    </p:spTree>
    <p:extLst>
      <p:ext uri="{BB962C8B-B14F-4D97-AF65-F5344CB8AC3E}">
        <p14:creationId xmlns:p14="http://schemas.microsoft.com/office/powerpoint/2010/main" val="2448855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B4C759-8C62-86C9-3B17-92FACEE38A12}"/>
              </a:ext>
            </a:extLst>
          </p:cNvPr>
          <p:cNvSpPr>
            <a:spLocks noGrp="1"/>
          </p:cNvSpPr>
          <p:nvPr>
            <p:ph type="ctrTitle"/>
          </p:nvPr>
        </p:nvSpPr>
        <p:spPr>
          <a:xfrm>
            <a:off x="796925" y="406400"/>
            <a:ext cx="645795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A321D15F-B607-A2F4-7E5B-5C4C4A91C98D}"/>
              </a:ext>
            </a:extLst>
          </p:cNvPr>
          <p:cNvSpPr>
            <a:spLocks noGrp="1"/>
          </p:cNvSpPr>
          <p:nvPr>
            <p:ph type="subTitle" idx="1"/>
          </p:nvPr>
        </p:nvSpPr>
        <p:spPr>
          <a:xfrm>
            <a:off x="5774266" y="3380783"/>
            <a:ext cx="55118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35970407-AC1E-7009-EC8F-8F2B816D797E}"/>
              </a:ext>
            </a:extLst>
          </p:cNvPr>
          <p:cNvSpPr>
            <a:spLocks noGrp="1"/>
          </p:cNvSpPr>
          <p:nvPr>
            <p:ph type="dt" sz="half" idx="10"/>
          </p:nvPr>
        </p:nvSpPr>
        <p:spPr>
          <a:xfrm>
            <a:off x="3869266" y="6356350"/>
            <a:ext cx="1905000" cy="365125"/>
          </a:xfrm>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C0B12CD7-1DFB-6FCC-4B46-040832962F86}"/>
              </a:ext>
            </a:extLst>
          </p:cNvPr>
          <p:cNvSpPr>
            <a:spLocks noGrp="1"/>
          </p:cNvSpPr>
          <p:nvPr>
            <p:ph type="ftr" sz="quarter" idx="11"/>
          </p:nvPr>
        </p:nvSpPr>
        <p:spPr>
          <a:xfrm>
            <a:off x="6096000" y="6356350"/>
            <a:ext cx="4114800" cy="365125"/>
          </a:xfrm>
        </p:spPr>
        <p:txBody>
          <a:bodyPr/>
          <a:lstStyle/>
          <a:p>
            <a:endParaRPr lang="nl-NL" dirty="0"/>
          </a:p>
        </p:txBody>
      </p:sp>
      <p:sp>
        <p:nvSpPr>
          <p:cNvPr id="6" name="Tijdelijke aanduiding voor dianummer 5">
            <a:extLst>
              <a:ext uri="{FF2B5EF4-FFF2-40B4-BE49-F238E27FC236}">
                <a16:creationId xmlns:a16="http://schemas.microsoft.com/office/drawing/2014/main" id="{FED0717B-501A-6AD2-FAD9-9FDB669F358D}"/>
              </a:ext>
            </a:extLst>
          </p:cNvPr>
          <p:cNvSpPr>
            <a:spLocks noGrp="1"/>
          </p:cNvSpPr>
          <p:nvPr>
            <p:ph type="sldNum" sz="quarter" idx="12"/>
          </p:nvPr>
        </p:nvSpPr>
        <p:spPr>
          <a:xfrm>
            <a:off x="10668000" y="6356350"/>
            <a:ext cx="1159933" cy="365125"/>
          </a:xfrm>
        </p:spPr>
        <p:txBody>
          <a:bodyPr/>
          <a:lstStyle/>
          <a:p>
            <a:fld id="{E9064B82-868F-4D41-994F-76B4E64C671C}" type="slidenum">
              <a:rPr lang="nl-NL" smtClean="0"/>
              <a:t>‹nr.›</a:t>
            </a:fld>
            <a:endParaRPr lang="nl-NL" dirty="0"/>
          </a:p>
        </p:txBody>
      </p:sp>
    </p:spTree>
    <p:extLst>
      <p:ext uri="{BB962C8B-B14F-4D97-AF65-F5344CB8AC3E}">
        <p14:creationId xmlns:p14="http://schemas.microsoft.com/office/powerpoint/2010/main" val="3244405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BFFC90-3395-0A72-C175-88454A1082CD}"/>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FF9D1A7-AFA3-2D0A-5016-573C0085F7A3}"/>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AEF1A98-39F2-BCFE-A768-C7C7269E6009}"/>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3A3F0BBF-479B-F827-4D71-082BF9E1E22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3D6B33F-8770-9341-9E76-F7A43537742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60536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C40951-16BA-65BD-FA23-BCD4B37026A1}"/>
              </a:ext>
            </a:extLst>
          </p:cNvPr>
          <p:cNvSpPr>
            <a:spLocks noGrp="1"/>
          </p:cNvSpPr>
          <p:nvPr>
            <p:ph type="title"/>
          </p:nvPr>
        </p:nvSpPr>
        <p:spPr>
          <a:xfrm>
            <a:off x="838200" y="453432"/>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A223BC3E-99ED-F861-2FB2-1837A862A4C4}"/>
              </a:ext>
            </a:extLst>
          </p:cNvPr>
          <p:cNvSpPr>
            <a:spLocks noGrp="1"/>
          </p:cNvSpPr>
          <p:nvPr>
            <p:ph type="body" idx="1"/>
          </p:nvPr>
        </p:nvSpPr>
        <p:spPr>
          <a:xfrm>
            <a:off x="838200" y="3794332"/>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04DFCE1-FF20-9098-F41B-CF8AE47B2474}"/>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C527527C-339C-A319-5AB8-112FB83F622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2BC4418-4EF7-67F6-BB89-E7E06ACA8A73}"/>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34982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331BC1-8E05-7E69-F8A9-6DB02B0328AB}"/>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72ED6838-DD66-E35D-E7CC-C7808F5D6C0B}"/>
              </a:ext>
            </a:extLst>
          </p:cNvPr>
          <p:cNvSpPr>
            <a:spLocks noGrp="1"/>
          </p:cNvSpPr>
          <p:nvPr>
            <p:ph sz="half" idx="1"/>
          </p:nvPr>
        </p:nvSpPr>
        <p:spPr>
          <a:xfrm>
            <a:off x="838200" y="1825625"/>
            <a:ext cx="5181600" cy="401858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A8D7FE4F-8286-26BD-2F95-E57806EDF7FB}"/>
              </a:ext>
            </a:extLst>
          </p:cNvPr>
          <p:cNvSpPr>
            <a:spLocks noGrp="1"/>
          </p:cNvSpPr>
          <p:nvPr>
            <p:ph sz="half" idx="2"/>
          </p:nvPr>
        </p:nvSpPr>
        <p:spPr>
          <a:xfrm>
            <a:off x="6172200" y="1825625"/>
            <a:ext cx="5181600" cy="401858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6D0E1AED-39B0-79D9-7A2C-449973F5357F}"/>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A254B2C4-BDF7-31CB-7DC9-B08438151C8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189A640-A58A-DEB2-536B-CD6A70C76CF1}"/>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65889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2C2B3A-1D0A-5865-BE4A-04C18894FB42}"/>
              </a:ext>
            </a:extLst>
          </p:cNvPr>
          <p:cNvSpPr>
            <a:spLocks noGrp="1"/>
          </p:cNvSpPr>
          <p:nvPr>
            <p:ph type="title"/>
          </p:nvPr>
        </p:nvSpPr>
        <p:spPr>
          <a:xfrm>
            <a:off x="839788" y="365125"/>
            <a:ext cx="10515600" cy="978645"/>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16E3B1D-231C-B7E9-8ECC-869ECCA3566F}"/>
              </a:ext>
            </a:extLst>
          </p:cNvPr>
          <p:cNvSpPr>
            <a:spLocks noGrp="1"/>
          </p:cNvSpPr>
          <p:nvPr>
            <p:ph type="body" idx="1"/>
          </p:nvPr>
        </p:nvSpPr>
        <p:spPr>
          <a:xfrm>
            <a:off x="839788" y="1464418"/>
            <a:ext cx="5157787" cy="7142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907D4D88-D8C1-6D25-C28C-87B8DCECC9AC}"/>
              </a:ext>
            </a:extLst>
          </p:cNvPr>
          <p:cNvSpPr>
            <a:spLocks noGrp="1"/>
          </p:cNvSpPr>
          <p:nvPr>
            <p:ph sz="half" idx="2"/>
          </p:nvPr>
        </p:nvSpPr>
        <p:spPr>
          <a:xfrm>
            <a:off x="839788" y="2299305"/>
            <a:ext cx="5157787" cy="357670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0B794A09-E8F5-29C8-7AAA-9CCB4BF45293}"/>
              </a:ext>
            </a:extLst>
          </p:cNvPr>
          <p:cNvSpPr>
            <a:spLocks noGrp="1"/>
          </p:cNvSpPr>
          <p:nvPr>
            <p:ph type="body" sz="quarter" idx="3"/>
          </p:nvPr>
        </p:nvSpPr>
        <p:spPr>
          <a:xfrm>
            <a:off x="6169024" y="1433991"/>
            <a:ext cx="5183188" cy="7446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D06865D-4034-733F-0C0B-2A32C8EDB392}"/>
              </a:ext>
            </a:extLst>
          </p:cNvPr>
          <p:cNvSpPr>
            <a:spLocks noGrp="1"/>
          </p:cNvSpPr>
          <p:nvPr>
            <p:ph sz="quarter" idx="4"/>
          </p:nvPr>
        </p:nvSpPr>
        <p:spPr>
          <a:xfrm>
            <a:off x="6169024" y="2299305"/>
            <a:ext cx="5183188" cy="357670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7" name="Tijdelijke aanduiding voor datum 6">
            <a:extLst>
              <a:ext uri="{FF2B5EF4-FFF2-40B4-BE49-F238E27FC236}">
                <a16:creationId xmlns:a16="http://schemas.microsoft.com/office/drawing/2014/main" id="{9615BE59-3F81-7BD5-4DB4-278648CEC517}"/>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8" name="Tijdelijke aanduiding voor voettekst 7">
            <a:extLst>
              <a:ext uri="{FF2B5EF4-FFF2-40B4-BE49-F238E27FC236}">
                <a16:creationId xmlns:a16="http://schemas.microsoft.com/office/drawing/2014/main" id="{DE8CE4A8-74CC-EC89-649F-1C83DAD30591}"/>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56CBCA2E-28ED-9718-15AD-1B3FFBE1ABBF}"/>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056480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3C4379-2683-9B5B-54BA-E3A636049975}"/>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5F0E2A3-FBE9-DC25-394E-AE9A6C39F395}"/>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4" name="Tijdelijke aanduiding voor voettekst 3">
            <a:extLst>
              <a:ext uri="{FF2B5EF4-FFF2-40B4-BE49-F238E27FC236}">
                <a16:creationId xmlns:a16="http://schemas.microsoft.com/office/drawing/2014/main" id="{BB400D92-2550-0867-9483-45ED646CB30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B71C9D5D-E51E-CA71-9A90-C4EAB3B95EB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369145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C5446D9-5DF5-F7C0-2628-90BC9A1C3D3C}"/>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3" name="Tijdelijke aanduiding voor voettekst 2">
            <a:extLst>
              <a:ext uri="{FF2B5EF4-FFF2-40B4-BE49-F238E27FC236}">
                <a16:creationId xmlns:a16="http://schemas.microsoft.com/office/drawing/2014/main" id="{FF65D153-6E89-D8A5-45CD-F5E3B8296345}"/>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8C4BE700-8736-DEBD-54F5-CD85EBEDBB4B}"/>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569294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6DB1C2-788C-5E67-1126-186FE5DFFDE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E9A3E2AF-FE3E-C3CA-0E2C-9C0235AAD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72E7AF5-2E5A-4DE2-1F3D-EE384028A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4CCBAC4-7095-68D4-1F70-41489D11E421}"/>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69FD96D4-0AD8-6168-4590-B26CA93A3FB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0DB30B07-5631-A050-3B75-0C5F5D0021AB}"/>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1628018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9B1091-E1AE-DDD5-15E4-4FBF3510FEBC}"/>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676DA624-4C35-30ED-18A7-B6FB1563DF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p>
        </p:txBody>
      </p:sp>
      <p:sp>
        <p:nvSpPr>
          <p:cNvPr id="4" name="Tijdelijke aanduiding voor tekst 3">
            <a:extLst>
              <a:ext uri="{FF2B5EF4-FFF2-40B4-BE49-F238E27FC236}">
                <a16:creationId xmlns:a16="http://schemas.microsoft.com/office/drawing/2014/main" id="{6C0BB913-4F09-18DD-A1BA-8427E3841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13FF6D7-870A-E1AF-4B59-6101B009DEE5}"/>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6" name="Tijdelijke aanduiding voor voettekst 5">
            <a:extLst>
              <a:ext uri="{FF2B5EF4-FFF2-40B4-BE49-F238E27FC236}">
                <a16:creationId xmlns:a16="http://schemas.microsoft.com/office/drawing/2014/main" id="{349C309F-2101-E8AD-9159-474BFC22678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CEE4378-BA38-4FB0-C906-B9BA8993001E}"/>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511610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2D5996-E7C8-5CF7-C2D3-B8748FD4CC4F}"/>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4E21B26B-BA69-E9AD-7CFF-9F776593287F}"/>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04E0D85-1929-B19A-7CEE-1C5F655EE053}"/>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6DF32821-6BD5-551A-0269-B059B749A5C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20D5A6D-2538-85A7-38BB-7F795A3E91C3}"/>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215944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2B48FD73-4D0B-A3A3-2319-42AE9E7263D1}"/>
              </a:ext>
            </a:extLst>
          </p:cNvPr>
          <p:cNvSpPr>
            <a:spLocks noGrp="1"/>
          </p:cNvSpPr>
          <p:nvPr>
            <p:ph type="title" orient="vert"/>
          </p:nvPr>
        </p:nvSpPr>
        <p:spPr>
          <a:xfrm>
            <a:off x="9144000" y="365125"/>
            <a:ext cx="2671638" cy="5455230"/>
          </a:xfrm>
        </p:spPr>
        <p:txBody>
          <a:bodyPr vert="eaVert"/>
          <a:lstStyle/>
          <a:p>
            <a:r>
              <a:rPr lang="nl-NL"/>
              <a:t>Klik om stijl te bewerken</a:t>
            </a:r>
            <a:endParaRPr lang="nl-NL" dirty="0"/>
          </a:p>
        </p:txBody>
      </p:sp>
      <p:sp>
        <p:nvSpPr>
          <p:cNvPr id="3" name="Tijdelijke aanduiding voor verticale tekst 2">
            <a:extLst>
              <a:ext uri="{FF2B5EF4-FFF2-40B4-BE49-F238E27FC236}">
                <a16:creationId xmlns:a16="http://schemas.microsoft.com/office/drawing/2014/main" id="{B1C23176-7D84-A884-661D-CD5DEA0485E6}"/>
              </a:ext>
            </a:extLst>
          </p:cNvPr>
          <p:cNvSpPr>
            <a:spLocks noGrp="1"/>
          </p:cNvSpPr>
          <p:nvPr>
            <p:ph type="body" orient="vert" idx="1"/>
          </p:nvPr>
        </p:nvSpPr>
        <p:spPr>
          <a:xfrm>
            <a:off x="644056" y="365125"/>
            <a:ext cx="8340918" cy="5455230"/>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5DAFAA59-F7D1-5531-36D8-900F9C119EB8}"/>
              </a:ext>
            </a:extLst>
          </p:cNvPr>
          <p:cNvSpPr>
            <a:spLocks noGrp="1"/>
          </p:cNvSpPr>
          <p:nvPr>
            <p:ph type="dt" sz="half" idx="10"/>
          </p:nvPr>
        </p:nvSpPr>
        <p:spPr/>
        <p:txBody>
          <a:bodyPr/>
          <a:lstStyle/>
          <a:p>
            <a:fld id="{6D18414D-5A9A-49A8-AA48-E9E7CADEA260}" type="datetimeFigureOut">
              <a:rPr lang="nl-NL" smtClean="0"/>
              <a:t>7-3-2026</a:t>
            </a:fld>
            <a:endParaRPr lang="nl-NL"/>
          </a:p>
        </p:txBody>
      </p:sp>
      <p:sp>
        <p:nvSpPr>
          <p:cNvPr id="5" name="Tijdelijke aanduiding voor voettekst 4">
            <a:extLst>
              <a:ext uri="{FF2B5EF4-FFF2-40B4-BE49-F238E27FC236}">
                <a16:creationId xmlns:a16="http://schemas.microsoft.com/office/drawing/2014/main" id="{D606688D-6FDD-6771-2106-A56DB363A5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8D3E2E9-404E-C081-A941-A3629B3047F5}"/>
              </a:ext>
            </a:extLst>
          </p:cNvPr>
          <p:cNvSpPr>
            <a:spLocks noGrp="1"/>
          </p:cNvSpPr>
          <p:nvPr>
            <p:ph type="sldNum" sz="quarter" idx="12"/>
          </p:nvPr>
        </p:nvSpPr>
        <p:spPr/>
        <p:txBody>
          <a:bodyPr/>
          <a:lstStyle/>
          <a:p>
            <a:fld id="{E9064B82-868F-4D41-994F-76B4E64C671C}" type="slidenum">
              <a:rPr lang="nl-NL" smtClean="0"/>
              <a:t>‹nr.›</a:t>
            </a:fld>
            <a:endParaRPr lang="nl-NL"/>
          </a:p>
        </p:txBody>
      </p:sp>
    </p:spTree>
    <p:extLst>
      <p:ext uri="{BB962C8B-B14F-4D97-AF65-F5344CB8AC3E}">
        <p14:creationId xmlns:p14="http://schemas.microsoft.com/office/powerpoint/2010/main" val="4246609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35000">
              <a:srgbClr val="FFFEF3"/>
            </a:gs>
            <a:gs pos="62000">
              <a:srgbClr val="FFFEF7"/>
            </a:gs>
            <a:gs pos="0">
              <a:schemeClr val="bg1"/>
            </a:gs>
          </a:gsLst>
          <a:lin ang="5400000" scaled="1"/>
          <a:tileRect/>
        </a:gra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ACF1BF85-4B6C-F008-1B3C-11B47EC59E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4" name="Tijdelijke aanduiding voor datum 3">
            <a:extLst>
              <a:ext uri="{FF2B5EF4-FFF2-40B4-BE49-F238E27FC236}">
                <a16:creationId xmlns:a16="http://schemas.microsoft.com/office/drawing/2014/main" id="{E5411684-1A7E-DFCF-F13E-B761FD6B0AB4}"/>
              </a:ext>
            </a:extLst>
          </p:cNvPr>
          <p:cNvSpPr>
            <a:spLocks noGrp="1"/>
          </p:cNvSpPr>
          <p:nvPr>
            <p:ph type="dt" sz="half" idx="2"/>
          </p:nvPr>
        </p:nvSpPr>
        <p:spPr>
          <a:xfrm>
            <a:off x="2597150" y="631031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18414D-5A9A-49A8-AA48-E9E7CADEA260}" type="datetimeFigureOut">
              <a:rPr lang="nl-NL" smtClean="0"/>
              <a:t>7-3-2026</a:t>
            </a:fld>
            <a:endParaRPr lang="nl-NL" dirty="0"/>
          </a:p>
        </p:txBody>
      </p:sp>
      <p:sp>
        <p:nvSpPr>
          <p:cNvPr id="5" name="Tijdelijke aanduiding voor voettekst 4">
            <a:extLst>
              <a:ext uri="{FF2B5EF4-FFF2-40B4-BE49-F238E27FC236}">
                <a16:creationId xmlns:a16="http://schemas.microsoft.com/office/drawing/2014/main" id="{A9B745CD-F00A-8626-6B75-9275E77135C4}"/>
              </a:ext>
            </a:extLst>
          </p:cNvPr>
          <p:cNvSpPr>
            <a:spLocks noGrp="1"/>
          </p:cNvSpPr>
          <p:nvPr>
            <p:ph type="ftr" sz="quarter" idx="3"/>
          </p:nvPr>
        </p:nvSpPr>
        <p:spPr>
          <a:xfrm>
            <a:off x="5664200" y="6310311"/>
            <a:ext cx="4546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dirty="0"/>
          </a:p>
        </p:txBody>
      </p:sp>
      <p:sp>
        <p:nvSpPr>
          <p:cNvPr id="6" name="Tijdelijke aanduiding voor dianummer 5">
            <a:extLst>
              <a:ext uri="{FF2B5EF4-FFF2-40B4-BE49-F238E27FC236}">
                <a16:creationId xmlns:a16="http://schemas.microsoft.com/office/drawing/2014/main" id="{B40EA63F-C77B-C305-2060-ECC251682868}"/>
              </a:ext>
            </a:extLst>
          </p:cNvPr>
          <p:cNvSpPr>
            <a:spLocks noGrp="1"/>
          </p:cNvSpPr>
          <p:nvPr>
            <p:ph type="sldNum" sz="quarter" idx="4"/>
          </p:nvPr>
        </p:nvSpPr>
        <p:spPr>
          <a:xfrm>
            <a:off x="10604500" y="6310312"/>
            <a:ext cx="13843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064B82-868F-4D41-994F-76B4E64C671C}" type="slidenum">
              <a:rPr lang="nl-NL" smtClean="0"/>
              <a:t>‹nr.›</a:t>
            </a:fld>
            <a:endParaRPr lang="nl-NL" dirty="0"/>
          </a:p>
        </p:txBody>
      </p:sp>
      <p:pic>
        <p:nvPicPr>
          <p:cNvPr id="7" name="Picture 2" descr="Nova College zorgopleidingen inspireren studenten met casussen | BureauTekst">
            <a:extLst>
              <a:ext uri="{FF2B5EF4-FFF2-40B4-BE49-F238E27FC236}">
                <a16:creationId xmlns:a16="http://schemas.microsoft.com/office/drawing/2014/main" id="{E15B2672-438A-D562-D6EE-438FCB4005E2}"/>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t="40886" b="38682"/>
          <a:stretch>
            <a:fillRect/>
          </a:stretch>
        </p:blipFill>
        <p:spPr bwMode="auto">
          <a:xfrm>
            <a:off x="-186927" y="6217427"/>
            <a:ext cx="2664618" cy="642970"/>
          </a:xfrm>
          <a:prstGeom prst="rect">
            <a:avLst/>
          </a:prstGeom>
          <a:noFill/>
          <a:extLst>
            <a:ext uri="{909E8E84-426E-40DD-AFC4-6F175D3DCCD1}">
              <a14:hiddenFill xmlns:a14="http://schemas.microsoft.com/office/drawing/2010/main">
                <a:solidFill>
                  <a:srgbClr val="FFFFFF"/>
                </a:solidFill>
              </a14:hiddenFill>
            </a:ext>
          </a:extLst>
        </p:spPr>
      </p:pic>
      <p:sp>
        <p:nvSpPr>
          <p:cNvPr id="8" name="Rechthoek 7">
            <a:extLst>
              <a:ext uri="{FF2B5EF4-FFF2-40B4-BE49-F238E27FC236}">
                <a16:creationId xmlns:a16="http://schemas.microsoft.com/office/drawing/2014/main" id="{DBB024C6-06AD-9F73-4AE8-0D072837629D}"/>
              </a:ext>
            </a:extLst>
          </p:cNvPr>
          <p:cNvSpPr/>
          <p:nvPr userDrawn="1"/>
        </p:nvSpPr>
        <p:spPr>
          <a:xfrm>
            <a:off x="230715" y="-55031"/>
            <a:ext cx="270000" cy="5782734"/>
          </a:xfrm>
          <a:prstGeom prst="rect">
            <a:avLst/>
          </a:prstGeom>
          <a:solidFill>
            <a:srgbClr val="005C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Rechthoek 8">
            <a:extLst>
              <a:ext uri="{FF2B5EF4-FFF2-40B4-BE49-F238E27FC236}">
                <a16:creationId xmlns:a16="http://schemas.microsoft.com/office/drawing/2014/main" id="{66087544-C7D3-7A9A-4800-2D515179E7A0}"/>
              </a:ext>
            </a:extLst>
          </p:cNvPr>
          <p:cNvSpPr/>
          <p:nvPr userDrawn="1"/>
        </p:nvSpPr>
        <p:spPr>
          <a:xfrm rot="16200000">
            <a:off x="6427197" y="294152"/>
            <a:ext cx="270000" cy="11530543"/>
          </a:xfrm>
          <a:prstGeom prst="rect">
            <a:avLst/>
          </a:prstGeom>
          <a:solidFill>
            <a:srgbClr val="005C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Cirkel: leeg 9">
            <a:extLst>
              <a:ext uri="{FF2B5EF4-FFF2-40B4-BE49-F238E27FC236}">
                <a16:creationId xmlns:a16="http://schemas.microsoft.com/office/drawing/2014/main" id="{4EF2F36C-85C6-F227-4C7C-C834D410BF31}"/>
              </a:ext>
            </a:extLst>
          </p:cNvPr>
          <p:cNvSpPr/>
          <p:nvPr userDrawn="1"/>
        </p:nvSpPr>
        <p:spPr>
          <a:xfrm>
            <a:off x="228598" y="5218536"/>
            <a:ext cx="991659" cy="987389"/>
          </a:xfrm>
          <a:prstGeom prst="donut">
            <a:avLst>
              <a:gd name="adj" fmla="val 27560"/>
            </a:avLst>
          </a:prstGeom>
          <a:gradFill flip="none" rotWithShape="1">
            <a:gsLst>
              <a:gs pos="0">
                <a:srgbClr val="FBA400">
                  <a:shade val="30000"/>
                  <a:satMod val="115000"/>
                </a:srgbClr>
              </a:gs>
              <a:gs pos="50000">
                <a:srgbClr val="FBA400">
                  <a:shade val="67500"/>
                  <a:satMod val="115000"/>
                </a:srgbClr>
              </a:gs>
              <a:gs pos="100000">
                <a:srgbClr val="FBA400">
                  <a:shade val="100000"/>
                  <a:satMod val="115000"/>
                </a:srgbClr>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
        <p:nvSpPr>
          <p:cNvPr id="11" name="Rechthoek 10">
            <a:extLst>
              <a:ext uri="{FF2B5EF4-FFF2-40B4-BE49-F238E27FC236}">
                <a16:creationId xmlns:a16="http://schemas.microsoft.com/office/drawing/2014/main" id="{FFD04524-8452-D704-99A9-33F20CC99B04}"/>
              </a:ext>
            </a:extLst>
          </p:cNvPr>
          <p:cNvSpPr/>
          <p:nvPr userDrawn="1"/>
        </p:nvSpPr>
        <p:spPr>
          <a:xfrm>
            <a:off x="503358" y="4862527"/>
            <a:ext cx="802745" cy="817034"/>
          </a:xfrm>
          <a:prstGeom prst="rect">
            <a:avLst/>
          </a:prstGeom>
          <a:solidFill>
            <a:srgbClr val="FFFE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2" name="Rechthoek 11">
            <a:extLst>
              <a:ext uri="{FF2B5EF4-FFF2-40B4-BE49-F238E27FC236}">
                <a16:creationId xmlns:a16="http://schemas.microsoft.com/office/drawing/2014/main" id="{103C7D41-C72B-C057-5586-DAF1E5937DA5}"/>
              </a:ext>
            </a:extLst>
          </p:cNvPr>
          <p:cNvSpPr/>
          <p:nvPr userDrawn="1"/>
        </p:nvSpPr>
        <p:spPr>
          <a:xfrm>
            <a:off x="764117" y="5107449"/>
            <a:ext cx="802745" cy="817034"/>
          </a:xfrm>
          <a:prstGeom prst="rect">
            <a:avLst/>
          </a:prstGeom>
          <a:solidFill>
            <a:srgbClr val="FFFE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 name="Tijdelijke aanduiding voor tekst 2">
            <a:extLst>
              <a:ext uri="{FF2B5EF4-FFF2-40B4-BE49-F238E27FC236}">
                <a16:creationId xmlns:a16="http://schemas.microsoft.com/office/drawing/2014/main" id="{166F715E-90D2-E02A-35F3-028366BBD017}"/>
              </a:ext>
            </a:extLst>
          </p:cNvPr>
          <p:cNvSpPr>
            <a:spLocks noGrp="1"/>
          </p:cNvSpPr>
          <p:nvPr>
            <p:ph type="body" idx="1"/>
          </p:nvPr>
        </p:nvSpPr>
        <p:spPr>
          <a:xfrm>
            <a:off x="838200" y="1825625"/>
            <a:ext cx="10515600" cy="3872442"/>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664584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9C727-01AA-4DB2-26AE-DD2FEFCD1352}"/>
              </a:ext>
            </a:extLst>
          </p:cNvPr>
          <p:cNvSpPr>
            <a:spLocks noGrp="1"/>
          </p:cNvSpPr>
          <p:nvPr>
            <p:ph type="ctrTitle"/>
          </p:nvPr>
        </p:nvSpPr>
        <p:spPr/>
        <p:txBody>
          <a:bodyPr/>
          <a:lstStyle/>
          <a:p>
            <a:r>
              <a:rPr lang="nl-NL" dirty="0" err="1"/>
              <a:t>CySec</a:t>
            </a:r>
            <a:r>
              <a:rPr lang="nl-NL" dirty="0"/>
              <a:t> – les 6</a:t>
            </a:r>
          </a:p>
        </p:txBody>
      </p:sp>
      <p:sp>
        <p:nvSpPr>
          <p:cNvPr id="3" name="Ondertitel 2">
            <a:extLst>
              <a:ext uri="{FF2B5EF4-FFF2-40B4-BE49-F238E27FC236}">
                <a16:creationId xmlns:a16="http://schemas.microsoft.com/office/drawing/2014/main" id="{532F1F9D-91AC-244B-A75C-5DE4D060B516}"/>
              </a:ext>
            </a:extLst>
          </p:cNvPr>
          <p:cNvSpPr>
            <a:spLocks noGrp="1"/>
          </p:cNvSpPr>
          <p:nvPr>
            <p:ph type="subTitle" idx="1"/>
          </p:nvPr>
        </p:nvSpPr>
        <p:spPr/>
        <p:txBody>
          <a:bodyPr/>
          <a:lstStyle/>
          <a:p>
            <a:r>
              <a:rPr lang="nl-NL" dirty="0"/>
              <a:t>Lokale wetgevingen en contracten</a:t>
            </a:r>
          </a:p>
        </p:txBody>
      </p:sp>
    </p:spTree>
    <p:extLst>
      <p:ext uri="{BB962C8B-B14F-4D97-AF65-F5344CB8AC3E}">
        <p14:creationId xmlns:p14="http://schemas.microsoft.com/office/powerpoint/2010/main" val="717761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C467E5-39E6-9E7F-1C58-661632973934}"/>
              </a:ext>
            </a:extLst>
          </p:cNvPr>
          <p:cNvSpPr>
            <a:spLocks noGrp="1"/>
          </p:cNvSpPr>
          <p:nvPr>
            <p:ph type="title"/>
          </p:nvPr>
        </p:nvSpPr>
        <p:spPr/>
        <p:txBody>
          <a:bodyPr/>
          <a:lstStyle/>
          <a:p>
            <a:r>
              <a:rPr lang="nl-NL" dirty="0"/>
              <a:t>Programma</a:t>
            </a:r>
          </a:p>
        </p:txBody>
      </p:sp>
      <p:sp>
        <p:nvSpPr>
          <p:cNvPr id="3" name="Tijdelijke aanduiding voor inhoud 2">
            <a:extLst>
              <a:ext uri="{FF2B5EF4-FFF2-40B4-BE49-F238E27FC236}">
                <a16:creationId xmlns:a16="http://schemas.microsoft.com/office/drawing/2014/main" id="{DE110306-4AAB-9607-E18E-ACBAC34BDE30}"/>
              </a:ext>
            </a:extLst>
          </p:cNvPr>
          <p:cNvSpPr>
            <a:spLocks noGrp="1"/>
          </p:cNvSpPr>
          <p:nvPr>
            <p:ph idx="1"/>
          </p:nvPr>
        </p:nvSpPr>
        <p:spPr/>
        <p:txBody>
          <a:bodyPr>
            <a:normAutofit/>
          </a:bodyPr>
          <a:lstStyle/>
          <a:p>
            <a:r>
              <a:rPr lang="nl-NL" dirty="0"/>
              <a:t>Terugblik vorige les</a:t>
            </a:r>
          </a:p>
          <a:p>
            <a:r>
              <a:rPr lang="nl-NL" dirty="0"/>
              <a:t>Leerdoelen</a:t>
            </a:r>
          </a:p>
          <a:p>
            <a:r>
              <a:rPr lang="nl-NL" dirty="0"/>
              <a:t>Contracten</a:t>
            </a:r>
          </a:p>
          <a:p>
            <a:r>
              <a:rPr lang="nl-NL" dirty="0"/>
              <a:t>Nederlandse wetgeving</a:t>
            </a:r>
          </a:p>
          <a:p>
            <a:r>
              <a:rPr lang="nl-NL" dirty="0"/>
              <a:t>Amerikaanse wetgeving</a:t>
            </a:r>
          </a:p>
          <a:p>
            <a:r>
              <a:rPr lang="nl-NL" dirty="0"/>
              <a:t>Chinese wetgeving</a:t>
            </a:r>
          </a:p>
          <a:p>
            <a:r>
              <a:rPr lang="nl-NL" dirty="0"/>
              <a:t>Volgende week</a:t>
            </a:r>
          </a:p>
        </p:txBody>
      </p:sp>
    </p:spTree>
    <p:extLst>
      <p:ext uri="{BB962C8B-B14F-4D97-AF65-F5344CB8AC3E}">
        <p14:creationId xmlns:p14="http://schemas.microsoft.com/office/powerpoint/2010/main" val="3969768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38AEF2-B1E0-DC5C-29EF-6DC8FC82EB69}"/>
              </a:ext>
            </a:extLst>
          </p:cNvPr>
          <p:cNvSpPr>
            <a:spLocks noGrp="1"/>
          </p:cNvSpPr>
          <p:nvPr>
            <p:ph type="title"/>
          </p:nvPr>
        </p:nvSpPr>
        <p:spPr/>
        <p:txBody>
          <a:bodyPr/>
          <a:lstStyle/>
          <a:p>
            <a:r>
              <a:rPr lang="nl-NL" dirty="0"/>
              <a:t>Wat weten we nog van vorige les?</a:t>
            </a:r>
          </a:p>
        </p:txBody>
      </p:sp>
      <p:sp>
        <p:nvSpPr>
          <p:cNvPr id="3" name="Tijdelijke aanduiding voor inhoud 2">
            <a:extLst>
              <a:ext uri="{FF2B5EF4-FFF2-40B4-BE49-F238E27FC236}">
                <a16:creationId xmlns:a16="http://schemas.microsoft.com/office/drawing/2014/main" id="{FC3088DE-78F2-873D-A6F7-351239A77C18}"/>
              </a:ext>
            </a:extLst>
          </p:cNvPr>
          <p:cNvSpPr>
            <a:spLocks noGrp="1"/>
          </p:cNvSpPr>
          <p:nvPr>
            <p:ph idx="1"/>
          </p:nvPr>
        </p:nvSpPr>
        <p:spPr/>
        <p:txBody>
          <a:bodyPr/>
          <a:lstStyle/>
          <a:p>
            <a:r>
              <a:rPr lang="nl-NL" dirty="0"/>
              <a:t>Netwerken</a:t>
            </a:r>
          </a:p>
          <a:p>
            <a:pPr lvl="1"/>
            <a:r>
              <a:rPr lang="nl-NL" dirty="0"/>
              <a:t>Afluisteren</a:t>
            </a:r>
          </a:p>
          <a:p>
            <a:pPr lvl="1"/>
            <a:r>
              <a:rPr lang="nl-NL" dirty="0"/>
              <a:t>aanvallen</a:t>
            </a:r>
          </a:p>
          <a:p>
            <a:pPr lvl="1"/>
            <a:r>
              <a:rPr lang="nl-NL" dirty="0"/>
              <a:t>Beschermen</a:t>
            </a:r>
          </a:p>
        </p:txBody>
      </p:sp>
    </p:spTree>
    <p:extLst>
      <p:ext uri="{BB962C8B-B14F-4D97-AF65-F5344CB8AC3E}">
        <p14:creationId xmlns:p14="http://schemas.microsoft.com/office/powerpoint/2010/main" val="2781021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05855A-447C-1837-7276-355F822E933B}"/>
              </a:ext>
            </a:extLst>
          </p:cNvPr>
          <p:cNvSpPr>
            <a:spLocks noGrp="1"/>
          </p:cNvSpPr>
          <p:nvPr>
            <p:ph type="title"/>
          </p:nvPr>
        </p:nvSpPr>
        <p:spPr/>
        <p:txBody>
          <a:bodyPr/>
          <a:lstStyle/>
          <a:p>
            <a:r>
              <a:rPr lang="nl-NL" dirty="0"/>
              <a:t>Leerdoelen</a:t>
            </a:r>
          </a:p>
        </p:txBody>
      </p:sp>
      <p:sp>
        <p:nvSpPr>
          <p:cNvPr id="3" name="Tijdelijke aanduiding voor inhoud 2">
            <a:extLst>
              <a:ext uri="{FF2B5EF4-FFF2-40B4-BE49-F238E27FC236}">
                <a16:creationId xmlns:a16="http://schemas.microsoft.com/office/drawing/2014/main" id="{D9C96C40-E495-1DDD-8C30-9641A0EAEC2A}"/>
              </a:ext>
            </a:extLst>
          </p:cNvPr>
          <p:cNvSpPr>
            <a:spLocks noGrp="1"/>
          </p:cNvSpPr>
          <p:nvPr>
            <p:ph idx="1"/>
          </p:nvPr>
        </p:nvSpPr>
        <p:spPr/>
        <p:txBody>
          <a:bodyPr/>
          <a:lstStyle/>
          <a:p>
            <a:r>
              <a:rPr lang="nl-NL" dirty="0"/>
              <a:t>Aan het einde van de les:</a:t>
            </a:r>
          </a:p>
          <a:p>
            <a:pPr lvl="1"/>
            <a:r>
              <a:rPr lang="nl-NL" dirty="0"/>
              <a:t>Kennen we enkele van de standard contract types</a:t>
            </a:r>
          </a:p>
          <a:p>
            <a:pPr lvl="1"/>
            <a:r>
              <a:rPr lang="nl-NL" dirty="0"/>
              <a:t>Kennen we enkele van de belangrijkste Nederlandse cyber wetten</a:t>
            </a:r>
          </a:p>
          <a:p>
            <a:pPr lvl="1"/>
            <a:r>
              <a:rPr lang="nl-NL" dirty="0"/>
              <a:t>Kennen we enkele van de belangrijkste Amerikaanse cyber wetten</a:t>
            </a:r>
          </a:p>
          <a:p>
            <a:pPr lvl="1"/>
            <a:r>
              <a:rPr lang="nl-NL" dirty="0"/>
              <a:t>Kennen we enkele van de belangrijkste Chinese cyber wetten</a:t>
            </a:r>
          </a:p>
          <a:p>
            <a:pPr lvl="1"/>
            <a:endParaRPr lang="nl-NL" dirty="0"/>
          </a:p>
          <a:p>
            <a:pPr lvl="1"/>
            <a:endParaRPr lang="nl-NL" dirty="0"/>
          </a:p>
        </p:txBody>
      </p:sp>
    </p:spTree>
    <p:extLst>
      <p:ext uri="{BB962C8B-B14F-4D97-AF65-F5344CB8AC3E}">
        <p14:creationId xmlns:p14="http://schemas.microsoft.com/office/powerpoint/2010/main" val="261652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BA170-B399-CC87-451B-52B456E81498}"/>
              </a:ext>
            </a:extLst>
          </p:cNvPr>
          <p:cNvSpPr>
            <a:spLocks noGrp="1"/>
          </p:cNvSpPr>
          <p:nvPr>
            <p:ph type="title"/>
          </p:nvPr>
        </p:nvSpPr>
        <p:spPr/>
        <p:txBody>
          <a:bodyPr/>
          <a:lstStyle/>
          <a:p>
            <a:r>
              <a:rPr lang="nl-NL"/>
              <a:t>Contracten</a:t>
            </a:r>
          </a:p>
        </p:txBody>
      </p:sp>
      <p:sp>
        <p:nvSpPr>
          <p:cNvPr id="3" name="Tijdelijke aanduiding voor inhoud 2">
            <a:extLst>
              <a:ext uri="{FF2B5EF4-FFF2-40B4-BE49-F238E27FC236}">
                <a16:creationId xmlns:a16="http://schemas.microsoft.com/office/drawing/2014/main" id="{A0541B6E-D79F-C20B-1732-A3C22F5FFB04}"/>
              </a:ext>
            </a:extLst>
          </p:cNvPr>
          <p:cNvSpPr>
            <a:spLocks noGrp="1"/>
          </p:cNvSpPr>
          <p:nvPr>
            <p:ph idx="1"/>
          </p:nvPr>
        </p:nvSpPr>
        <p:spPr/>
        <p:txBody>
          <a:bodyPr>
            <a:normAutofit lnSpcReduction="10000"/>
          </a:bodyPr>
          <a:lstStyle/>
          <a:p>
            <a:r>
              <a:rPr lang="nl-NL" dirty="0"/>
              <a:t>Binnen de elk bedrijf heb je te maken met contracten, vele contracten.</a:t>
            </a:r>
          </a:p>
          <a:p>
            <a:r>
              <a:rPr lang="nl-NL" dirty="0"/>
              <a:t>Het is daarom aangeraden om te weten wat je eventueel voor je hebt voordat je tekent.</a:t>
            </a:r>
          </a:p>
          <a:p>
            <a:endParaRPr lang="nl-NL" dirty="0"/>
          </a:p>
          <a:p>
            <a:r>
              <a:rPr lang="nl-NL" dirty="0"/>
              <a:t>Algemene tips:</a:t>
            </a:r>
          </a:p>
          <a:p>
            <a:pPr lvl="1"/>
            <a:r>
              <a:rPr lang="nl-NL" dirty="0"/>
              <a:t>EERST helemaal lezen</a:t>
            </a:r>
          </a:p>
          <a:p>
            <a:pPr lvl="1"/>
            <a:r>
              <a:rPr lang="nl-NL" dirty="0"/>
              <a:t>Bij twijfel van taal breng het langs een advocaat or juridisch adviseur</a:t>
            </a:r>
          </a:p>
          <a:p>
            <a:pPr lvl="1"/>
            <a:r>
              <a:rPr lang="nl-NL" dirty="0"/>
              <a:t>Bij nog meer twijfel, vraag om verheldering van contract – Dit is je recht! </a:t>
            </a:r>
          </a:p>
        </p:txBody>
      </p:sp>
      <p:pic>
        <p:nvPicPr>
          <p:cNvPr id="5" name="Graphic 4" descr="Contract silhouet">
            <a:extLst>
              <a:ext uri="{FF2B5EF4-FFF2-40B4-BE49-F238E27FC236}">
                <a16:creationId xmlns:a16="http://schemas.microsoft.com/office/drawing/2014/main" id="{C61E52E5-2587-8A15-37A9-27FB7D6D7F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98243" y="245532"/>
            <a:ext cx="1643921" cy="1643921"/>
          </a:xfrm>
          <a:prstGeom prst="rect">
            <a:avLst/>
          </a:prstGeom>
        </p:spPr>
      </p:pic>
    </p:spTree>
    <p:extLst>
      <p:ext uri="{BB962C8B-B14F-4D97-AF65-F5344CB8AC3E}">
        <p14:creationId xmlns:p14="http://schemas.microsoft.com/office/powerpoint/2010/main" val="136097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7FD2-7C95-02CD-91BC-2DCD9B0DC16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94051D-77BB-5192-3EDE-27B10BD9F38A}"/>
              </a:ext>
            </a:extLst>
          </p:cNvPr>
          <p:cNvSpPr>
            <a:spLocks noGrp="1"/>
          </p:cNvSpPr>
          <p:nvPr>
            <p:ph type="title"/>
          </p:nvPr>
        </p:nvSpPr>
        <p:spPr/>
        <p:txBody>
          <a:bodyPr/>
          <a:lstStyle/>
          <a:p>
            <a:r>
              <a:rPr lang="nl-NL" dirty="0"/>
              <a:t>Contracten - NDA</a:t>
            </a:r>
          </a:p>
        </p:txBody>
      </p:sp>
      <p:sp>
        <p:nvSpPr>
          <p:cNvPr id="3" name="Tijdelijke aanduiding voor inhoud 2">
            <a:extLst>
              <a:ext uri="{FF2B5EF4-FFF2-40B4-BE49-F238E27FC236}">
                <a16:creationId xmlns:a16="http://schemas.microsoft.com/office/drawing/2014/main" id="{E3915729-C66C-A2BB-2C9A-99A602F7E751}"/>
              </a:ext>
            </a:extLst>
          </p:cNvPr>
          <p:cNvSpPr>
            <a:spLocks noGrp="1"/>
          </p:cNvSpPr>
          <p:nvPr>
            <p:ph idx="1"/>
          </p:nvPr>
        </p:nvSpPr>
        <p:spPr/>
        <p:txBody>
          <a:bodyPr/>
          <a:lstStyle/>
          <a:p>
            <a:r>
              <a:rPr lang="nl-NL" dirty="0"/>
              <a:t>Non-</a:t>
            </a:r>
            <a:r>
              <a:rPr lang="nl-NL" dirty="0" err="1"/>
              <a:t>disclosure</a:t>
            </a:r>
            <a:r>
              <a:rPr lang="nl-NL" dirty="0"/>
              <a:t> agreement = geheimhoudingsovereenkomst</a:t>
            </a:r>
          </a:p>
          <a:p>
            <a:r>
              <a:rPr lang="nl-NL" dirty="0"/>
              <a:t>Bedoeld om gegevens en bedrijfsprocessen veilig te houden van ongewensten</a:t>
            </a:r>
          </a:p>
          <a:p>
            <a:r>
              <a:rPr lang="nl-NL" dirty="0"/>
              <a:t>Vaak voor kritische sectoren</a:t>
            </a:r>
          </a:p>
          <a:p>
            <a:r>
              <a:rPr lang="nl-NL" dirty="0"/>
              <a:t>Vaak enkele jaren</a:t>
            </a:r>
          </a:p>
          <a:p>
            <a:r>
              <a:rPr lang="nl-NL" dirty="0"/>
              <a:t>Kan misbruikt worden door niet eens te laten vermelden dat je bij bedrijf X hebt gewerkt voor Y aantal jaar.</a:t>
            </a:r>
          </a:p>
          <a:p>
            <a:r>
              <a:rPr lang="nl-NL" dirty="0" err="1"/>
              <a:t>NDA’s</a:t>
            </a:r>
            <a:r>
              <a:rPr lang="nl-NL" dirty="0"/>
              <a:t> beschermen niet tegen illegale acties van een bedrijf.</a:t>
            </a:r>
          </a:p>
        </p:txBody>
      </p:sp>
    </p:spTree>
    <p:extLst>
      <p:ext uri="{BB962C8B-B14F-4D97-AF65-F5344CB8AC3E}">
        <p14:creationId xmlns:p14="http://schemas.microsoft.com/office/powerpoint/2010/main" val="407093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F1E4AA-B93C-A87E-EF74-A5C8AF3213A9}"/>
              </a:ext>
            </a:extLst>
          </p:cNvPr>
          <p:cNvSpPr>
            <a:spLocks noGrp="1"/>
          </p:cNvSpPr>
          <p:nvPr>
            <p:ph type="title"/>
          </p:nvPr>
        </p:nvSpPr>
        <p:spPr/>
        <p:txBody>
          <a:bodyPr/>
          <a:lstStyle/>
          <a:p>
            <a:r>
              <a:rPr lang="nl-NL" dirty="0"/>
              <a:t>Contracten - NCA</a:t>
            </a:r>
          </a:p>
        </p:txBody>
      </p:sp>
      <p:sp>
        <p:nvSpPr>
          <p:cNvPr id="3" name="Tijdelijke aanduiding voor inhoud 2">
            <a:extLst>
              <a:ext uri="{FF2B5EF4-FFF2-40B4-BE49-F238E27FC236}">
                <a16:creationId xmlns:a16="http://schemas.microsoft.com/office/drawing/2014/main" id="{85B11D27-AD4B-05B6-17E6-B9AF99134394}"/>
              </a:ext>
            </a:extLst>
          </p:cNvPr>
          <p:cNvSpPr>
            <a:spLocks noGrp="1"/>
          </p:cNvSpPr>
          <p:nvPr>
            <p:ph idx="1"/>
          </p:nvPr>
        </p:nvSpPr>
        <p:spPr/>
        <p:txBody>
          <a:bodyPr/>
          <a:lstStyle/>
          <a:p>
            <a:r>
              <a:rPr lang="nl-NL" dirty="0"/>
              <a:t>Non-</a:t>
            </a:r>
            <a:r>
              <a:rPr lang="nl-NL" dirty="0" err="1"/>
              <a:t>compete</a:t>
            </a:r>
            <a:r>
              <a:rPr lang="nl-NL" dirty="0"/>
              <a:t> agreement = </a:t>
            </a:r>
            <a:r>
              <a:rPr lang="nl-NL" dirty="0" err="1"/>
              <a:t>Competite</a:t>
            </a:r>
            <a:r>
              <a:rPr lang="nl-NL" dirty="0"/>
              <a:t> verbod overeenkomst</a:t>
            </a:r>
          </a:p>
          <a:p>
            <a:r>
              <a:rPr lang="nl-NL" dirty="0"/>
              <a:t>Zorgt ervoor dat je niet gaat werken in exact dezelfde branch als waar je hebt gewerkt</a:t>
            </a:r>
          </a:p>
          <a:p>
            <a:r>
              <a:rPr lang="nl-NL" dirty="0" err="1"/>
              <a:t>Concurenten</a:t>
            </a:r>
            <a:r>
              <a:rPr lang="nl-NL" dirty="0"/>
              <a:t> kunnen dan geen bedrijfsgeheimen stelen via jouw aanname.</a:t>
            </a:r>
          </a:p>
          <a:p>
            <a:r>
              <a:rPr lang="nl-NL" dirty="0"/>
              <a:t>Mag niet Sector breed zijn</a:t>
            </a:r>
          </a:p>
          <a:p>
            <a:r>
              <a:rPr lang="nl-NL" dirty="0"/>
              <a:t>Is vaak tijdelijk</a:t>
            </a:r>
          </a:p>
          <a:p>
            <a:r>
              <a:rPr lang="nl-NL" dirty="0"/>
              <a:t>Staat meestal een vertrekbonus tegenover</a:t>
            </a:r>
          </a:p>
        </p:txBody>
      </p:sp>
    </p:spTree>
    <p:extLst>
      <p:ext uri="{BB962C8B-B14F-4D97-AF65-F5344CB8AC3E}">
        <p14:creationId xmlns:p14="http://schemas.microsoft.com/office/powerpoint/2010/main" val="1813862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279CC3-D677-4CE4-2A2D-D9BC9FCDC136}"/>
              </a:ext>
            </a:extLst>
          </p:cNvPr>
          <p:cNvSpPr>
            <a:spLocks noGrp="1"/>
          </p:cNvSpPr>
          <p:nvPr>
            <p:ph type="title"/>
          </p:nvPr>
        </p:nvSpPr>
        <p:spPr/>
        <p:txBody>
          <a:bodyPr/>
          <a:lstStyle/>
          <a:p>
            <a:r>
              <a:rPr lang="nl-NL" dirty="0"/>
              <a:t>Contracten - SDA</a:t>
            </a:r>
          </a:p>
        </p:txBody>
      </p:sp>
      <p:sp>
        <p:nvSpPr>
          <p:cNvPr id="3" name="Tijdelijke aanduiding voor inhoud 2">
            <a:extLst>
              <a:ext uri="{FF2B5EF4-FFF2-40B4-BE49-F238E27FC236}">
                <a16:creationId xmlns:a16="http://schemas.microsoft.com/office/drawing/2014/main" id="{87E75DFC-4C44-E2BE-94A5-6EA569FE8DB1}"/>
              </a:ext>
            </a:extLst>
          </p:cNvPr>
          <p:cNvSpPr>
            <a:spLocks noGrp="1"/>
          </p:cNvSpPr>
          <p:nvPr>
            <p:ph idx="1"/>
          </p:nvPr>
        </p:nvSpPr>
        <p:spPr/>
        <p:txBody>
          <a:bodyPr/>
          <a:lstStyle/>
          <a:p>
            <a:r>
              <a:rPr lang="nl-NL" dirty="0"/>
              <a:t>Software development agreement = Software ontwikkelingsovereenkomst</a:t>
            </a:r>
          </a:p>
          <a:p>
            <a:r>
              <a:rPr lang="nl-NL" dirty="0"/>
              <a:t>Hierin staan de afspraken rondom de te maken software, welke eisen worden gesteld en in welk tijdsframe.</a:t>
            </a:r>
          </a:p>
          <a:p>
            <a:r>
              <a:rPr lang="nl-NL" dirty="0"/>
              <a:t>Is ter bescherming van zowel ontwikkelaar als klant</a:t>
            </a:r>
          </a:p>
          <a:p>
            <a:r>
              <a:rPr lang="nl-NL" dirty="0"/>
              <a:t>Zorgt voor duidelijke afspraken</a:t>
            </a:r>
          </a:p>
          <a:p>
            <a:r>
              <a:rPr lang="nl-NL" dirty="0"/>
              <a:t>Vergelijkbaar met een plan van aanpak</a:t>
            </a:r>
          </a:p>
        </p:txBody>
      </p:sp>
    </p:spTree>
    <p:extLst>
      <p:ext uri="{BB962C8B-B14F-4D97-AF65-F5344CB8AC3E}">
        <p14:creationId xmlns:p14="http://schemas.microsoft.com/office/powerpoint/2010/main" val="1048562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FB23EA-4C72-20D6-0995-CCC0DB815461}"/>
              </a:ext>
            </a:extLst>
          </p:cNvPr>
          <p:cNvSpPr>
            <a:spLocks noGrp="1"/>
          </p:cNvSpPr>
          <p:nvPr>
            <p:ph type="title"/>
          </p:nvPr>
        </p:nvSpPr>
        <p:spPr/>
        <p:txBody>
          <a:bodyPr/>
          <a:lstStyle/>
          <a:p>
            <a:r>
              <a:rPr lang="nl-NL" dirty="0"/>
              <a:t>Contracten - SLA</a:t>
            </a:r>
          </a:p>
        </p:txBody>
      </p:sp>
      <p:sp>
        <p:nvSpPr>
          <p:cNvPr id="3" name="Tijdelijke aanduiding voor inhoud 2">
            <a:extLst>
              <a:ext uri="{FF2B5EF4-FFF2-40B4-BE49-F238E27FC236}">
                <a16:creationId xmlns:a16="http://schemas.microsoft.com/office/drawing/2014/main" id="{7040CDFD-B87E-E6B4-50C5-F8EEA58193F1}"/>
              </a:ext>
            </a:extLst>
          </p:cNvPr>
          <p:cNvSpPr>
            <a:spLocks noGrp="1"/>
          </p:cNvSpPr>
          <p:nvPr>
            <p:ph idx="1"/>
          </p:nvPr>
        </p:nvSpPr>
        <p:spPr/>
        <p:txBody>
          <a:bodyPr/>
          <a:lstStyle/>
          <a:p>
            <a:r>
              <a:rPr lang="nl-NL" dirty="0"/>
              <a:t>Software License agreement = Software licentie overeenkomst</a:t>
            </a:r>
          </a:p>
          <a:p>
            <a:r>
              <a:rPr lang="nl-NL" dirty="0"/>
              <a:t>Een afspraak om een software te mogen gebruiken voor</a:t>
            </a:r>
          </a:p>
          <a:p>
            <a:pPr lvl="1"/>
            <a:r>
              <a:rPr lang="nl-NL" dirty="0"/>
              <a:t>Een bepaalde periode</a:t>
            </a:r>
          </a:p>
          <a:p>
            <a:pPr lvl="1"/>
            <a:r>
              <a:rPr lang="nl-NL" dirty="0"/>
              <a:t>Een bepaalde doeleinde</a:t>
            </a:r>
          </a:p>
          <a:p>
            <a:pPr lvl="1"/>
            <a:r>
              <a:rPr lang="nl-NL" dirty="0"/>
              <a:t>Een bepaalde hoeveelheid mensen</a:t>
            </a:r>
          </a:p>
          <a:p>
            <a:endParaRPr lang="nl-NL" dirty="0"/>
          </a:p>
          <a:p>
            <a:r>
              <a:rPr lang="nl-NL" dirty="0"/>
              <a:t>Dit zijn </a:t>
            </a:r>
            <a:r>
              <a:rPr lang="nl-NL" dirty="0" err="1"/>
              <a:t>softwares</a:t>
            </a:r>
            <a:r>
              <a:rPr lang="nl-NL" dirty="0"/>
              <a:t> die al afgerond zijn en verhuurd worden.</a:t>
            </a:r>
          </a:p>
        </p:txBody>
      </p:sp>
    </p:spTree>
    <p:extLst>
      <p:ext uri="{BB962C8B-B14F-4D97-AF65-F5344CB8AC3E}">
        <p14:creationId xmlns:p14="http://schemas.microsoft.com/office/powerpoint/2010/main" val="3167376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F4C9E1-6263-08E2-3D9D-902F0DD1A69E}"/>
              </a:ext>
            </a:extLst>
          </p:cNvPr>
          <p:cNvSpPr>
            <a:spLocks noGrp="1"/>
          </p:cNvSpPr>
          <p:nvPr>
            <p:ph type="title"/>
          </p:nvPr>
        </p:nvSpPr>
        <p:spPr/>
        <p:txBody>
          <a:bodyPr/>
          <a:lstStyle/>
          <a:p>
            <a:r>
              <a:rPr lang="nl-NL" dirty="0"/>
              <a:t>Contracten - MSA</a:t>
            </a:r>
          </a:p>
        </p:txBody>
      </p:sp>
      <p:sp>
        <p:nvSpPr>
          <p:cNvPr id="3" name="Tijdelijke aanduiding voor inhoud 2">
            <a:extLst>
              <a:ext uri="{FF2B5EF4-FFF2-40B4-BE49-F238E27FC236}">
                <a16:creationId xmlns:a16="http://schemas.microsoft.com/office/drawing/2014/main" id="{EC0A3630-08BD-9A05-1C51-B7D76E56AC1C}"/>
              </a:ext>
            </a:extLst>
          </p:cNvPr>
          <p:cNvSpPr>
            <a:spLocks noGrp="1"/>
          </p:cNvSpPr>
          <p:nvPr>
            <p:ph idx="1"/>
          </p:nvPr>
        </p:nvSpPr>
        <p:spPr/>
        <p:txBody>
          <a:bodyPr/>
          <a:lstStyle/>
          <a:p>
            <a:r>
              <a:rPr lang="nl-NL" dirty="0"/>
              <a:t>Maintenance </a:t>
            </a:r>
            <a:r>
              <a:rPr lang="nl-NL" dirty="0" err="1"/>
              <a:t>and</a:t>
            </a:r>
            <a:r>
              <a:rPr lang="nl-NL" dirty="0"/>
              <a:t> support agreement = onderhoud en ondersteuningsovereenkomst</a:t>
            </a:r>
          </a:p>
          <a:p>
            <a:r>
              <a:rPr lang="nl-NL" dirty="0"/>
              <a:t>Is een afspraak om updates te blijven uitvoeren en ondersteuning te bieden bij problemen</a:t>
            </a:r>
          </a:p>
          <a:p>
            <a:r>
              <a:rPr lang="nl-NL" dirty="0"/>
              <a:t>Of onbetaald met een voorschot binnen development betalingen</a:t>
            </a:r>
          </a:p>
          <a:p>
            <a:r>
              <a:rPr lang="nl-NL" dirty="0"/>
              <a:t>Of kleine maandelijkse bijdrage</a:t>
            </a:r>
          </a:p>
          <a:p>
            <a:r>
              <a:rPr lang="nl-NL" dirty="0"/>
              <a:t>Zorg ervoor dat de MSA een einddatum heeft die gepast is!</a:t>
            </a:r>
          </a:p>
        </p:txBody>
      </p:sp>
    </p:spTree>
    <p:extLst>
      <p:ext uri="{BB962C8B-B14F-4D97-AF65-F5344CB8AC3E}">
        <p14:creationId xmlns:p14="http://schemas.microsoft.com/office/powerpoint/2010/main" val="156601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03D896-DE81-A42A-18E6-CC5B5C826F7F}"/>
              </a:ext>
            </a:extLst>
          </p:cNvPr>
          <p:cNvSpPr>
            <a:spLocks noGrp="1"/>
          </p:cNvSpPr>
          <p:nvPr>
            <p:ph type="title"/>
          </p:nvPr>
        </p:nvSpPr>
        <p:spPr/>
        <p:txBody>
          <a:bodyPr/>
          <a:lstStyle/>
          <a:p>
            <a:r>
              <a:rPr lang="nl-NL" dirty="0"/>
              <a:t>Contracten – The </a:t>
            </a:r>
            <a:r>
              <a:rPr lang="nl-NL" dirty="0" err="1"/>
              <a:t>skipped</a:t>
            </a:r>
            <a:r>
              <a:rPr lang="nl-NL" dirty="0"/>
              <a:t> 4</a:t>
            </a:r>
          </a:p>
        </p:txBody>
      </p:sp>
      <p:sp>
        <p:nvSpPr>
          <p:cNvPr id="3" name="Tijdelijke aanduiding voor inhoud 2">
            <a:extLst>
              <a:ext uri="{FF2B5EF4-FFF2-40B4-BE49-F238E27FC236}">
                <a16:creationId xmlns:a16="http://schemas.microsoft.com/office/drawing/2014/main" id="{75F015B6-0714-7D58-E589-892AB0B1D303}"/>
              </a:ext>
            </a:extLst>
          </p:cNvPr>
          <p:cNvSpPr>
            <a:spLocks noGrp="1"/>
          </p:cNvSpPr>
          <p:nvPr>
            <p:ph idx="1"/>
          </p:nvPr>
        </p:nvSpPr>
        <p:spPr/>
        <p:txBody>
          <a:bodyPr/>
          <a:lstStyle/>
          <a:p>
            <a:r>
              <a:rPr lang="nl-NL" dirty="0" err="1"/>
              <a:t>Terms</a:t>
            </a:r>
            <a:r>
              <a:rPr lang="nl-NL" dirty="0"/>
              <a:t> of service</a:t>
            </a:r>
          </a:p>
          <a:p>
            <a:r>
              <a:rPr lang="nl-NL" dirty="0"/>
              <a:t>Privacy policy</a:t>
            </a:r>
          </a:p>
          <a:p>
            <a:r>
              <a:rPr lang="nl-NL" dirty="0"/>
              <a:t>EULA – end of user </a:t>
            </a:r>
            <a:r>
              <a:rPr lang="nl-NL" dirty="0" err="1"/>
              <a:t>license</a:t>
            </a:r>
            <a:r>
              <a:rPr lang="nl-NL" dirty="0"/>
              <a:t> agreement</a:t>
            </a:r>
          </a:p>
          <a:p>
            <a:r>
              <a:rPr lang="nl-NL" dirty="0"/>
              <a:t>AUP – </a:t>
            </a:r>
            <a:r>
              <a:rPr lang="nl-NL" dirty="0" err="1"/>
              <a:t>acceptable</a:t>
            </a:r>
            <a:r>
              <a:rPr lang="nl-NL" dirty="0"/>
              <a:t> </a:t>
            </a:r>
            <a:r>
              <a:rPr lang="nl-NL" dirty="0" err="1"/>
              <a:t>use</a:t>
            </a:r>
            <a:r>
              <a:rPr lang="nl-NL" dirty="0"/>
              <a:t> </a:t>
            </a:r>
            <a:r>
              <a:rPr lang="nl-NL" dirty="0" err="1"/>
              <a:t>policies</a:t>
            </a:r>
            <a:endParaRPr lang="nl-NL" dirty="0"/>
          </a:p>
        </p:txBody>
      </p:sp>
    </p:spTree>
    <p:extLst>
      <p:ext uri="{BB962C8B-B14F-4D97-AF65-F5344CB8AC3E}">
        <p14:creationId xmlns:p14="http://schemas.microsoft.com/office/powerpoint/2010/main" val="1466940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D51FD-7F82-908C-8B20-78B33E135505}"/>
              </a:ext>
            </a:extLst>
          </p:cNvPr>
          <p:cNvSpPr>
            <a:spLocks noGrp="1"/>
          </p:cNvSpPr>
          <p:nvPr>
            <p:ph type="title"/>
          </p:nvPr>
        </p:nvSpPr>
        <p:spPr/>
        <p:txBody>
          <a:bodyPr/>
          <a:lstStyle/>
          <a:p>
            <a:r>
              <a:rPr lang="nl-NL" dirty="0"/>
              <a:t>Waarom </a:t>
            </a:r>
            <a:r>
              <a:rPr lang="nl-NL" dirty="0" err="1"/>
              <a:t>terms</a:t>
            </a:r>
            <a:r>
              <a:rPr lang="nl-NL" dirty="0"/>
              <a:t> en </a:t>
            </a:r>
            <a:r>
              <a:rPr lang="nl-NL" dirty="0" err="1"/>
              <a:t>conditions</a:t>
            </a:r>
            <a:r>
              <a:rPr lang="nl-NL" dirty="0"/>
              <a:t> soms handig kan zijn, Sommige bedrijven hebben lol.</a:t>
            </a:r>
          </a:p>
        </p:txBody>
      </p:sp>
      <p:sp>
        <p:nvSpPr>
          <p:cNvPr id="4" name="Tekstvak 3">
            <a:extLst>
              <a:ext uri="{FF2B5EF4-FFF2-40B4-BE49-F238E27FC236}">
                <a16:creationId xmlns:a16="http://schemas.microsoft.com/office/drawing/2014/main" id="{6B728458-EA2C-0368-5191-C0F7A0FC46BD}"/>
              </a:ext>
            </a:extLst>
          </p:cNvPr>
          <p:cNvSpPr txBox="1"/>
          <p:nvPr/>
        </p:nvSpPr>
        <p:spPr>
          <a:xfrm>
            <a:off x="5007720" y="1804713"/>
            <a:ext cx="4259018" cy="2031325"/>
          </a:xfrm>
          <a:prstGeom prst="rect">
            <a:avLst/>
          </a:prstGeom>
          <a:noFill/>
        </p:spPr>
        <p:txBody>
          <a:bodyPr wrap="square" rtlCol="0">
            <a:spAutoFit/>
          </a:bodyPr>
          <a:lstStyle/>
          <a:p>
            <a:r>
              <a:rPr lang="en-US" sz="1400" i="1" dirty="0"/>
              <a:t>“However, this restriction will not apply in the event of the occurrence (certified by the United States Centers for Disease Control or successor body) of a widespread viral infection transmitted via bites or contact with bodily fluids that causes human corpses to reanimate and seek to consume living human flesh, blood, brain or nerve tissue and is likely to result in the fall of organized civilization.”</a:t>
            </a:r>
          </a:p>
          <a:p>
            <a:r>
              <a:rPr lang="en-US" sz="1400" i="1" dirty="0"/>
              <a:t>- Amazon Lumber</a:t>
            </a:r>
            <a:endParaRPr lang="nl-NL" sz="1400" dirty="0"/>
          </a:p>
        </p:txBody>
      </p:sp>
      <p:sp>
        <p:nvSpPr>
          <p:cNvPr id="7" name="Tekstvak 6">
            <a:extLst>
              <a:ext uri="{FF2B5EF4-FFF2-40B4-BE49-F238E27FC236}">
                <a16:creationId xmlns:a16="http://schemas.microsoft.com/office/drawing/2014/main" id="{7E4D452E-2822-6EC7-B249-202062043F39}"/>
              </a:ext>
            </a:extLst>
          </p:cNvPr>
          <p:cNvSpPr txBox="1"/>
          <p:nvPr/>
        </p:nvSpPr>
        <p:spPr>
          <a:xfrm>
            <a:off x="1323410" y="4230495"/>
            <a:ext cx="3684310" cy="1600438"/>
          </a:xfrm>
          <a:prstGeom prst="rect">
            <a:avLst/>
          </a:prstGeom>
          <a:noFill/>
        </p:spPr>
        <p:txBody>
          <a:bodyPr wrap="square" rtlCol="0">
            <a:spAutoFit/>
          </a:bodyPr>
          <a:lstStyle/>
          <a:p>
            <a:r>
              <a:rPr lang="en-US" sz="1400" i="1" dirty="0"/>
              <a:t>“You also agree that you will not use these products for any purposes prohibited by United States law, including, without limitation, the development, design, manufacture or production of nuclear, missiles, or chemical or biological weapons.”</a:t>
            </a:r>
          </a:p>
          <a:p>
            <a:r>
              <a:rPr lang="en-US" sz="1400" i="1" dirty="0"/>
              <a:t>- Apple </a:t>
            </a:r>
            <a:r>
              <a:rPr lang="en-US" sz="1400" i="1" dirty="0" err="1"/>
              <a:t>Itunes</a:t>
            </a:r>
            <a:endParaRPr lang="nl-NL" sz="1400" dirty="0"/>
          </a:p>
        </p:txBody>
      </p:sp>
      <p:pic>
        <p:nvPicPr>
          <p:cNvPr id="1026" name="Picture 2" descr="A portion of the EULA for Baldur’s Gate 3: “Additional obligations in Eldritch law [...] Please be wary that in accepting this Pact, you agree to refrain from striking a deal with another creature of Fey, Infernal, or otherwise Eldritch origin. Should you nonetheless not be able to withstand the seductive melody whispered by their malevolent terms, We reserve the right to sever all ties professional or social with the end user, and seek appropriate remedy from the Morninglord.”">
            <a:extLst>
              <a:ext uri="{FF2B5EF4-FFF2-40B4-BE49-F238E27FC236}">
                <a16:creationId xmlns:a16="http://schemas.microsoft.com/office/drawing/2014/main" id="{2D8371A2-FD06-6ECE-B841-1C376F0A9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830" y="1797725"/>
            <a:ext cx="3522588" cy="1682302"/>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657D6DB2-08E3-EC10-EFC1-BAAA93ED1DBA}"/>
              </a:ext>
            </a:extLst>
          </p:cNvPr>
          <p:cNvSpPr txBox="1"/>
          <p:nvPr/>
        </p:nvSpPr>
        <p:spPr>
          <a:xfrm>
            <a:off x="619830" y="3480027"/>
            <a:ext cx="3086865" cy="307777"/>
          </a:xfrm>
          <a:prstGeom prst="rect">
            <a:avLst/>
          </a:prstGeom>
          <a:noFill/>
        </p:spPr>
        <p:txBody>
          <a:bodyPr wrap="square" rtlCol="0">
            <a:spAutoFit/>
          </a:bodyPr>
          <a:lstStyle/>
          <a:p>
            <a:r>
              <a:rPr lang="nl-NL" sz="1400" dirty="0"/>
              <a:t>- </a:t>
            </a:r>
            <a:r>
              <a:rPr lang="nl-NL" sz="1400" dirty="0" err="1"/>
              <a:t>Larian</a:t>
            </a:r>
            <a:r>
              <a:rPr lang="nl-NL" sz="1400" dirty="0"/>
              <a:t> </a:t>
            </a:r>
            <a:r>
              <a:rPr lang="nl-NL" sz="1400" dirty="0" err="1"/>
              <a:t>studios</a:t>
            </a:r>
            <a:r>
              <a:rPr lang="nl-NL" sz="1400" dirty="0"/>
              <a:t> voor </a:t>
            </a:r>
            <a:r>
              <a:rPr lang="nl-NL" sz="1400" dirty="0" err="1"/>
              <a:t>baldur’s</a:t>
            </a:r>
            <a:r>
              <a:rPr lang="nl-NL" sz="1400" dirty="0"/>
              <a:t> gate 3</a:t>
            </a:r>
          </a:p>
        </p:txBody>
      </p:sp>
      <p:sp>
        <p:nvSpPr>
          <p:cNvPr id="9" name="Tekstvak 8">
            <a:extLst>
              <a:ext uri="{FF2B5EF4-FFF2-40B4-BE49-F238E27FC236}">
                <a16:creationId xmlns:a16="http://schemas.microsoft.com/office/drawing/2014/main" id="{21A79E27-4BDD-BE93-B195-6B461229F2DF}"/>
              </a:ext>
            </a:extLst>
          </p:cNvPr>
          <p:cNvSpPr txBox="1"/>
          <p:nvPr/>
        </p:nvSpPr>
        <p:spPr>
          <a:xfrm>
            <a:off x="8757373" y="3787804"/>
            <a:ext cx="2921171" cy="1815882"/>
          </a:xfrm>
          <a:prstGeom prst="rect">
            <a:avLst/>
          </a:prstGeom>
          <a:noFill/>
        </p:spPr>
        <p:txBody>
          <a:bodyPr wrap="square" rtlCol="0">
            <a:spAutoFit/>
          </a:bodyPr>
          <a:lstStyle/>
          <a:p>
            <a:r>
              <a:rPr lang="en-US" sz="1400" dirty="0"/>
              <a:t>"By placing an order via this web site on the first day of the fourth month of the year 2010 Anno Domini, you agree to grant Us a non transferable option to claim, for now and for ever more, your immortal soul“</a:t>
            </a:r>
          </a:p>
          <a:p>
            <a:r>
              <a:rPr lang="en-US" sz="1400" dirty="0"/>
              <a:t>- </a:t>
            </a:r>
            <a:r>
              <a:rPr lang="en-US" sz="1400" dirty="0" err="1"/>
              <a:t>Gamestation</a:t>
            </a:r>
            <a:endParaRPr lang="nl-NL" sz="1400" dirty="0"/>
          </a:p>
        </p:txBody>
      </p:sp>
    </p:spTree>
    <p:extLst>
      <p:ext uri="{BB962C8B-B14F-4D97-AF65-F5344CB8AC3E}">
        <p14:creationId xmlns:p14="http://schemas.microsoft.com/office/powerpoint/2010/main" val="3759368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22B7D1-CA4A-977B-50A3-27A74C9181CE}"/>
              </a:ext>
            </a:extLst>
          </p:cNvPr>
          <p:cNvSpPr>
            <a:spLocks noGrp="1"/>
          </p:cNvSpPr>
          <p:nvPr>
            <p:ph type="title"/>
          </p:nvPr>
        </p:nvSpPr>
        <p:spPr/>
        <p:txBody>
          <a:bodyPr/>
          <a:lstStyle/>
          <a:p>
            <a:r>
              <a:rPr lang="nl-NL" dirty="0"/>
              <a:t>Lokale cyber wetten</a:t>
            </a:r>
          </a:p>
        </p:txBody>
      </p:sp>
      <p:sp>
        <p:nvSpPr>
          <p:cNvPr id="3" name="Tijdelijke aanduiding voor inhoud 2">
            <a:extLst>
              <a:ext uri="{FF2B5EF4-FFF2-40B4-BE49-F238E27FC236}">
                <a16:creationId xmlns:a16="http://schemas.microsoft.com/office/drawing/2014/main" id="{BF4E34F3-7C69-A46E-6EDF-C9472417E8AA}"/>
              </a:ext>
            </a:extLst>
          </p:cNvPr>
          <p:cNvSpPr>
            <a:spLocks noGrp="1"/>
          </p:cNvSpPr>
          <p:nvPr>
            <p:ph idx="1"/>
          </p:nvPr>
        </p:nvSpPr>
        <p:spPr/>
        <p:txBody>
          <a:bodyPr/>
          <a:lstStyle/>
          <a:p>
            <a:endParaRPr lang="nl-NL" dirty="0"/>
          </a:p>
        </p:txBody>
      </p:sp>
      <p:pic>
        <p:nvPicPr>
          <p:cNvPr id="4" name="Afbeelding 3" descr="Vlag van Nederland - Wikipedia">
            <a:extLst>
              <a:ext uri="{FF2B5EF4-FFF2-40B4-BE49-F238E27FC236}">
                <a16:creationId xmlns:a16="http://schemas.microsoft.com/office/drawing/2014/main" id="{9078A830-834F-7E5B-DD54-333DD6B9C2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8918" y="3546390"/>
            <a:ext cx="3166518" cy="2112874"/>
          </a:xfrm>
          <a:prstGeom prst="rect">
            <a:avLst/>
          </a:prstGeom>
          <a:noFill/>
          <a:ln>
            <a:noFill/>
          </a:ln>
        </p:spPr>
      </p:pic>
      <p:pic>
        <p:nvPicPr>
          <p:cNvPr id="5" name="Afbeelding 4">
            <a:extLst>
              <a:ext uri="{FF2B5EF4-FFF2-40B4-BE49-F238E27FC236}">
                <a16:creationId xmlns:a16="http://schemas.microsoft.com/office/drawing/2014/main" id="{7D92D60A-A352-B9D2-1D58-C20232358DD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038" t="21242" r="7486" b="21933"/>
          <a:stretch>
            <a:fillRect/>
          </a:stretch>
        </p:blipFill>
        <p:spPr bwMode="auto">
          <a:xfrm>
            <a:off x="4442441" y="1416326"/>
            <a:ext cx="3243461" cy="2156203"/>
          </a:xfrm>
          <a:prstGeom prst="rect">
            <a:avLst/>
          </a:prstGeom>
          <a:noFill/>
          <a:ln>
            <a:noFill/>
          </a:ln>
          <a:extLst>
            <a:ext uri="{53640926-AAD7-44D8-BBD7-CCE9431645EC}">
              <a14:shadowObscured xmlns:a14="http://schemas.microsoft.com/office/drawing/2010/main"/>
            </a:ext>
          </a:extLst>
        </p:spPr>
      </p:pic>
      <p:pic>
        <p:nvPicPr>
          <p:cNvPr id="6" name="Afbeelding 5" descr="Vlag van de Volksrepubliek China - Wikipedia">
            <a:extLst>
              <a:ext uri="{FF2B5EF4-FFF2-40B4-BE49-F238E27FC236}">
                <a16:creationId xmlns:a16="http://schemas.microsoft.com/office/drawing/2014/main" id="{9B174A49-B420-1EFF-A56E-21E0131EDEE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75329" y="3761846"/>
            <a:ext cx="2909828" cy="1941597"/>
          </a:xfrm>
          <a:prstGeom prst="rect">
            <a:avLst/>
          </a:prstGeom>
          <a:noFill/>
          <a:ln>
            <a:noFill/>
          </a:ln>
        </p:spPr>
      </p:pic>
    </p:spTree>
    <p:extLst>
      <p:ext uri="{BB962C8B-B14F-4D97-AF65-F5344CB8AC3E}">
        <p14:creationId xmlns:p14="http://schemas.microsoft.com/office/powerpoint/2010/main" val="823681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5C995-4E8A-399A-FDEE-60ADE9E0E57F}"/>
              </a:ext>
            </a:extLst>
          </p:cNvPr>
          <p:cNvSpPr>
            <a:spLocks noGrp="1"/>
          </p:cNvSpPr>
          <p:nvPr>
            <p:ph type="title"/>
          </p:nvPr>
        </p:nvSpPr>
        <p:spPr/>
        <p:txBody>
          <a:bodyPr/>
          <a:lstStyle/>
          <a:p>
            <a:r>
              <a:rPr lang="nl-NL" dirty="0"/>
              <a:t>Nederlandse cyber wetten</a:t>
            </a:r>
          </a:p>
        </p:txBody>
      </p:sp>
      <p:sp>
        <p:nvSpPr>
          <p:cNvPr id="3" name="Tijdelijke aanduiding voor inhoud 2">
            <a:extLst>
              <a:ext uri="{FF2B5EF4-FFF2-40B4-BE49-F238E27FC236}">
                <a16:creationId xmlns:a16="http://schemas.microsoft.com/office/drawing/2014/main" id="{A7D3B090-BBEA-80E2-A981-0ABFB34C2780}"/>
              </a:ext>
            </a:extLst>
          </p:cNvPr>
          <p:cNvSpPr>
            <a:spLocks noGrp="1"/>
          </p:cNvSpPr>
          <p:nvPr>
            <p:ph idx="1"/>
          </p:nvPr>
        </p:nvSpPr>
        <p:spPr/>
        <p:txBody>
          <a:bodyPr>
            <a:normAutofit fontScale="92500" lnSpcReduction="20000"/>
          </a:bodyPr>
          <a:lstStyle/>
          <a:p>
            <a:r>
              <a:rPr lang="nl-NL" dirty="0"/>
              <a:t>Veel overlap met de Europese wetten</a:t>
            </a:r>
          </a:p>
          <a:p>
            <a:endParaRPr lang="nl-NL" dirty="0"/>
          </a:p>
          <a:p>
            <a:r>
              <a:rPr lang="nl-NL" dirty="0"/>
              <a:t>Wet Computer criminaliteit 3</a:t>
            </a:r>
          </a:p>
          <a:p>
            <a:pPr lvl="1"/>
            <a:r>
              <a:rPr lang="nl-NL" dirty="0"/>
              <a:t>De uitvoerende lokale wet die de NIS2 en AVG ondersteund en uitbreid</a:t>
            </a:r>
          </a:p>
          <a:p>
            <a:pPr lvl="1"/>
            <a:r>
              <a:rPr lang="nl-NL" dirty="0"/>
              <a:t>Deze wet laat politie en de geheime dienst toe om computers te hacken van verdachte individuen.</a:t>
            </a:r>
          </a:p>
          <a:p>
            <a:r>
              <a:rPr lang="nl-NL" dirty="0"/>
              <a:t>De Kansspelwetgeving</a:t>
            </a:r>
          </a:p>
          <a:p>
            <a:pPr lvl="1"/>
            <a:r>
              <a:rPr lang="nl-NL" dirty="0"/>
              <a:t>Gaat over de regels waar kansspelen zoals </a:t>
            </a:r>
            <a:r>
              <a:rPr lang="nl-NL" dirty="0" err="1"/>
              <a:t>casinos</a:t>
            </a:r>
            <a:r>
              <a:rPr lang="nl-NL" dirty="0"/>
              <a:t> zich aan moeten houden.</a:t>
            </a:r>
          </a:p>
          <a:p>
            <a:pPr lvl="1"/>
            <a:r>
              <a:rPr lang="nl-NL" dirty="0"/>
              <a:t>Deze wetten worden aangescherpt voor enkele games die </a:t>
            </a:r>
            <a:r>
              <a:rPr lang="nl-NL" dirty="0" err="1"/>
              <a:t>lootboxes</a:t>
            </a:r>
            <a:r>
              <a:rPr lang="nl-NL" dirty="0"/>
              <a:t> hebben.</a:t>
            </a:r>
          </a:p>
          <a:p>
            <a:pPr lvl="1"/>
            <a:r>
              <a:rPr lang="nl-NL" dirty="0" err="1"/>
              <a:t>Belgie</a:t>
            </a:r>
            <a:r>
              <a:rPr lang="nl-NL" dirty="0"/>
              <a:t> is hier al verder mee</a:t>
            </a:r>
          </a:p>
          <a:p>
            <a:pPr lvl="1"/>
            <a:r>
              <a:rPr lang="nl-NL" dirty="0"/>
              <a:t>Een voorbeeld van een geblokkeerde game: Pokémon pocket</a:t>
            </a:r>
          </a:p>
        </p:txBody>
      </p:sp>
      <p:pic>
        <p:nvPicPr>
          <p:cNvPr id="4" name="Afbeelding 3" descr="Vlag van Nederland - Wikipedia">
            <a:extLst>
              <a:ext uri="{FF2B5EF4-FFF2-40B4-BE49-F238E27FC236}">
                <a16:creationId xmlns:a16="http://schemas.microsoft.com/office/drawing/2014/main" id="{FE1CC906-4103-9735-DE44-6E9F4050DC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38907" y="230188"/>
            <a:ext cx="1799590" cy="1200785"/>
          </a:xfrm>
          <a:prstGeom prst="rect">
            <a:avLst/>
          </a:prstGeom>
          <a:noFill/>
          <a:ln>
            <a:noFill/>
          </a:ln>
        </p:spPr>
      </p:pic>
    </p:spTree>
    <p:extLst>
      <p:ext uri="{BB962C8B-B14F-4D97-AF65-F5344CB8AC3E}">
        <p14:creationId xmlns:p14="http://schemas.microsoft.com/office/powerpoint/2010/main" val="3746784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3D0D47-65DD-0D14-7049-CD3465BCF8CB}"/>
              </a:ext>
            </a:extLst>
          </p:cNvPr>
          <p:cNvSpPr>
            <a:spLocks noGrp="1"/>
          </p:cNvSpPr>
          <p:nvPr>
            <p:ph type="title"/>
          </p:nvPr>
        </p:nvSpPr>
        <p:spPr/>
        <p:txBody>
          <a:bodyPr/>
          <a:lstStyle/>
          <a:p>
            <a:r>
              <a:rPr lang="nl-NL" dirty="0"/>
              <a:t>Amerikaanse cyber wetten</a:t>
            </a:r>
          </a:p>
        </p:txBody>
      </p:sp>
      <p:sp>
        <p:nvSpPr>
          <p:cNvPr id="3" name="Tijdelijke aanduiding voor inhoud 2">
            <a:extLst>
              <a:ext uri="{FF2B5EF4-FFF2-40B4-BE49-F238E27FC236}">
                <a16:creationId xmlns:a16="http://schemas.microsoft.com/office/drawing/2014/main" id="{1F405903-6849-D9C4-3E45-651C8C01700C}"/>
              </a:ext>
            </a:extLst>
          </p:cNvPr>
          <p:cNvSpPr>
            <a:spLocks noGrp="1"/>
          </p:cNvSpPr>
          <p:nvPr>
            <p:ph idx="1"/>
          </p:nvPr>
        </p:nvSpPr>
        <p:spPr/>
        <p:txBody>
          <a:bodyPr/>
          <a:lstStyle/>
          <a:p>
            <a:r>
              <a:rPr lang="nl-NL" dirty="0"/>
              <a:t>Regering eerst, bedrijven tweede, bevolking laatste</a:t>
            </a:r>
          </a:p>
          <a:p>
            <a:r>
              <a:rPr lang="nl-NL" dirty="0"/>
              <a:t>Amerikaanse wetten hebben enige overlap met de Europese wetten maar een focus op regering.</a:t>
            </a:r>
          </a:p>
          <a:p>
            <a:r>
              <a:rPr lang="nl-NL" dirty="0"/>
              <a:t>De Amerikaanse </a:t>
            </a:r>
            <a:r>
              <a:rPr lang="nl-NL" dirty="0" err="1"/>
              <a:t>tech</a:t>
            </a:r>
            <a:r>
              <a:rPr lang="nl-NL" dirty="0"/>
              <a:t> markt is groot en vele van de grote spelers bevinden zich in Amerika.</a:t>
            </a:r>
          </a:p>
          <a:p>
            <a:endParaRPr lang="nl-NL" dirty="0"/>
          </a:p>
          <a:p>
            <a:r>
              <a:rPr lang="nl-NL" dirty="0"/>
              <a:t>Belangrijke wetten: HIPAA, FISMA en NIST cybersecurity</a:t>
            </a:r>
          </a:p>
        </p:txBody>
      </p:sp>
      <p:pic>
        <p:nvPicPr>
          <p:cNvPr id="4" name="Afbeelding 3">
            <a:extLst>
              <a:ext uri="{FF2B5EF4-FFF2-40B4-BE49-F238E27FC236}">
                <a16:creationId xmlns:a16="http://schemas.microsoft.com/office/drawing/2014/main" id="{9029C1E2-C4EE-4E7D-83AB-4A2AB8603DD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038" t="21242" r="7486" b="21933"/>
          <a:stretch>
            <a:fillRect/>
          </a:stretch>
        </p:blipFill>
        <p:spPr bwMode="auto">
          <a:xfrm>
            <a:off x="10172242" y="230188"/>
            <a:ext cx="1799590" cy="11963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66924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0B6F-5444-78DF-7AE5-EDB00AE223D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6B93643-6B61-5BA2-42E6-6FA847BE8A96}"/>
              </a:ext>
            </a:extLst>
          </p:cNvPr>
          <p:cNvSpPr>
            <a:spLocks noGrp="1"/>
          </p:cNvSpPr>
          <p:nvPr>
            <p:ph type="title"/>
          </p:nvPr>
        </p:nvSpPr>
        <p:spPr/>
        <p:txBody>
          <a:bodyPr/>
          <a:lstStyle/>
          <a:p>
            <a:r>
              <a:rPr lang="nl-NL" dirty="0"/>
              <a:t>Amerikaanse cyber wetten - HIPAA</a:t>
            </a:r>
          </a:p>
        </p:txBody>
      </p:sp>
      <p:sp>
        <p:nvSpPr>
          <p:cNvPr id="3" name="Tijdelijke aanduiding voor inhoud 2">
            <a:extLst>
              <a:ext uri="{FF2B5EF4-FFF2-40B4-BE49-F238E27FC236}">
                <a16:creationId xmlns:a16="http://schemas.microsoft.com/office/drawing/2014/main" id="{01ED5431-E0D2-BD6C-BDF1-686DA9A9DD7E}"/>
              </a:ext>
            </a:extLst>
          </p:cNvPr>
          <p:cNvSpPr>
            <a:spLocks noGrp="1"/>
          </p:cNvSpPr>
          <p:nvPr>
            <p:ph idx="1"/>
          </p:nvPr>
        </p:nvSpPr>
        <p:spPr/>
        <p:txBody>
          <a:bodyPr/>
          <a:lstStyle/>
          <a:p>
            <a:r>
              <a:rPr lang="nl-NL"/>
              <a:t>HIPAA  </a:t>
            </a:r>
            <a:r>
              <a:rPr lang="nl-NL" dirty="0"/>
              <a:t>= </a:t>
            </a:r>
            <a:r>
              <a:rPr lang="en-US" dirty="0"/>
              <a:t>Health Insurance Portability and Accountability Act</a:t>
            </a:r>
          </a:p>
          <a:p>
            <a:r>
              <a:rPr lang="en-US" dirty="0" err="1"/>
              <a:t>Origineel</a:t>
            </a:r>
            <a:r>
              <a:rPr lang="en-US" dirty="0"/>
              <a:t> </a:t>
            </a:r>
            <a:r>
              <a:rPr lang="en-US" dirty="0" err="1"/>
              <a:t>gesproken</a:t>
            </a:r>
            <a:r>
              <a:rPr lang="en-US" dirty="0"/>
              <a:t> </a:t>
            </a:r>
            <a:r>
              <a:rPr lang="en-US" dirty="0" err="1"/>
              <a:t>een</a:t>
            </a:r>
            <a:r>
              <a:rPr lang="en-US" dirty="0"/>
              <a:t> </a:t>
            </a:r>
            <a:r>
              <a:rPr lang="en-US" dirty="0" err="1"/>
              <a:t>verzekeringswet</a:t>
            </a:r>
            <a:r>
              <a:rPr lang="en-US" dirty="0"/>
              <a:t> </a:t>
            </a:r>
            <a:r>
              <a:rPr lang="en-US" dirty="0" err="1"/>
              <a:t>voor</a:t>
            </a:r>
            <a:r>
              <a:rPr lang="en-US" dirty="0"/>
              <a:t> </a:t>
            </a:r>
            <a:r>
              <a:rPr lang="en-US" dirty="0" err="1"/>
              <a:t>gezondheidszorg</a:t>
            </a:r>
            <a:endParaRPr lang="en-US" dirty="0"/>
          </a:p>
          <a:p>
            <a:r>
              <a:rPr lang="nl-NL" dirty="0"/>
              <a:t>Later uitgebreid om de gegevens van zowel patiënten als de regering te beschermen.</a:t>
            </a:r>
          </a:p>
          <a:p>
            <a:r>
              <a:rPr lang="nl-NL" dirty="0"/>
              <a:t>Concrete wetten over encryptie, beveiliging en toegang tot netwerken en data.</a:t>
            </a:r>
          </a:p>
          <a:p>
            <a:r>
              <a:rPr lang="nl-NL" dirty="0"/>
              <a:t>HIPAA vereist ook reguliere inspecties</a:t>
            </a:r>
          </a:p>
        </p:txBody>
      </p:sp>
      <p:pic>
        <p:nvPicPr>
          <p:cNvPr id="4" name="Afbeelding 3">
            <a:extLst>
              <a:ext uri="{FF2B5EF4-FFF2-40B4-BE49-F238E27FC236}">
                <a16:creationId xmlns:a16="http://schemas.microsoft.com/office/drawing/2014/main" id="{E33058F9-DDA1-8F10-6401-9174CA1EF24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038" t="21242" r="7486" b="21933"/>
          <a:stretch>
            <a:fillRect/>
          </a:stretch>
        </p:blipFill>
        <p:spPr bwMode="auto">
          <a:xfrm>
            <a:off x="10172242" y="230188"/>
            <a:ext cx="1799590" cy="11963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86683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C79F-F405-312A-45A4-A3513824ED7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1B4ADD-E4A9-F998-3E8F-0F6666D32A5A}"/>
              </a:ext>
            </a:extLst>
          </p:cNvPr>
          <p:cNvSpPr>
            <a:spLocks noGrp="1"/>
          </p:cNvSpPr>
          <p:nvPr>
            <p:ph type="title"/>
          </p:nvPr>
        </p:nvSpPr>
        <p:spPr/>
        <p:txBody>
          <a:bodyPr/>
          <a:lstStyle/>
          <a:p>
            <a:r>
              <a:rPr lang="nl-NL" dirty="0"/>
              <a:t>Amerikaanse cyber wetten - FISMA</a:t>
            </a:r>
          </a:p>
        </p:txBody>
      </p:sp>
      <p:sp>
        <p:nvSpPr>
          <p:cNvPr id="3" name="Tijdelijke aanduiding voor inhoud 2">
            <a:extLst>
              <a:ext uri="{FF2B5EF4-FFF2-40B4-BE49-F238E27FC236}">
                <a16:creationId xmlns:a16="http://schemas.microsoft.com/office/drawing/2014/main" id="{ADA6820C-3DC3-E0DD-5F91-307E2249D750}"/>
              </a:ext>
            </a:extLst>
          </p:cNvPr>
          <p:cNvSpPr>
            <a:spLocks noGrp="1"/>
          </p:cNvSpPr>
          <p:nvPr>
            <p:ph idx="1"/>
          </p:nvPr>
        </p:nvSpPr>
        <p:spPr/>
        <p:txBody>
          <a:bodyPr/>
          <a:lstStyle/>
          <a:p>
            <a:r>
              <a:rPr lang="nl-NL" dirty="0"/>
              <a:t>FISMA = </a:t>
            </a:r>
            <a:r>
              <a:rPr lang="en-US" dirty="0"/>
              <a:t>Federal Information Security Modernization Act</a:t>
            </a:r>
            <a:endParaRPr lang="nl-NL" dirty="0"/>
          </a:p>
          <a:p>
            <a:r>
              <a:rPr lang="nl-NL" dirty="0"/>
              <a:t>De NIS2 van Amerika voor de regering en de externe ontwikkelaars. </a:t>
            </a:r>
          </a:p>
          <a:p>
            <a:r>
              <a:rPr lang="nl-NL" dirty="0"/>
              <a:t>FISMA is bedoeld om veilige IT systemen te bouwen, onderhouden en benutten</a:t>
            </a:r>
          </a:p>
          <a:p>
            <a:r>
              <a:rPr lang="nl-NL" dirty="0"/>
              <a:t>FISMA vereist een 48 uur melding bij </a:t>
            </a:r>
            <a:r>
              <a:rPr lang="nl-NL" dirty="0" err="1"/>
              <a:t>datalek</a:t>
            </a:r>
            <a:r>
              <a:rPr lang="nl-NL" dirty="0"/>
              <a:t> of hack, NIS2 is 24 uur.</a:t>
            </a:r>
          </a:p>
        </p:txBody>
      </p:sp>
      <p:pic>
        <p:nvPicPr>
          <p:cNvPr id="4" name="Afbeelding 3">
            <a:extLst>
              <a:ext uri="{FF2B5EF4-FFF2-40B4-BE49-F238E27FC236}">
                <a16:creationId xmlns:a16="http://schemas.microsoft.com/office/drawing/2014/main" id="{11C3E3D4-C65B-B57B-EB3E-629051347A3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038" t="21242" r="7486" b="21933"/>
          <a:stretch>
            <a:fillRect/>
          </a:stretch>
        </p:blipFill>
        <p:spPr bwMode="auto">
          <a:xfrm>
            <a:off x="10172242" y="230188"/>
            <a:ext cx="1799590" cy="11963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78868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7280-C570-15FD-95D1-694290E3895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506BB7-AC34-FEB8-E7F6-E8A4D333B817}"/>
              </a:ext>
            </a:extLst>
          </p:cNvPr>
          <p:cNvSpPr>
            <a:spLocks noGrp="1"/>
          </p:cNvSpPr>
          <p:nvPr>
            <p:ph type="title"/>
          </p:nvPr>
        </p:nvSpPr>
        <p:spPr/>
        <p:txBody>
          <a:bodyPr/>
          <a:lstStyle/>
          <a:p>
            <a:r>
              <a:rPr lang="nl-NL" dirty="0"/>
              <a:t>Amerikaanse cyber wetten - NIST</a:t>
            </a:r>
          </a:p>
        </p:txBody>
      </p:sp>
      <p:sp>
        <p:nvSpPr>
          <p:cNvPr id="3" name="Tijdelijke aanduiding voor inhoud 2">
            <a:extLst>
              <a:ext uri="{FF2B5EF4-FFF2-40B4-BE49-F238E27FC236}">
                <a16:creationId xmlns:a16="http://schemas.microsoft.com/office/drawing/2014/main" id="{CF1F6CBB-33CE-124A-AD51-AA916663B42F}"/>
              </a:ext>
            </a:extLst>
          </p:cNvPr>
          <p:cNvSpPr>
            <a:spLocks noGrp="1"/>
          </p:cNvSpPr>
          <p:nvPr>
            <p:ph idx="1"/>
          </p:nvPr>
        </p:nvSpPr>
        <p:spPr/>
        <p:txBody>
          <a:bodyPr/>
          <a:lstStyle/>
          <a:p>
            <a:r>
              <a:rPr lang="nl-NL" dirty="0"/>
              <a:t>NIST = </a:t>
            </a:r>
            <a:r>
              <a:rPr lang="en-US" dirty="0"/>
              <a:t>National Institute of Standards and Technology</a:t>
            </a:r>
          </a:p>
          <a:p>
            <a:r>
              <a:rPr lang="nl-NL" noProof="0" dirty="0"/>
              <a:t>Dit is het controle orgaan en de template bouwer van de Cyber beveiliging binnen Amerika.</a:t>
            </a:r>
          </a:p>
          <a:p>
            <a:r>
              <a:rPr lang="nl-NL" noProof="0" dirty="0"/>
              <a:t>Voldoe je niet aan de NIST dan kan je geen grote projecten draaien binnen Amerika.</a:t>
            </a:r>
          </a:p>
          <a:p>
            <a:endParaRPr lang="nl-NL" dirty="0"/>
          </a:p>
        </p:txBody>
      </p:sp>
      <p:pic>
        <p:nvPicPr>
          <p:cNvPr id="4" name="Afbeelding 3">
            <a:extLst>
              <a:ext uri="{FF2B5EF4-FFF2-40B4-BE49-F238E27FC236}">
                <a16:creationId xmlns:a16="http://schemas.microsoft.com/office/drawing/2014/main" id="{6E9652E5-B90B-954E-E205-A426CE028A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038" t="21242" r="7486" b="21933"/>
          <a:stretch>
            <a:fillRect/>
          </a:stretch>
        </p:blipFill>
        <p:spPr bwMode="auto">
          <a:xfrm>
            <a:off x="10172242" y="230188"/>
            <a:ext cx="1799590" cy="11963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42393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C38654-9BFE-6DBF-9EB1-DBA9362B47B8}"/>
              </a:ext>
            </a:extLst>
          </p:cNvPr>
          <p:cNvSpPr>
            <a:spLocks noGrp="1"/>
          </p:cNvSpPr>
          <p:nvPr>
            <p:ph type="title"/>
          </p:nvPr>
        </p:nvSpPr>
        <p:spPr/>
        <p:txBody>
          <a:bodyPr/>
          <a:lstStyle/>
          <a:p>
            <a:r>
              <a:rPr lang="nl-NL" dirty="0"/>
              <a:t>Chinese Cyber wetten</a:t>
            </a:r>
          </a:p>
        </p:txBody>
      </p:sp>
      <p:sp>
        <p:nvSpPr>
          <p:cNvPr id="3" name="Tijdelijke aanduiding voor inhoud 2">
            <a:extLst>
              <a:ext uri="{FF2B5EF4-FFF2-40B4-BE49-F238E27FC236}">
                <a16:creationId xmlns:a16="http://schemas.microsoft.com/office/drawing/2014/main" id="{4014A5A6-7CCF-18A5-C565-E0A723ED3C62}"/>
              </a:ext>
            </a:extLst>
          </p:cNvPr>
          <p:cNvSpPr>
            <a:spLocks noGrp="1"/>
          </p:cNvSpPr>
          <p:nvPr>
            <p:ph idx="1"/>
          </p:nvPr>
        </p:nvSpPr>
        <p:spPr/>
        <p:txBody>
          <a:bodyPr/>
          <a:lstStyle/>
          <a:p>
            <a:r>
              <a:rPr lang="nl-NL" dirty="0"/>
              <a:t>China heeft net als Amerika een Regering eerst mentaliteit.</a:t>
            </a:r>
          </a:p>
          <a:p>
            <a:r>
              <a:rPr lang="nl-NL" dirty="0"/>
              <a:t>Chinese cyber wetten gaan soms verder dan Europese maar zijn vaak ook vager met uitweggetjes voor de regering.</a:t>
            </a:r>
          </a:p>
          <a:p>
            <a:r>
              <a:rPr lang="nl-NL" dirty="0"/>
              <a:t>China is een grootmacht op het gebied van </a:t>
            </a:r>
            <a:r>
              <a:rPr lang="nl-NL" dirty="0" err="1"/>
              <a:t>tech</a:t>
            </a:r>
            <a:r>
              <a:rPr lang="nl-NL" dirty="0"/>
              <a:t> gebruik en productie en daarom belangrijk voor wetgeving</a:t>
            </a:r>
          </a:p>
          <a:p>
            <a:endParaRPr lang="nl-NL" dirty="0"/>
          </a:p>
          <a:p>
            <a:r>
              <a:rPr lang="nl-NL" dirty="0"/>
              <a:t>De belangrijkste wetten om te kennen zijn: PIPL en CSL</a:t>
            </a:r>
          </a:p>
        </p:txBody>
      </p:sp>
      <p:pic>
        <p:nvPicPr>
          <p:cNvPr id="4" name="Afbeelding 3" descr="Vlag van de Volksrepubliek China - Wikipedia">
            <a:extLst>
              <a:ext uri="{FF2B5EF4-FFF2-40B4-BE49-F238E27FC236}">
                <a16:creationId xmlns:a16="http://schemas.microsoft.com/office/drawing/2014/main" id="{7A411B7E-7F26-9907-625C-4E3C3EEC64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86634" y="134834"/>
            <a:ext cx="2226004" cy="1485311"/>
          </a:xfrm>
          <a:prstGeom prst="rect">
            <a:avLst/>
          </a:prstGeom>
          <a:noFill/>
          <a:ln>
            <a:noFill/>
          </a:ln>
        </p:spPr>
      </p:pic>
    </p:spTree>
    <p:extLst>
      <p:ext uri="{BB962C8B-B14F-4D97-AF65-F5344CB8AC3E}">
        <p14:creationId xmlns:p14="http://schemas.microsoft.com/office/powerpoint/2010/main" val="833630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B76E-C35C-8068-A0F8-16F61144C91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4B880A-C65E-CC10-488F-34DDE7FBF799}"/>
              </a:ext>
            </a:extLst>
          </p:cNvPr>
          <p:cNvSpPr>
            <a:spLocks noGrp="1"/>
          </p:cNvSpPr>
          <p:nvPr>
            <p:ph type="title"/>
          </p:nvPr>
        </p:nvSpPr>
        <p:spPr/>
        <p:txBody>
          <a:bodyPr/>
          <a:lstStyle/>
          <a:p>
            <a:r>
              <a:rPr lang="nl-NL" dirty="0"/>
              <a:t>Chinese Cyber wetten - PIPL</a:t>
            </a:r>
          </a:p>
        </p:txBody>
      </p:sp>
      <p:sp>
        <p:nvSpPr>
          <p:cNvPr id="3" name="Tijdelijke aanduiding voor inhoud 2">
            <a:extLst>
              <a:ext uri="{FF2B5EF4-FFF2-40B4-BE49-F238E27FC236}">
                <a16:creationId xmlns:a16="http://schemas.microsoft.com/office/drawing/2014/main" id="{5E59BC72-8307-516C-6BDD-C647882A5C02}"/>
              </a:ext>
            </a:extLst>
          </p:cNvPr>
          <p:cNvSpPr>
            <a:spLocks noGrp="1"/>
          </p:cNvSpPr>
          <p:nvPr>
            <p:ph idx="1"/>
          </p:nvPr>
        </p:nvSpPr>
        <p:spPr/>
        <p:txBody>
          <a:bodyPr>
            <a:normAutofit/>
          </a:bodyPr>
          <a:lstStyle/>
          <a:p>
            <a:r>
              <a:rPr lang="nl-NL" dirty="0"/>
              <a:t>PIPL = Personal Information </a:t>
            </a:r>
            <a:r>
              <a:rPr lang="nl-NL" dirty="0" err="1"/>
              <a:t>Protection</a:t>
            </a:r>
            <a:r>
              <a:rPr lang="nl-NL" dirty="0"/>
              <a:t> </a:t>
            </a:r>
            <a:r>
              <a:rPr lang="nl-NL" dirty="0" err="1"/>
              <a:t>Law</a:t>
            </a:r>
            <a:endParaRPr lang="nl-NL" dirty="0"/>
          </a:p>
          <a:p>
            <a:r>
              <a:rPr lang="nl-NL" dirty="0"/>
              <a:t>De GDPR wet van China</a:t>
            </a:r>
          </a:p>
          <a:p>
            <a:r>
              <a:rPr lang="nl-NL" dirty="0"/>
              <a:t>Bescherming van persoonsgegeven over heel de het Chinese volk</a:t>
            </a:r>
          </a:p>
          <a:p>
            <a:r>
              <a:rPr lang="nl-NL" dirty="0"/>
              <a:t>Bevat wetten over hoe bedrijven moeten omgaan met data</a:t>
            </a:r>
          </a:p>
          <a:p>
            <a:r>
              <a:rPr lang="nl-NL" dirty="0"/>
              <a:t>Extra wet in PIPL: Chinese data naar buitenlandse derde vereist 3 controles. Bij EU is dat 2.</a:t>
            </a:r>
          </a:p>
          <a:p>
            <a:r>
              <a:rPr lang="nl-NL" dirty="0"/>
              <a:t>PIPL -&gt; bijna ongelimiteerde toegang voor de Chinese overheid voor data.</a:t>
            </a:r>
          </a:p>
        </p:txBody>
      </p:sp>
      <p:pic>
        <p:nvPicPr>
          <p:cNvPr id="4" name="Afbeelding 3" descr="Vlag van de Volksrepubliek China - Wikipedia">
            <a:extLst>
              <a:ext uri="{FF2B5EF4-FFF2-40B4-BE49-F238E27FC236}">
                <a16:creationId xmlns:a16="http://schemas.microsoft.com/office/drawing/2014/main" id="{F6792C5C-34F1-04EF-0839-A414E5243DB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86634" y="134834"/>
            <a:ext cx="2226004" cy="1485311"/>
          </a:xfrm>
          <a:prstGeom prst="rect">
            <a:avLst/>
          </a:prstGeom>
          <a:noFill/>
          <a:ln>
            <a:noFill/>
          </a:ln>
        </p:spPr>
      </p:pic>
    </p:spTree>
    <p:extLst>
      <p:ext uri="{BB962C8B-B14F-4D97-AF65-F5344CB8AC3E}">
        <p14:creationId xmlns:p14="http://schemas.microsoft.com/office/powerpoint/2010/main" val="3160539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911BB-668C-88D3-83B9-F82F0FAECE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B27365-F943-5CF0-13D3-72DC9A1C7975}"/>
              </a:ext>
            </a:extLst>
          </p:cNvPr>
          <p:cNvSpPr>
            <a:spLocks noGrp="1"/>
          </p:cNvSpPr>
          <p:nvPr>
            <p:ph type="title"/>
          </p:nvPr>
        </p:nvSpPr>
        <p:spPr/>
        <p:txBody>
          <a:bodyPr/>
          <a:lstStyle/>
          <a:p>
            <a:r>
              <a:rPr lang="nl-NL" dirty="0"/>
              <a:t>Chinese Cyber wetten - CSL</a:t>
            </a:r>
          </a:p>
        </p:txBody>
      </p:sp>
      <p:sp>
        <p:nvSpPr>
          <p:cNvPr id="3" name="Tijdelijke aanduiding voor inhoud 2">
            <a:extLst>
              <a:ext uri="{FF2B5EF4-FFF2-40B4-BE49-F238E27FC236}">
                <a16:creationId xmlns:a16="http://schemas.microsoft.com/office/drawing/2014/main" id="{BF902A8C-480C-6DF1-745F-5585A9A39383}"/>
              </a:ext>
            </a:extLst>
          </p:cNvPr>
          <p:cNvSpPr>
            <a:spLocks noGrp="1"/>
          </p:cNvSpPr>
          <p:nvPr>
            <p:ph idx="1"/>
          </p:nvPr>
        </p:nvSpPr>
        <p:spPr/>
        <p:txBody>
          <a:bodyPr/>
          <a:lstStyle/>
          <a:p>
            <a:r>
              <a:rPr lang="nl-NL" dirty="0"/>
              <a:t>CSL = Cyber security </a:t>
            </a:r>
            <a:r>
              <a:rPr lang="nl-NL" dirty="0" err="1"/>
              <a:t>law</a:t>
            </a:r>
            <a:br>
              <a:rPr lang="nl-NL" dirty="0"/>
            </a:br>
            <a:r>
              <a:rPr lang="nl-NL" dirty="0"/>
              <a:t>veel wetten hierin gaan over staat en volk veiligheid. </a:t>
            </a:r>
          </a:p>
          <a:p>
            <a:endParaRPr lang="nl-NL" dirty="0"/>
          </a:p>
          <a:p>
            <a:r>
              <a:rPr lang="nl-NL" dirty="0"/>
              <a:t>2 wetten springen uit als opmerkelijk</a:t>
            </a:r>
          </a:p>
          <a:p>
            <a:pPr lvl="1"/>
            <a:r>
              <a:rPr lang="nl-NL" dirty="0"/>
              <a:t>Chinese data is wettelijk verplicht in China bewaard te worden.</a:t>
            </a:r>
          </a:p>
          <a:p>
            <a:pPr lvl="1"/>
            <a:r>
              <a:rPr lang="nl-NL" dirty="0"/>
              <a:t>Applicaties gesponsord door buitenlandse overheden worden (meestal) geblokkeerd voor de Chinese markt.</a:t>
            </a:r>
          </a:p>
        </p:txBody>
      </p:sp>
      <p:pic>
        <p:nvPicPr>
          <p:cNvPr id="4" name="Afbeelding 3" descr="Vlag van de Volksrepubliek China - Wikipedia">
            <a:extLst>
              <a:ext uri="{FF2B5EF4-FFF2-40B4-BE49-F238E27FC236}">
                <a16:creationId xmlns:a16="http://schemas.microsoft.com/office/drawing/2014/main" id="{65B44027-E976-45AC-27CF-E3503071EEE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86634" y="134834"/>
            <a:ext cx="2226004" cy="1485311"/>
          </a:xfrm>
          <a:prstGeom prst="rect">
            <a:avLst/>
          </a:prstGeom>
          <a:noFill/>
          <a:ln>
            <a:noFill/>
          </a:ln>
        </p:spPr>
      </p:pic>
    </p:spTree>
    <p:extLst>
      <p:ext uri="{BB962C8B-B14F-4D97-AF65-F5344CB8AC3E}">
        <p14:creationId xmlns:p14="http://schemas.microsoft.com/office/powerpoint/2010/main" val="4179855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9B46-5545-C27D-CB7B-2D0D0C480B7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3BC677-52D9-A01C-D8C6-5A6E68E7CFCF}"/>
              </a:ext>
            </a:extLst>
          </p:cNvPr>
          <p:cNvSpPr>
            <a:spLocks noGrp="1"/>
          </p:cNvSpPr>
          <p:nvPr>
            <p:ph type="title"/>
          </p:nvPr>
        </p:nvSpPr>
        <p:spPr/>
        <p:txBody>
          <a:bodyPr/>
          <a:lstStyle/>
          <a:p>
            <a:r>
              <a:rPr lang="nl-NL" dirty="0"/>
              <a:t>Chinese Cyber wetten – Andere wetten</a:t>
            </a:r>
          </a:p>
        </p:txBody>
      </p:sp>
      <p:sp>
        <p:nvSpPr>
          <p:cNvPr id="3" name="Tijdelijke aanduiding voor inhoud 2">
            <a:extLst>
              <a:ext uri="{FF2B5EF4-FFF2-40B4-BE49-F238E27FC236}">
                <a16:creationId xmlns:a16="http://schemas.microsoft.com/office/drawing/2014/main" id="{ADCF9B83-54A3-09F1-B3A1-73D934BF0FEE}"/>
              </a:ext>
            </a:extLst>
          </p:cNvPr>
          <p:cNvSpPr>
            <a:spLocks noGrp="1"/>
          </p:cNvSpPr>
          <p:nvPr>
            <p:ph idx="1"/>
          </p:nvPr>
        </p:nvSpPr>
        <p:spPr/>
        <p:txBody>
          <a:bodyPr>
            <a:normAutofit fontScale="92500"/>
          </a:bodyPr>
          <a:lstStyle/>
          <a:p>
            <a:r>
              <a:rPr lang="nl-NL" dirty="0"/>
              <a:t>Verbod tegen Crypto</a:t>
            </a:r>
          </a:p>
          <a:p>
            <a:pPr lvl="1"/>
            <a:r>
              <a:rPr lang="nl-NL" dirty="0"/>
              <a:t>Crypto traden en </a:t>
            </a:r>
            <a:r>
              <a:rPr lang="nl-NL" dirty="0" err="1"/>
              <a:t>minen</a:t>
            </a:r>
            <a:r>
              <a:rPr lang="nl-NL" dirty="0"/>
              <a:t> is sinds 2012 niet toegestaan wegens oneerlijke en valse handel</a:t>
            </a:r>
          </a:p>
          <a:p>
            <a:r>
              <a:rPr lang="nl-NL" dirty="0" err="1"/>
              <a:t>Influencer</a:t>
            </a:r>
            <a:r>
              <a:rPr lang="nl-NL" dirty="0"/>
              <a:t> verbod</a:t>
            </a:r>
          </a:p>
          <a:p>
            <a:pPr lvl="1"/>
            <a:r>
              <a:rPr lang="nl-NL" dirty="0" err="1"/>
              <a:t>Influencers</a:t>
            </a:r>
            <a:r>
              <a:rPr lang="nl-NL" dirty="0"/>
              <a:t> voor enkele sectoren zijn niet toegestaan om hun werk te doen binnen China zonder een certificaat van bekwaamheid binnen dat veld.</a:t>
            </a:r>
          </a:p>
          <a:p>
            <a:r>
              <a:rPr lang="nl-NL" dirty="0"/>
              <a:t>Verbondenheid wet</a:t>
            </a:r>
          </a:p>
          <a:p>
            <a:pPr lvl="1"/>
            <a:r>
              <a:rPr lang="nl-NL" dirty="0"/>
              <a:t>Tech bedrijven moeten verbonden zijn met de Chinese regering (vaak in ruil voor subsidies) en moeten op bevel data afleveren aan de Chinese regering over iedere gebruiker die gewenst is. </a:t>
            </a:r>
          </a:p>
        </p:txBody>
      </p:sp>
      <p:pic>
        <p:nvPicPr>
          <p:cNvPr id="4" name="Afbeelding 3" descr="Vlag van de Volksrepubliek China - Wikipedia">
            <a:extLst>
              <a:ext uri="{FF2B5EF4-FFF2-40B4-BE49-F238E27FC236}">
                <a16:creationId xmlns:a16="http://schemas.microsoft.com/office/drawing/2014/main" id="{5BCBE27F-42A4-9DCA-EE3C-ADF6857349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86634" y="134834"/>
            <a:ext cx="2226004" cy="1485311"/>
          </a:xfrm>
          <a:prstGeom prst="rect">
            <a:avLst/>
          </a:prstGeom>
          <a:noFill/>
          <a:ln>
            <a:noFill/>
          </a:ln>
        </p:spPr>
      </p:pic>
    </p:spTree>
    <p:extLst>
      <p:ext uri="{BB962C8B-B14F-4D97-AF65-F5344CB8AC3E}">
        <p14:creationId xmlns:p14="http://schemas.microsoft.com/office/powerpoint/2010/main" val="1282694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1A3F00-D22C-8C45-2591-74E8FD01CE37}"/>
              </a:ext>
            </a:extLst>
          </p:cNvPr>
          <p:cNvSpPr>
            <a:spLocks noGrp="1"/>
          </p:cNvSpPr>
          <p:nvPr>
            <p:ph type="title"/>
          </p:nvPr>
        </p:nvSpPr>
        <p:spPr/>
        <p:txBody>
          <a:bodyPr/>
          <a:lstStyle/>
          <a:p>
            <a:r>
              <a:rPr lang="nl-NL" dirty="0"/>
              <a:t>Volgende week</a:t>
            </a:r>
          </a:p>
        </p:txBody>
      </p:sp>
      <p:sp>
        <p:nvSpPr>
          <p:cNvPr id="3" name="Tijdelijke aanduiding voor inhoud 2">
            <a:extLst>
              <a:ext uri="{FF2B5EF4-FFF2-40B4-BE49-F238E27FC236}">
                <a16:creationId xmlns:a16="http://schemas.microsoft.com/office/drawing/2014/main" id="{A186008C-654E-6F3B-AA1A-BDA418F9A75C}"/>
              </a:ext>
            </a:extLst>
          </p:cNvPr>
          <p:cNvSpPr>
            <a:spLocks noGrp="1"/>
          </p:cNvSpPr>
          <p:nvPr>
            <p:ph idx="1"/>
          </p:nvPr>
        </p:nvSpPr>
        <p:spPr/>
        <p:txBody>
          <a:bodyPr/>
          <a:lstStyle/>
          <a:p>
            <a:r>
              <a:rPr lang="nl-NL" dirty="0" err="1"/>
              <a:t>Social</a:t>
            </a:r>
            <a:r>
              <a:rPr lang="nl-NL" dirty="0"/>
              <a:t> </a:t>
            </a:r>
            <a:r>
              <a:rPr lang="nl-NL" dirty="0" err="1"/>
              <a:t>enigineering</a:t>
            </a:r>
            <a:endParaRPr lang="nl-NL" dirty="0"/>
          </a:p>
          <a:p>
            <a:r>
              <a:rPr lang="nl-NL" dirty="0"/>
              <a:t>Type hackers</a:t>
            </a:r>
          </a:p>
          <a:p>
            <a:r>
              <a:rPr lang="nl-NL" dirty="0"/>
              <a:t>(Non) </a:t>
            </a:r>
            <a:r>
              <a:rPr lang="nl-NL" dirty="0" err="1"/>
              <a:t>Ethical</a:t>
            </a:r>
            <a:r>
              <a:rPr lang="nl-NL" dirty="0"/>
              <a:t> </a:t>
            </a:r>
            <a:r>
              <a:rPr lang="nl-NL" dirty="0" err="1"/>
              <a:t>hacking</a:t>
            </a:r>
            <a:endParaRPr lang="nl-NL" dirty="0"/>
          </a:p>
          <a:p>
            <a:r>
              <a:rPr lang="nl-NL" dirty="0"/>
              <a:t>Hack </a:t>
            </a:r>
            <a:r>
              <a:rPr lang="nl-NL" dirty="0" err="1"/>
              <a:t>this</a:t>
            </a:r>
            <a:r>
              <a:rPr lang="nl-NL" dirty="0"/>
              <a:t> site en alternatieven</a:t>
            </a:r>
          </a:p>
        </p:txBody>
      </p:sp>
    </p:spTree>
    <p:extLst>
      <p:ext uri="{BB962C8B-B14F-4D97-AF65-F5344CB8AC3E}">
        <p14:creationId xmlns:p14="http://schemas.microsoft.com/office/powerpoint/2010/main" val="252721527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2" id="{9E7AAD1C-B155-4896-B55B-3944D7133965}" vid="{4C889715-0D36-4A12-BFED-915D686707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Nova1</Template>
  <TotalTime>0</TotalTime>
  <Words>1161</Words>
  <Application>Microsoft Office PowerPoint</Application>
  <PresentationFormat>Breedbeeld</PresentationFormat>
  <Paragraphs>140</Paragraphs>
  <Slides>23</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23</vt:i4>
      </vt:variant>
    </vt:vector>
  </HeadingPairs>
  <TitlesOfParts>
    <vt:vector size="27" baseType="lpstr">
      <vt:lpstr>Aptos</vt:lpstr>
      <vt:lpstr>Aptos Display</vt:lpstr>
      <vt:lpstr>Arial</vt:lpstr>
      <vt:lpstr>Kantoorthema</vt:lpstr>
      <vt:lpstr>CySec – les 6</vt:lpstr>
      <vt:lpstr>Programma</vt:lpstr>
      <vt:lpstr>Wat weten we nog van vorige les?</vt:lpstr>
      <vt:lpstr>Leerdoelen</vt:lpstr>
      <vt:lpstr>Contracten</vt:lpstr>
      <vt:lpstr>Contracten - NDA</vt:lpstr>
      <vt:lpstr>Contracten - NCA</vt:lpstr>
      <vt:lpstr>Contracten - SDA</vt:lpstr>
      <vt:lpstr>Contracten - SLA</vt:lpstr>
      <vt:lpstr>Contracten - MSA</vt:lpstr>
      <vt:lpstr>Contracten – The skipped 4</vt:lpstr>
      <vt:lpstr>Waarom terms en conditions soms handig kan zijn, Sommige bedrijven hebben lol.</vt:lpstr>
      <vt:lpstr>Lokale cyber wetten</vt:lpstr>
      <vt:lpstr>Nederlandse cyber wetten</vt:lpstr>
      <vt:lpstr>Amerikaanse cyber wetten</vt:lpstr>
      <vt:lpstr>Amerikaanse cyber wetten - HIPAA</vt:lpstr>
      <vt:lpstr>Amerikaanse cyber wetten - FISMA</vt:lpstr>
      <vt:lpstr>Amerikaanse cyber wetten - NIST</vt:lpstr>
      <vt:lpstr>Chinese Cyber wetten</vt:lpstr>
      <vt:lpstr>Chinese Cyber wetten - PIPL</vt:lpstr>
      <vt:lpstr>Chinese Cyber wetten - CSL</vt:lpstr>
      <vt:lpstr>Chinese Cyber wetten – Andere wetten</vt:lpstr>
      <vt:lpstr>Volgende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Erwin van Hunnik</dc:creator>
  <cp:lastModifiedBy>Erwin van Hunnik</cp:lastModifiedBy>
  <cp:revision>28</cp:revision>
  <dcterms:created xsi:type="dcterms:W3CDTF">2026-02-10T21:24:48Z</dcterms:created>
  <dcterms:modified xsi:type="dcterms:W3CDTF">2026-03-06T23:10:35Z</dcterms:modified>
</cp:coreProperties>
</file>