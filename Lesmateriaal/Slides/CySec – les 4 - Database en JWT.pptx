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98" r:id="rId4"/>
    <p:sldId id="272" r:id="rId5"/>
    <p:sldId id="258" r:id="rId6"/>
    <p:sldId id="259" r:id="rId7"/>
    <p:sldId id="281" r:id="rId8"/>
    <p:sldId id="282" r:id="rId9"/>
    <p:sldId id="268" r:id="rId10"/>
    <p:sldId id="283" r:id="rId11"/>
    <p:sldId id="265" r:id="rId12"/>
    <p:sldId id="284" r:id="rId13"/>
    <p:sldId id="273" r:id="rId14"/>
    <p:sldId id="286" r:id="rId15"/>
    <p:sldId id="274" r:id="rId16"/>
    <p:sldId id="285" r:id="rId17"/>
    <p:sldId id="275" r:id="rId18"/>
    <p:sldId id="287" r:id="rId19"/>
    <p:sldId id="276" r:id="rId20"/>
    <p:sldId id="288" r:id="rId21"/>
    <p:sldId id="277" r:id="rId22"/>
    <p:sldId id="289" r:id="rId23"/>
    <p:sldId id="269" r:id="rId24"/>
    <p:sldId id="290" r:id="rId25"/>
    <p:sldId id="270" r:id="rId26"/>
    <p:sldId id="291" r:id="rId27"/>
    <p:sldId id="278" r:id="rId28"/>
    <p:sldId id="292" r:id="rId29"/>
    <p:sldId id="279" r:id="rId30"/>
    <p:sldId id="293" r:id="rId31"/>
    <p:sldId id="262" r:id="rId32"/>
    <p:sldId id="294" r:id="rId33"/>
    <p:sldId id="280" r:id="rId34"/>
    <p:sldId id="295" r:id="rId35"/>
    <p:sldId id="263" r:id="rId36"/>
    <p:sldId id="271" r:id="rId37"/>
    <p:sldId id="297" r:id="rId38"/>
    <p:sldId id="266" r:id="rId39"/>
    <p:sldId id="267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C77"/>
    <a:srgbClr val="FBA400"/>
    <a:srgbClr val="FFFEF7"/>
    <a:srgbClr val="FFF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81" autoAdjust="0"/>
  </p:normalViewPr>
  <p:slideViewPr>
    <p:cSldViewPr snapToGrid="0">
      <p:cViewPr varScale="1">
        <p:scale>
          <a:sx n="57" d="100"/>
          <a:sy n="57" d="100"/>
        </p:scale>
        <p:origin x="88" y="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8DB6F-D407-4DAD-8E07-F71A85896F6E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5FC6EB-00F9-4F26-856D-FED6C6A7B264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8855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Afbeelding: https://pixabay.com/nl/illustrations/vlag-eu-europese-europa-de-eu-vlag-4303637/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5FC6EB-00F9-4F26-856D-FED6C6A7B264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077383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Docent instructies:</a:t>
            </a:r>
          </a:p>
          <a:p>
            <a:r>
              <a:rPr lang="nl-NL" dirty="0" err="1"/>
              <a:t>Maka</a:t>
            </a:r>
            <a:r>
              <a:rPr lang="nl-NL" dirty="0"/>
              <a:t> kaartjes en geef deze uit</a:t>
            </a:r>
          </a:p>
          <a:p>
            <a:r>
              <a:rPr lang="nl-NL" dirty="0"/>
              <a:t>Er zijn alleen maar hacker en </a:t>
            </a:r>
            <a:r>
              <a:rPr lang="nl-NL" dirty="0" err="1"/>
              <a:t>developer</a:t>
            </a:r>
            <a:r>
              <a:rPr lang="nl-NL" dirty="0"/>
              <a:t> kaartjes</a:t>
            </a:r>
          </a:p>
          <a:p>
            <a:r>
              <a:rPr lang="nl-NL" dirty="0"/>
              <a:t>Het punt is dat een hacker en klant vaak niet goed te onderscheiden zijn als ze op het punt komen van toegang verlenen tot een database. </a:t>
            </a:r>
          </a:p>
          <a:p>
            <a:r>
              <a:rPr lang="nl-NL" dirty="0"/>
              <a:t>Daarom hebben we </a:t>
            </a:r>
            <a:r>
              <a:rPr lang="nl-NL" dirty="0" err="1"/>
              <a:t>beveiligings</a:t>
            </a:r>
            <a:r>
              <a:rPr lang="nl-NL" dirty="0"/>
              <a:t> maatregels, zoals verleen geen toegang tot de (gehele) database aan je klanten.</a:t>
            </a:r>
          </a:p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5FC6EB-00F9-4F26-856D-FED6C6A7B264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2323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B4C759-8C62-86C9-3B17-92FACEE3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6925" y="406400"/>
            <a:ext cx="645795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321D15F-B607-A2F4-7E5B-5C4C4A91C9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74266" y="3380783"/>
            <a:ext cx="55118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5970407-AC1E-7009-EC8F-8F2B816D7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69266" y="6356350"/>
            <a:ext cx="1905000" cy="365125"/>
          </a:xfrm>
        </p:spPr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0B12CD7-1DFB-6FCC-4B46-040832962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56350"/>
            <a:ext cx="4114800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ED0717B-501A-6AD2-FAD9-9FDB669F3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6356350"/>
            <a:ext cx="1159933" cy="365125"/>
          </a:xfrm>
        </p:spPr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44405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BFFC90-3395-0A72-C175-88454A108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FF9D1A7-AFA3-2D0A-5016-573C0085F7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AEF1A98-39F2-BCFE-A768-C7C7269E6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A3F0BBF-479B-F827-4D71-082BF9E1E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3D6B33F-8770-9341-9E76-F7A43537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536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C40951-16BA-65BD-FA23-BCD4B3702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3432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223BC3E-99ED-F861-2FB2-1837A862A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794332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4DFCE1-FF20-9098-F41B-CF8AE47B2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27527C-339C-A319-5AB8-112FB83F6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BC4418-4EF7-67F6-BB89-E7E06ACA8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49828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331BC1-8E05-7E69-F8A9-6DB02B032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2ED6838-DD66-E35D-E7CC-C7808F5D6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1858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8D7FE4F-8286-26BD-2F95-E57806EDF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1858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D0E1AED-39B0-79D9-7A2C-449973F53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254B2C4-BDF7-31CB-7DC9-B08438151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189A640-A58A-DEB2-536B-CD6A70C76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5889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2C2B3A-1D0A-5865-BE4A-04C18894F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78645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16E3B1D-231C-B7E9-8ECC-869ECCA35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464418"/>
            <a:ext cx="5157787" cy="71423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07D4D88-D8C1-6D25-C28C-87B8DCECC9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299305"/>
            <a:ext cx="5157787" cy="357670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794A09-E8F5-29C8-7AAA-9CCB4BF45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33991"/>
            <a:ext cx="5183188" cy="7446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D06865D-4034-733F-0C0B-2A32C8EDB3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299305"/>
            <a:ext cx="5183188" cy="357670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9615BE59-3F81-7BD5-4DB4-278648CEC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E8CE4A8-74CC-EC89-649F-1C83DAD3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6CBCA2E-28ED-9718-15AD-1B3FFBE1A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56480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3C4379-2683-9B5B-54BA-E3A636049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5F0E2A3-FBE9-DC25-394E-AE9A6C39F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B400D92-2550-0867-9483-45ED646CB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71C9D5D-E51E-CA71-9A90-C4EAB3B9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1459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C5446D9-5DF5-F7C0-2628-90BC9A1C3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F65D153-6E89-D8A5-45CD-F5E3B8296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C4BE700-8736-DEBD-54F5-CD85EBEDB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6929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6DB1C2-788C-5E67-1126-186FE5DF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9A3E2AF-FE3E-C3CA-0E2C-9C0235AAD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72E7AF5-2E5A-4DE2-1F3D-EE384028A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4CCBAC4-7095-68D4-1F70-41489D11E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9FD96D4-0AD8-6168-4590-B26CA93A3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DB30B07-5631-A050-3B75-0C5F5D00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8018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9B1091-E1AE-DDD5-15E4-4FBF3510F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676DA624-4C35-30ED-18A7-B6FB1563DF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C0BB913-4F09-18DD-A1BA-8427E3841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13FF6D7-870A-E1AF-4B59-6101B009D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49C309F-2101-E8AD-9159-474BFC226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CEE4378-BA38-4FB0-C906-B9BA8993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161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2D5996-E7C8-5CF7-C2D3-B8748FD4C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E21B26B-BA69-E9AD-7CFF-9F77659328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4E0D85-1929-B19A-7CEE-1C5F655EE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F32821-6BD5-551A-0269-B059B749A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20D5A6D-2538-85A7-38BB-7F795A3E9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94497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2B48FD73-4D0B-A3A3-2319-42AE9E7263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4000" y="365125"/>
            <a:ext cx="2671638" cy="5455230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NL" dirty="0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1C23176-7D84-A884-661D-CD5DEA0485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4056" y="365125"/>
            <a:ext cx="8340918" cy="545523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DAFAA59-F7D1-5531-36D8-900F9C119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414D-5A9A-49A8-AA48-E9E7CADEA260}" type="datetimeFigureOut">
              <a:rPr lang="nl-NL" smtClean="0"/>
              <a:t>18-2-2026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06688D-6FDD-6771-2106-A56DB363A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8D3E2E9-404E-C081-A941-A3629B30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64B82-868F-4D41-994F-76B4E64C671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46609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bg1"/>
            </a:gs>
            <a:gs pos="35000">
              <a:srgbClr val="FFFEF3"/>
            </a:gs>
            <a:gs pos="62000">
              <a:srgbClr val="FFFEF7"/>
            </a:gs>
            <a:gs pos="0">
              <a:schemeClr val="bg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CF1BF85-4B6C-F008-1B3C-11B47EC59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5411684-1A7E-DFCF-F13E-B761FD6B0A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97150" y="631031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8414D-5A9A-49A8-AA48-E9E7CADEA260}" type="datetimeFigureOut">
              <a:rPr lang="nl-NL" smtClean="0"/>
              <a:t>18-2-2026</a:t>
            </a:fld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9B745CD-F00A-8626-6B75-9275E77135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4200" y="6310311"/>
            <a:ext cx="454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40EA63F-C77B-C305-2060-ECC251682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04500" y="6310312"/>
            <a:ext cx="1384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64B82-868F-4D41-994F-76B4E64C671C}" type="slidenum">
              <a:rPr lang="nl-NL" smtClean="0"/>
              <a:t>‹nr.›</a:t>
            </a:fld>
            <a:endParaRPr lang="nl-NL" dirty="0"/>
          </a:p>
        </p:txBody>
      </p:sp>
      <p:pic>
        <p:nvPicPr>
          <p:cNvPr id="7" name="Picture 2" descr="Nova College zorgopleidingen inspireren studenten met casussen | BureauTekst">
            <a:extLst>
              <a:ext uri="{FF2B5EF4-FFF2-40B4-BE49-F238E27FC236}">
                <a16:creationId xmlns:a16="http://schemas.microsoft.com/office/drawing/2014/main" id="{E15B2672-438A-D562-D6EE-438FCB4005E2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886" b="38682"/>
          <a:stretch>
            <a:fillRect/>
          </a:stretch>
        </p:blipFill>
        <p:spPr bwMode="auto">
          <a:xfrm>
            <a:off x="-186927" y="6217427"/>
            <a:ext cx="2664618" cy="642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hthoek 7">
            <a:extLst>
              <a:ext uri="{FF2B5EF4-FFF2-40B4-BE49-F238E27FC236}">
                <a16:creationId xmlns:a16="http://schemas.microsoft.com/office/drawing/2014/main" id="{DBB024C6-06AD-9F73-4AE8-0D072837629D}"/>
              </a:ext>
            </a:extLst>
          </p:cNvPr>
          <p:cNvSpPr/>
          <p:nvPr userDrawn="1"/>
        </p:nvSpPr>
        <p:spPr>
          <a:xfrm>
            <a:off x="230715" y="-55031"/>
            <a:ext cx="270000" cy="5782734"/>
          </a:xfrm>
          <a:prstGeom prst="rect">
            <a:avLst/>
          </a:prstGeom>
          <a:solidFill>
            <a:srgbClr val="005C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66087544-C7D3-7A9A-4800-2D515179E7A0}"/>
              </a:ext>
            </a:extLst>
          </p:cNvPr>
          <p:cNvSpPr/>
          <p:nvPr userDrawn="1"/>
        </p:nvSpPr>
        <p:spPr>
          <a:xfrm rot="16200000">
            <a:off x="6427197" y="294152"/>
            <a:ext cx="270000" cy="11530543"/>
          </a:xfrm>
          <a:prstGeom prst="rect">
            <a:avLst/>
          </a:prstGeom>
          <a:solidFill>
            <a:srgbClr val="005C7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Cirkel: leeg 9">
            <a:extLst>
              <a:ext uri="{FF2B5EF4-FFF2-40B4-BE49-F238E27FC236}">
                <a16:creationId xmlns:a16="http://schemas.microsoft.com/office/drawing/2014/main" id="{4EF2F36C-85C6-F227-4C7C-C834D410BF31}"/>
              </a:ext>
            </a:extLst>
          </p:cNvPr>
          <p:cNvSpPr/>
          <p:nvPr userDrawn="1"/>
        </p:nvSpPr>
        <p:spPr>
          <a:xfrm>
            <a:off x="228598" y="5218536"/>
            <a:ext cx="991659" cy="987389"/>
          </a:xfrm>
          <a:prstGeom prst="donut">
            <a:avLst>
              <a:gd name="adj" fmla="val 27560"/>
            </a:avLst>
          </a:prstGeom>
          <a:gradFill flip="none" rotWithShape="1">
            <a:gsLst>
              <a:gs pos="0">
                <a:srgbClr val="FBA400">
                  <a:shade val="30000"/>
                  <a:satMod val="115000"/>
                </a:srgbClr>
              </a:gs>
              <a:gs pos="50000">
                <a:srgbClr val="FBA400">
                  <a:shade val="67500"/>
                  <a:satMod val="115000"/>
                </a:srgbClr>
              </a:gs>
              <a:gs pos="100000">
                <a:srgbClr val="FBA400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FFD04524-8452-D704-99A9-33F20CC99B04}"/>
              </a:ext>
            </a:extLst>
          </p:cNvPr>
          <p:cNvSpPr/>
          <p:nvPr userDrawn="1"/>
        </p:nvSpPr>
        <p:spPr>
          <a:xfrm>
            <a:off x="503358" y="4862527"/>
            <a:ext cx="802745" cy="817034"/>
          </a:xfrm>
          <a:prstGeom prst="rect">
            <a:avLst/>
          </a:prstGeom>
          <a:solidFill>
            <a:srgbClr val="FFFE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103C7D41-C72B-C057-5586-DAF1E5937DA5}"/>
              </a:ext>
            </a:extLst>
          </p:cNvPr>
          <p:cNvSpPr/>
          <p:nvPr userDrawn="1"/>
        </p:nvSpPr>
        <p:spPr>
          <a:xfrm>
            <a:off x="764117" y="5107449"/>
            <a:ext cx="802745" cy="817034"/>
          </a:xfrm>
          <a:prstGeom prst="rect">
            <a:avLst/>
          </a:prstGeom>
          <a:solidFill>
            <a:srgbClr val="FFFE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66F715E-90D2-E02A-35F3-028366BBD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8724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664584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51tARU2aAc?feature=oembe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E9C727-01AA-4DB2-26AE-DD2FEFCD13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CySec</a:t>
            </a:r>
            <a:r>
              <a:rPr lang="nl-NL" dirty="0"/>
              <a:t> – les 4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32F1F9D-91AC-244B-A75C-5DE4D060B5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Database security, Database </a:t>
            </a:r>
            <a:r>
              <a:rPr lang="nl-NL" dirty="0" err="1"/>
              <a:t>injections</a:t>
            </a:r>
            <a:r>
              <a:rPr lang="nl-NL" dirty="0"/>
              <a:t> en JWT</a:t>
            </a:r>
          </a:p>
        </p:txBody>
      </p:sp>
    </p:spTree>
    <p:extLst>
      <p:ext uri="{BB962C8B-B14F-4D97-AF65-F5344CB8AC3E}">
        <p14:creationId xmlns:p14="http://schemas.microsoft.com/office/powerpoint/2010/main" val="717761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C467E5-39E6-9E7F-1C58-66163297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Programma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E110306-4AAB-9607-E18E-ACBAC34BDE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Terugblik vorige les</a:t>
            </a:r>
          </a:p>
          <a:p>
            <a:r>
              <a:rPr lang="nl-NL" dirty="0"/>
              <a:t>Leerdoelen</a:t>
            </a:r>
          </a:p>
          <a:p>
            <a:r>
              <a:rPr lang="nl-NL" dirty="0"/>
              <a:t>Database </a:t>
            </a:r>
            <a:r>
              <a:rPr lang="nl-NL" dirty="0" err="1"/>
              <a:t>secruity</a:t>
            </a:r>
            <a:endParaRPr lang="nl-NL" dirty="0"/>
          </a:p>
          <a:p>
            <a:r>
              <a:rPr lang="nl-NL" dirty="0"/>
              <a:t>Database </a:t>
            </a:r>
            <a:r>
              <a:rPr lang="nl-NL" dirty="0" err="1"/>
              <a:t>injections</a:t>
            </a:r>
            <a:endParaRPr lang="nl-NL" dirty="0"/>
          </a:p>
          <a:p>
            <a:r>
              <a:rPr lang="nl-NL" dirty="0"/>
              <a:t>JWT</a:t>
            </a:r>
          </a:p>
          <a:p>
            <a:r>
              <a:rPr lang="nl-NL" dirty="0"/>
              <a:t>Volgende week</a:t>
            </a:r>
          </a:p>
        </p:txBody>
      </p:sp>
    </p:spTree>
    <p:extLst>
      <p:ext uri="{BB962C8B-B14F-4D97-AF65-F5344CB8AC3E}">
        <p14:creationId xmlns:p14="http://schemas.microsoft.com/office/powerpoint/2010/main" val="3969768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EDDC81-10B9-DC6F-0D56-350DB7DE8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Actualiteit</a:t>
            </a:r>
          </a:p>
        </p:txBody>
      </p:sp>
      <p:pic>
        <p:nvPicPr>
          <p:cNvPr id="4" name="Onlinemedia 3" title="Heeft Odido geleerd van het datalek? | LUBACH">
            <a:hlinkClick r:id="" action="ppaction://media"/>
            <a:extLst>
              <a:ext uri="{FF2B5EF4-FFF2-40B4-BE49-F238E27FC236}">
                <a16:creationId xmlns:a16="http://schemas.microsoft.com/office/drawing/2014/main" id="{1BB37EE2-D95A-F0FB-AEF9-27EBE3E10635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668588" y="1825625"/>
            <a:ext cx="6853237" cy="387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3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A3E2B-01D1-CB6C-23B6-639AFCEF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Actualiteit - </a:t>
            </a:r>
            <a:r>
              <a:rPr lang="nl-NL" dirty="0" err="1"/>
              <a:t>Odido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EA6923A-943B-2334-F39E-7AE41FF2E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3 aanvallen</a:t>
            </a:r>
          </a:p>
          <a:p>
            <a:pPr lvl="1"/>
            <a:r>
              <a:rPr lang="nl-NL"/>
              <a:t>Phishing</a:t>
            </a:r>
          </a:p>
          <a:p>
            <a:pPr lvl="1"/>
            <a:r>
              <a:rPr lang="nl-NL"/>
              <a:t>Autoritair</a:t>
            </a:r>
          </a:p>
          <a:p>
            <a:pPr lvl="1"/>
            <a:r>
              <a:rPr lang="nl-NL"/>
              <a:t>Hacking</a:t>
            </a:r>
          </a:p>
          <a:p>
            <a:r>
              <a:rPr lang="nl-NL"/>
              <a:t>2 </a:t>
            </a:r>
            <a:r>
              <a:rPr lang="nl-NL" dirty="0"/>
              <a:t>(vermeende) verdedigingen</a:t>
            </a:r>
          </a:p>
          <a:p>
            <a:pPr lvl="1"/>
            <a:r>
              <a:rPr lang="nl-NL"/>
              <a:t>Logging</a:t>
            </a:r>
          </a:p>
          <a:p>
            <a:pPr lvl="1"/>
            <a:r>
              <a:rPr lang="nl-NL"/>
              <a:t>Download blokkade</a:t>
            </a:r>
            <a:endParaRPr lang="nl-NL" dirty="0"/>
          </a:p>
        </p:txBody>
      </p:sp>
      <p:pic>
        <p:nvPicPr>
          <p:cNvPr id="1026" name="Picture 2" descr="Miljoenen Odido-klanten slachtoffer van datalek | SeniorWeb">
            <a:extLst>
              <a:ext uri="{FF2B5EF4-FFF2-40B4-BE49-F238E27FC236}">
                <a16:creationId xmlns:a16="http://schemas.microsoft.com/office/drawing/2014/main" id="{647D64EB-3AFC-C24C-DD94-6DC278994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468" y="1027906"/>
            <a:ext cx="3872442" cy="38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008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8AEF2-B1E0-DC5C-29EF-6DC8FC82E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weten we nog van vorige les?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3088DE-78F2-873D-A6F7-351239A77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1026" name="Picture 2" descr="Vlag Eu Europese - Gratis afbeelding op Pixabay">
            <a:extLst>
              <a:ext uri="{FF2B5EF4-FFF2-40B4-BE49-F238E27FC236}">
                <a16:creationId xmlns:a16="http://schemas.microsoft.com/office/drawing/2014/main" id="{024EF17D-BC04-09B1-BD24-21EA00D75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6210" y="3566272"/>
            <a:ext cx="2962198" cy="2688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1021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05855A-447C-1837-7276-355F822E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Leerdoelen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9C96C40-E495-1DDD-8C30-9641A0EAEC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Aan het einde van de les:</a:t>
            </a:r>
          </a:p>
          <a:p>
            <a:pPr lvl="1"/>
            <a:r>
              <a:rPr lang="nl-NL" dirty="0"/>
              <a:t>Weet je de kernprincipes van databases beveiligen</a:t>
            </a:r>
          </a:p>
          <a:p>
            <a:pPr lvl="1"/>
            <a:r>
              <a:rPr lang="nl-NL" dirty="0"/>
              <a:t>Weet je hoe rollen data kan beschermen.</a:t>
            </a:r>
          </a:p>
          <a:p>
            <a:pPr lvl="1"/>
            <a:r>
              <a:rPr lang="nl-NL" dirty="0"/>
              <a:t>Weet je wat een database </a:t>
            </a:r>
            <a:r>
              <a:rPr lang="nl-NL" dirty="0" err="1"/>
              <a:t>injection</a:t>
            </a:r>
            <a:r>
              <a:rPr lang="nl-NL" dirty="0"/>
              <a:t> is.</a:t>
            </a:r>
          </a:p>
          <a:p>
            <a:pPr lvl="1"/>
            <a:r>
              <a:rPr lang="nl-NL" dirty="0"/>
              <a:t>Kan je een database </a:t>
            </a:r>
            <a:r>
              <a:rPr lang="nl-NL" dirty="0" err="1"/>
              <a:t>injection</a:t>
            </a:r>
            <a:r>
              <a:rPr lang="nl-NL" dirty="0"/>
              <a:t> uitvoeren in een gecontroleerde omgeving.</a:t>
            </a:r>
          </a:p>
          <a:p>
            <a:pPr lvl="1"/>
            <a:r>
              <a:rPr lang="nl-NL" dirty="0"/>
              <a:t>Weet je hoe je database </a:t>
            </a:r>
            <a:r>
              <a:rPr lang="nl-NL" dirty="0" err="1"/>
              <a:t>injections</a:t>
            </a:r>
            <a:r>
              <a:rPr lang="nl-NL" dirty="0"/>
              <a:t> kan weren.</a:t>
            </a:r>
          </a:p>
          <a:p>
            <a:pPr lvl="1"/>
            <a:r>
              <a:rPr lang="nl-NL" dirty="0"/>
              <a:t>Weet je wat een JWT is.</a:t>
            </a:r>
          </a:p>
          <a:p>
            <a:pPr lvl="1"/>
            <a:r>
              <a:rPr lang="nl-NL" dirty="0"/>
              <a:t>Weet je hoe je een JWT toepast.</a:t>
            </a:r>
          </a:p>
        </p:txBody>
      </p:sp>
    </p:spTree>
    <p:extLst>
      <p:ext uri="{BB962C8B-B14F-4D97-AF65-F5344CB8AC3E}">
        <p14:creationId xmlns:p14="http://schemas.microsoft.com/office/powerpoint/2010/main" val="2616526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5510F2-2B32-D320-8605-353E1ABB75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Inlog gegevens voor deze les zijn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7AE74EC-2336-CBDD-AE14-3A612A9795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Gebruikersnaam: Student</a:t>
            </a:r>
          </a:p>
          <a:p>
            <a:r>
              <a:rPr lang="nl-NL" dirty="0"/>
              <a:t>Wachtwoord: P1zzaParty!</a:t>
            </a:r>
          </a:p>
        </p:txBody>
      </p:sp>
    </p:spTree>
    <p:extLst>
      <p:ext uri="{BB962C8B-B14F-4D97-AF65-F5344CB8AC3E}">
        <p14:creationId xmlns:p14="http://schemas.microsoft.com/office/powerpoint/2010/main" val="514222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6755E58-7A20-D108-407B-C0B63F6040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5B59319F-8C85-9EC9-AC92-04C86349B0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8" name="Graphic 7" descr="Vergrendelen met effen opvulling">
            <a:extLst>
              <a:ext uri="{FF2B5EF4-FFF2-40B4-BE49-F238E27FC236}">
                <a16:creationId xmlns:a16="http://schemas.microsoft.com/office/drawing/2014/main" id="{29DE6EF8-077E-08F5-FFC6-8CF988B76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35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D2C17A-8918-96E6-ADFA-B8A65646F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Database security – werkvorm – </a:t>
            </a:r>
            <a:r>
              <a:rPr lang="nl-NL"/>
              <a:t>5 minuten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5D5354A-699D-E9FA-886F-1842F64CD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NL" dirty="0"/>
              <a:t>Iedereen heeft een kaartje met een D, K of H erop. </a:t>
            </a:r>
          </a:p>
          <a:p>
            <a:r>
              <a:rPr lang="nl-NL" dirty="0"/>
              <a:t>Sommige zijn klanten (K) en sommige hackers (H)</a:t>
            </a:r>
          </a:p>
          <a:p>
            <a:r>
              <a:rPr lang="nl-NL" dirty="0"/>
              <a:t>Developers (D) hebben het wachtwoord</a:t>
            </a:r>
          </a:p>
          <a:p>
            <a:r>
              <a:rPr lang="nl-NL" dirty="0"/>
              <a:t>Klanten en hackers willen het wachtwoord om data te krijgen van de database (Docent)</a:t>
            </a:r>
          </a:p>
          <a:p>
            <a:r>
              <a:rPr lang="nl-NL" dirty="0"/>
              <a:t>Hackers moeten zich voordoen als Klanten, wordt je ontmaskert ben je uit.</a:t>
            </a:r>
          </a:p>
          <a:p>
            <a:r>
              <a:rPr lang="nl-NL" dirty="0"/>
              <a:t>Hackers en Klanten doel: verkrijg Data</a:t>
            </a:r>
          </a:p>
          <a:p>
            <a:r>
              <a:rPr lang="nl-NL" dirty="0"/>
              <a:t>Developers doel: geef klanten toegang maar niet de Hackers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6467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2117A-879E-A59E-0366-D22BE8493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010C8BD-A001-56F9-77AB-86E2360834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C57C2A60-4A0A-1473-EE05-6E0AF4997F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6AD9B3EF-B7AA-4E40-9A8A-B542E2108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779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07051-0F3C-18D1-A04F-F432EA764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Database security opties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65DC7E6-20F3-149A-4BB4-6A7FD6252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Wachtwoord beveiliging</a:t>
            </a:r>
          </a:p>
          <a:p>
            <a:r>
              <a:rPr lang="nl-NL" dirty="0"/>
              <a:t>Toegang tot specifieke datasets</a:t>
            </a:r>
          </a:p>
          <a:p>
            <a:r>
              <a:rPr lang="nl-NL" dirty="0"/>
              <a:t>Rollen en rechten</a:t>
            </a:r>
          </a:p>
          <a:p>
            <a:r>
              <a:rPr lang="nl-NL" dirty="0"/>
              <a:t>CRUD beveiliging</a:t>
            </a:r>
          </a:p>
          <a:p>
            <a:r>
              <a:rPr lang="nl-NL" dirty="0"/>
              <a:t>Download blokkades</a:t>
            </a:r>
          </a:p>
          <a:p>
            <a:r>
              <a:rPr lang="nl-NL" dirty="0"/>
              <a:t>Monitoring</a:t>
            </a:r>
          </a:p>
        </p:txBody>
      </p:sp>
    </p:spTree>
    <p:extLst>
      <p:ext uri="{BB962C8B-B14F-4D97-AF65-F5344CB8AC3E}">
        <p14:creationId xmlns:p14="http://schemas.microsoft.com/office/powerpoint/2010/main" val="4073276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23515-7188-FA9A-E14D-3C35784CE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9AA4C5A6-0764-2F49-2417-B518502677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CDF56AD3-F5FC-E890-B298-C212116BB3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5D5C5F45-8446-6C76-F319-60DE7601B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10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A2F2096A-9AE3-3EB4-2E7F-67C34ECFD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Database security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E4C2A8AE-371B-86D5-9BC9-1E2BF184C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Wachtwoord beveiliging</a:t>
            </a:r>
          </a:p>
        </p:txBody>
      </p:sp>
      <p:sp>
        <p:nvSpPr>
          <p:cNvPr id="9" name="Tijdelijke aanduiding voor inhoud 8">
            <a:extLst>
              <a:ext uri="{FF2B5EF4-FFF2-40B4-BE49-F238E27FC236}">
                <a16:creationId xmlns:a16="http://schemas.microsoft.com/office/drawing/2014/main" id="{067380F8-675C-C67C-D2EA-B24700C5CDF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nl-NL" dirty="0"/>
              <a:t>Het minste dat erin moet zitten is een wachtwoord dat niet “root” of “password” of 1234 is</a:t>
            </a:r>
          </a:p>
          <a:p>
            <a:r>
              <a:rPr lang="nl-NL" dirty="0"/>
              <a:t>Sterke wachtwoorden beschermen al een klein deel van je data.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3D54475E-7F45-2338-C98F-43D0CEC8E6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nl-NL" dirty="0"/>
              <a:t>Toegang tot specifieke datasets</a:t>
            </a:r>
          </a:p>
        </p:txBody>
      </p:sp>
      <p:sp>
        <p:nvSpPr>
          <p:cNvPr id="11" name="Tijdelijke aanduiding voor inhoud 10">
            <a:extLst>
              <a:ext uri="{FF2B5EF4-FFF2-40B4-BE49-F238E27FC236}">
                <a16:creationId xmlns:a16="http://schemas.microsoft.com/office/drawing/2014/main" id="{C0561236-1B2C-308C-EE15-44B6CA42E15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nl-NL" dirty="0"/>
              <a:t>Verleen alleen toegang tot data die absoluut nodig is. </a:t>
            </a:r>
          </a:p>
          <a:p>
            <a:r>
              <a:rPr lang="nl-NL" dirty="0"/>
              <a:t>Als de klanten de film namen nodig heeft, geef ze dan niet ook toegang tot klantrekeningnummers</a:t>
            </a:r>
          </a:p>
          <a:p>
            <a:r>
              <a:rPr lang="nl-NL" dirty="0"/>
              <a:t>Map uit wie wat nodig heeft.</a:t>
            </a:r>
          </a:p>
        </p:txBody>
      </p:sp>
    </p:spTree>
    <p:extLst>
      <p:ext uri="{BB962C8B-B14F-4D97-AF65-F5344CB8AC3E}">
        <p14:creationId xmlns:p14="http://schemas.microsoft.com/office/powerpoint/2010/main" val="3589108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F60A1-28DD-A327-0B54-5B093C5B3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093A856-2033-5006-3FD8-95444C01CF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402A92B1-BA39-F7AF-6DFA-56C041AA7F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F6301C61-C5F7-3DE1-641B-74BD08B65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306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1125D-4CA1-EF9B-21E6-BD429B9BC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nl-NL" dirty="0"/>
              <a:t>Rollen en rechten</a:t>
            </a:r>
          </a:p>
        </p:txBody>
      </p:sp>
      <p:pic>
        <p:nvPicPr>
          <p:cNvPr id="5" name="Graphic 4" descr="Werknemersbadge met effen opvulling">
            <a:extLst>
              <a:ext uri="{FF2B5EF4-FFF2-40B4-BE49-F238E27FC236}">
                <a16:creationId xmlns:a16="http://schemas.microsoft.com/office/drawing/2014/main" id="{2AC91571-78AA-3F0F-EB3D-75329001C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9708" y="1825625"/>
            <a:ext cx="4018584" cy="4018584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1AFA5FA-0318-9C06-8412-B30BD7300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18584"/>
          </a:xfrm>
        </p:spPr>
        <p:txBody>
          <a:bodyPr>
            <a:normAutofit/>
          </a:bodyPr>
          <a:lstStyle/>
          <a:p>
            <a:r>
              <a:rPr lang="nl-NL" sz="2200" dirty="0"/>
              <a:t>Je kan rollen/</a:t>
            </a:r>
            <a:r>
              <a:rPr lang="nl-NL" sz="2200" dirty="0" err="1"/>
              <a:t>Gebruikerprofielen</a:t>
            </a:r>
            <a:r>
              <a:rPr lang="nl-NL" sz="2200" dirty="0"/>
              <a:t> maken voor een database.</a:t>
            </a:r>
          </a:p>
          <a:p>
            <a:r>
              <a:rPr lang="nl-NL" sz="2200" dirty="0"/>
              <a:t>Deze rollen bevatten bepaalde rechten zoals:</a:t>
            </a:r>
          </a:p>
          <a:p>
            <a:pPr lvl="1"/>
            <a:r>
              <a:rPr lang="nl-NL" sz="2200" dirty="0"/>
              <a:t>Of dit type gebruiker mag toevoegen, verwijderen of wijzigen.</a:t>
            </a:r>
          </a:p>
          <a:p>
            <a:pPr lvl="1"/>
            <a:r>
              <a:rPr lang="nl-NL" sz="2200" dirty="0"/>
              <a:t>Welke tabellen dit type gebruiker mag inzien.</a:t>
            </a:r>
          </a:p>
          <a:p>
            <a:pPr lvl="1"/>
            <a:r>
              <a:rPr lang="nl-NL" sz="2200" dirty="0"/>
              <a:t>Of de gebruiker op grote schaal aanpassingen mag maken.</a:t>
            </a:r>
          </a:p>
          <a:p>
            <a:endParaRPr lang="nl-NL" sz="2200" dirty="0"/>
          </a:p>
        </p:txBody>
      </p:sp>
    </p:spTree>
    <p:extLst>
      <p:ext uri="{BB962C8B-B14F-4D97-AF65-F5344CB8AC3E}">
        <p14:creationId xmlns:p14="http://schemas.microsoft.com/office/powerpoint/2010/main" val="3937316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2613B-B5D6-464C-AEC5-9AF812CF4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88E8761-86DB-29EB-974F-FE252BC7B8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9BFC3FF6-4ACA-8E13-F9F9-23EF479D207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73B99E90-912E-85BE-2D5B-8909DA951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875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9FF15B4E-67E7-E30F-4C73-506FFD84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CRUD beveiliging</a:t>
            </a:r>
          </a:p>
        </p:txBody>
      </p:sp>
      <p:sp>
        <p:nvSpPr>
          <p:cNvPr id="10" name="Tijdelijke aanduiding voor inhoud 9">
            <a:extLst>
              <a:ext uri="{FF2B5EF4-FFF2-40B4-BE49-F238E27FC236}">
                <a16:creationId xmlns:a16="http://schemas.microsoft.com/office/drawing/2014/main" id="{81DA0814-AF4F-DE72-6E93-522F8945D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604416" cy="3872442"/>
          </a:xfrm>
        </p:spPr>
        <p:txBody>
          <a:bodyPr>
            <a:normAutofit fontScale="92500" lnSpcReduction="20000"/>
          </a:bodyPr>
          <a:lstStyle/>
          <a:p>
            <a:r>
              <a:rPr lang="nl-NL" b="1" dirty="0" err="1"/>
              <a:t>Create</a:t>
            </a:r>
            <a:r>
              <a:rPr lang="nl-NL" dirty="0"/>
              <a:t> – Mag een type gebruiker data aanmaken</a:t>
            </a:r>
          </a:p>
          <a:p>
            <a:r>
              <a:rPr lang="nl-NL" b="1" dirty="0"/>
              <a:t>Read</a:t>
            </a:r>
            <a:r>
              <a:rPr lang="nl-NL" dirty="0"/>
              <a:t> – Mag een type gebruiker data inzien</a:t>
            </a:r>
          </a:p>
          <a:p>
            <a:r>
              <a:rPr lang="nl-NL" b="1" dirty="0"/>
              <a:t>Update</a:t>
            </a:r>
            <a:r>
              <a:rPr lang="nl-NL" dirty="0"/>
              <a:t> – Mag een type gebruiker data wijzigen</a:t>
            </a:r>
          </a:p>
          <a:p>
            <a:r>
              <a:rPr lang="nl-NL" b="1" dirty="0"/>
              <a:t>Delete</a:t>
            </a:r>
            <a:r>
              <a:rPr lang="nl-NL" dirty="0"/>
              <a:t> – Mag een type gebruiker data verwijderen</a:t>
            </a:r>
          </a:p>
          <a:p>
            <a:endParaRPr lang="nl-NL" dirty="0"/>
          </a:p>
          <a:p>
            <a:r>
              <a:rPr lang="nl-NL" dirty="0"/>
              <a:t>Dit kan op tabel, lijst, datapunt en kolom niveau bepaald worden</a:t>
            </a:r>
          </a:p>
        </p:txBody>
      </p:sp>
      <p:pic>
        <p:nvPicPr>
          <p:cNvPr id="2050" name="Picture 2" descr="What is a Table?">
            <a:extLst>
              <a:ext uri="{FF2B5EF4-FFF2-40B4-BE49-F238E27FC236}">
                <a16:creationId xmlns:a16="http://schemas.microsoft.com/office/drawing/2014/main" id="{405A43CF-1C10-D7E0-6625-CDAF17A84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8895" y="2043112"/>
            <a:ext cx="4619625" cy="2771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5943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FC024-4904-C5B3-E1A2-04A4ECF6C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9EEA5423-620A-14B2-5F06-C8415C8649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B10E2454-4E1F-F56D-DC25-172C08382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81950590-6F72-CE62-730E-8A8A58288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531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951841-F2EF-A20A-ADDA-900D66905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Database security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3FBCFD1-2F05-9B5E-FF39-42A52568E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Download blokkades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C450547-4B13-4FCE-CCA7-75AF33B477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NL" dirty="0"/>
              <a:t>Speciale software regels die downloaden van data (bijna) onmogelijk maken.</a:t>
            </a:r>
          </a:p>
          <a:p>
            <a:r>
              <a:rPr lang="nl-NL" dirty="0"/>
              <a:t>Vereist vaak de goedkeuring van meerdere hoge managers.</a:t>
            </a:r>
          </a:p>
          <a:p>
            <a:r>
              <a:rPr lang="nl-NL" dirty="0"/>
              <a:t>Voorkomt massa dataleks.</a:t>
            </a:r>
          </a:p>
          <a:p>
            <a:r>
              <a:rPr lang="nl-NL" dirty="0"/>
              <a:t>Wordt niet vaak genoeg gebruikt.</a:t>
            </a:r>
          </a:p>
          <a:p>
            <a:r>
              <a:rPr lang="nl-NL" dirty="0"/>
              <a:t>Zo sterk/zwak als de rest van de beveiliging.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1C62D643-77B8-C62B-D08F-4102FAC8E7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nl-NL" dirty="0"/>
              <a:t>Monitoring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95C31A1-9A22-794A-ECFB-177D78C8B39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NL" dirty="0"/>
              <a:t>Databases worden gemonitord door mens en machine. </a:t>
            </a:r>
          </a:p>
          <a:p>
            <a:r>
              <a:rPr lang="nl-NL" dirty="0"/>
              <a:t>Machines geven signalen af als er verdachte activiteit is.</a:t>
            </a:r>
          </a:p>
          <a:p>
            <a:r>
              <a:rPr lang="nl-NL" dirty="0"/>
              <a:t>Mensen nemen actie om data veilig te stellen.</a:t>
            </a:r>
          </a:p>
          <a:p>
            <a:r>
              <a:rPr lang="nl-NL" dirty="0"/>
              <a:t>24/7 monitoring voor grote data bedrijven.</a:t>
            </a:r>
          </a:p>
        </p:txBody>
      </p:sp>
      <p:pic>
        <p:nvPicPr>
          <p:cNvPr id="8" name="Graphic 7" descr="Beveiligingscamera met effen opvulling">
            <a:extLst>
              <a:ext uri="{FF2B5EF4-FFF2-40B4-BE49-F238E27FC236}">
                <a16:creationId xmlns:a16="http://schemas.microsoft.com/office/drawing/2014/main" id="{2C57F692-D543-D198-F586-280C3997A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512532" y="244477"/>
            <a:ext cx="1754080" cy="1754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5782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98A1B-0AED-CEAA-C349-F313D9F76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5793462-AA0A-631D-CA4A-C3A3EE23DA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906FEE38-19CC-6FB8-8C26-0CE8E1184F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C696AAEF-0AA9-12E7-CE43-55F9D2B18E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4647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C4F8035-01A5-10A7-E595-A326753915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Database </a:t>
            </a:r>
            <a:r>
              <a:rPr lang="nl-NL" dirty="0" err="1"/>
              <a:t>injections</a:t>
            </a:r>
            <a:endParaRPr lang="nl-NL" dirty="0"/>
          </a:p>
        </p:txBody>
      </p:sp>
      <p:sp>
        <p:nvSpPr>
          <p:cNvPr id="8" name="Ondertitel 7">
            <a:extLst>
              <a:ext uri="{FF2B5EF4-FFF2-40B4-BE49-F238E27FC236}">
                <a16:creationId xmlns:a16="http://schemas.microsoft.com/office/drawing/2014/main" id="{25789F8D-9A84-44E0-8137-99BDF72EE5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3074" name="Picture 2" descr="Meme: &quot;Hacking time&quot; - All Templates - Meme-arsenal.com">
            <a:extLst>
              <a:ext uri="{FF2B5EF4-FFF2-40B4-BE49-F238E27FC236}">
                <a16:creationId xmlns:a16="http://schemas.microsoft.com/office/drawing/2014/main" id="{F56B808F-A836-AB70-04FF-1F706BC9B1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79"/>
          <a:stretch>
            <a:fillRect/>
          </a:stretch>
        </p:blipFill>
        <p:spPr bwMode="auto">
          <a:xfrm>
            <a:off x="7429500" y="3026347"/>
            <a:ext cx="4762500" cy="2909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88253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E3E70-9967-ADC1-DF1E-5D37A1D49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05EA944-0823-7115-0B9C-D4B553D603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D9E8E9A2-429F-B15B-CA49-C31DEC2044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95CF2834-C2AA-96DE-E94E-69CBFA3D6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476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129DD0-3554-61EE-DABB-5FF253B1B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Database </a:t>
            </a:r>
            <a:r>
              <a:rPr lang="nl-NL" dirty="0" err="1"/>
              <a:t>injections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D89F514-EE8A-AEA3-099D-5FE17B1C1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Database </a:t>
            </a:r>
            <a:r>
              <a:rPr lang="nl-NL" dirty="0" err="1"/>
              <a:t>injections</a:t>
            </a:r>
            <a:r>
              <a:rPr lang="nl-NL" dirty="0"/>
              <a:t> zijn een invoer in een veld waarbij data gemanipuleerd wordt op </a:t>
            </a:r>
            <a:r>
              <a:rPr lang="nl-NL" dirty="0" err="1"/>
              <a:t>wijzes</a:t>
            </a:r>
            <a:r>
              <a:rPr lang="nl-NL" dirty="0"/>
              <a:t> waarvoor die niet bedoeld zijn.</a:t>
            </a:r>
          </a:p>
          <a:p>
            <a:r>
              <a:rPr lang="nl-NL" dirty="0"/>
              <a:t>Dit kan onschuldig zijn maar is dat vaak niet. </a:t>
            </a:r>
          </a:p>
          <a:p>
            <a:r>
              <a:rPr lang="nl-NL" dirty="0"/>
              <a:t>Meeste systemen zijn hier tegen beschermd. De weinige die dat niet zijn geven informatie vrij.</a:t>
            </a:r>
          </a:p>
        </p:txBody>
      </p:sp>
    </p:spTree>
    <p:extLst>
      <p:ext uri="{BB962C8B-B14F-4D97-AF65-F5344CB8AC3E}">
        <p14:creationId xmlns:p14="http://schemas.microsoft.com/office/powerpoint/2010/main" val="18819210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C1955-5A4E-871D-6A3A-37D280A11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F86BAEA-0A52-465A-D859-A8CED27287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74864841-36C1-B795-247E-333CD01CDA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B622F1E5-7414-2D2C-635C-B1FD1D5FC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811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12839D-E75C-A707-E6C3-9200D3B85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Database </a:t>
            </a:r>
            <a:r>
              <a:rPr lang="nl-NL" dirty="0" err="1"/>
              <a:t>injections</a:t>
            </a:r>
            <a:r>
              <a:rPr lang="nl-NL" dirty="0"/>
              <a:t> - </a:t>
            </a:r>
            <a:r>
              <a:rPr lang="nl-NL" b="1" dirty="0">
                <a:solidFill>
                  <a:srgbClr val="FF0000"/>
                </a:solidFill>
              </a:rPr>
              <a:t>ILLEGAAL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0C1179A-E437-E8E0-5C95-061F410CE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Database </a:t>
            </a:r>
            <a:r>
              <a:rPr lang="nl-NL" dirty="0" err="1"/>
              <a:t>injections</a:t>
            </a:r>
            <a:r>
              <a:rPr lang="nl-NL" dirty="0"/>
              <a:t> op een systeem waar je geen toestemming van hebt is </a:t>
            </a:r>
            <a:r>
              <a:rPr lang="nl-NL" b="1" dirty="0">
                <a:solidFill>
                  <a:srgbClr val="FF0000"/>
                </a:solidFill>
              </a:rPr>
              <a:t>ILLEGAAL</a:t>
            </a:r>
          </a:p>
          <a:p>
            <a:r>
              <a:rPr lang="nl-NL" dirty="0"/>
              <a:t>Lichte straffen voor data opvragen, tot zware straffen van data verspreiden en/of verwijderen</a:t>
            </a:r>
          </a:p>
          <a:p>
            <a:r>
              <a:rPr lang="nl-NL" dirty="0"/>
              <a:t>Zeer makkelijk te traceren</a:t>
            </a:r>
          </a:p>
          <a:p>
            <a:r>
              <a:rPr lang="nl-NL" dirty="0"/>
              <a:t>Juridisch kan hier een straf op zitten van:</a:t>
            </a:r>
          </a:p>
          <a:p>
            <a:pPr lvl="1"/>
            <a:r>
              <a:rPr lang="nl-NL" dirty="0"/>
              <a:t>Een ban van de website/service</a:t>
            </a:r>
          </a:p>
          <a:p>
            <a:pPr lvl="1"/>
            <a:r>
              <a:rPr lang="nl-NL" dirty="0"/>
              <a:t>20.000 euro</a:t>
            </a:r>
          </a:p>
          <a:p>
            <a:pPr lvl="1"/>
            <a:r>
              <a:rPr lang="nl-NL" dirty="0"/>
              <a:t>Tot 20 jaar de cel in</a:t>
            </a:r>
          </a:p>
          <a:p>
            <a:endParaRPr lang="nl-NL" dirty="0"/>
          </a:p>
        </p:txBody>
      </p:sp>
      <p:pic>
        <p:nvPicPr>
          <p:cNvPr id="5" name="Graphic 4" descr="Waarschuwing met effen opvulling">
            <a:extLst>
              <a:ext uri="{FF2B5EF4-FFF2-40B4-BE49-F238E27FC236}">
                <a16:creationId xmlns:a16="http://schemas.microsoft.com/office/drawing/2014/main" id="{2B971A56-703C-9499-E97E-512D1419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6603" y="3604466"/>
            <a:ext cx="2228538" cy="2228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013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E43E5-E380-032E-D27E-A738E1636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5DA2147-E321-DADF-41CA-A013ABD6EE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0E8693DE-95A5-6A68-3607-D0C45AF5BF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5ACA6B42-89F7-B6CE-B2F8-34E52809F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185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842F87-D3D0-CCB2-0C9C-9BF33BE40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Database </a:t>
            </a:r>
            <a:r>
              <a:rPr lang="nl-NL" dirty="0" err="1"/>
              <a:t>injections</a:t>
            </a:r>
            <a:r>
              <a:rPr lang="nl-NL" dirty="0"/>
              <a:t> – Hoe werkt het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16359B5-F944-C617-BFAD-1ACDC2A5A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Grofweg:</a:t>
            </a:r>
          </a:p>
          <a:p>
            <a:pPr lvl="1"/>
            <a:r>
              <a:rPr lang="nl-NL" dirty="0"/>
              <a:t>Je doelwit programma heeft een invoer veld.</a:t>
            </a:r>
          </a:p>
          <a:p>
            <a:pPr lvl="1"/>
            <a:r>
              <a:rPr lang="nl-NL" dirty="0"/>
              <a:t>Met dit invoer veld kan je zoeken naar een item.</a:t>
            </a:r>
          </a:p>
          <a:p>
            <a:pPr lvl="1"/>
            <a:r>
              <a:rPr lang="nl-NL" dirty="0"/>
              <a:t>In plaats van een normaal zoek resultaat geef je een afsluiting van SQL mee en daar achter een SQL command van wat je wilt bereiken.</a:t>
            </a:r>
          </a:p>
          <a:p>
            <a:endParaRPr lang="nl-NL" dirty="0"/>
          </a:p>
          <a:p>
            <a:r>
              <a:rPr lang="nl-NL" dirty="0"/>
              <a:t>Veel SQL applicaties hebben al enkele beveiliging hiervoor maar niet geheel!</a:t>
            </a:r>
          </a:p>
        </p:txBody>
      </p:sp>
    </p:spTree>
    <p:extLst>
      <p:ext uri="{BB962C8B-B14F-4D97-AF65-F5344CB8AC3E}">
        <p14:creationId xmlns:p14="http://schemas.microsoft.com/office/powerpoint/2010/main" val="2156469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AF78D-96FD-0E6E-6EED-C32FE6F04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0895E18-DF0C-56D6-378C-A833DC4AA2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87F1CC17-4213-B58C-05FC-376AAF1867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A49B7D92-AEF9-1C0E-3CEE-69681ECEC4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9319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8D3516-15F2-77F2-09A7-B8C45B876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Database </a:t>
            </a:r>
            <a:r>
              <a:rPr lang="nl-NL" dirty="0" err="1"/>
              <a:t>injections</a:t>
            </a:r>
            <a:r>
              <a:rPr lang="nl-NL" dirty="0"/>
              <a:t> - bescherming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53DA35-9A27-CDA0-E0E0-57945E57E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2 bekende manieren</a:t>
            </a:r>
          </a:p>
          <a:p>
            <a:r>
              <a:rPr lang="nl-NL" dirty="0"/>
              <a:t>1. je zoekt naar symbolen die niet thuishoren in een normaal verwacht invoerveld en keurt daarop een input goed of fout</a:t>
            </a:r>
          </a:p>
          <a:p>
            <a:r>
              <a:rPr lang="nl-NL" dirty="0"/>
              <a:t>2. Je laat een package controleren of de input correct is of niet</a:t>
            </a:r>
          </a:p>
          <a:p>
            <a:endParaRPr lang="nl-NL" dirty="0"/>
          </a:p>
          <a:p>
            <a:r>
              <a:rPr lang="nl-NL" dirty="0"/>
              <a:t>1 is meer werk maar zelf inzicht, 2 kan betrouwbaar en snel zijn maar kan iets over het hoofd zien.</a:t>
            </a:r>
          </a:p>
          <a:p>
            <a:endParaRPr lang="nl-NL" dirty="0"/>
          </a:p>
        </p:txBody>
      </p:sp>
      <p:pic>
        <p:nvPicPr>
          <p:cNvPr id="5" name="Graphic 4" descr="Schild met vinkje met effen opvulling">
            <a:extLst>
              <a:ext uri="{FF2B5EF4-FFF2-40B4-BE49-F238E27FC236}">
                <a16:creationId xmlns:a16="http://schemas.microsoft.com/office/drawing/2014/main" id="{D59B2682-6062-563B-9D61-1C4821687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68459" y="365125"/>
            <a:ext cx="1883764" cy="188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372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73B3-9EB4-4ADF-C129-B9957BBBB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7245489-9938-61EC-1630-CEA982649C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FBFD8180-ED9C-3070-B309-1772DC97A0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4A6FA4BB-E97A-C726-5C3E-57B076B65D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29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1C623F-8EDD-04A0-7256-DD23FAC9E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Opdracht op </a:t>
            </a:r>
            <a:r>
              <a:rPr lang="nl-NL" dirty="0" err="1"/>
              <a:t>github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C1571CC-0F7B-F2C6-5EF9-093762723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Een van de 5 verplichte opdrachten</a:t>
            </a:r>
          </a:p>
        </p:txBody>
      </p:sp>
    </p:spTree>
    <p:extLst>
      <p:ext uri="{BB962C8B-B14F-4D97-AF65-F5344CB8AC3E}">
        <p14:creationId xmlns:p14="http://schemas.microsoft.com/office/powerpoint/2010/main" val="4079701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0BF2-1E61-4A79-FC59-69F557F9B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982526CF-5B00-8744-72E4-5E2EA3C97E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16989F38-D39A-1CF5-9908-835935B9C5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96221F13-9FA2-CFCC-9BE1-5D76577041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1459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DAFD4-82F5-AA2F-1497-750E48DBA9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Zijn jullie het al zat om in te loggen?</a:t>
            </a:r>
          </a:p>
        </p:txBody>
      </p:sp>
      <p:sp>
        <p:nvSpPr>
          <p:cNvPr id="4" name="Ondertitel 3">
            <a:extLst>
              <a:ext uri="{FF2B5EF4-FFF2-40B4-BE49-F238E27FC236}">
                <a16:creationId xmlns:a16="http://schemas.microsoft.com/office/drawing/2014/main" id="{392451CC-C497-5B17-42CF-B92971844C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064505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3BF78-BBC5-D4A7-DFF0-F5FABD6B7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8595BD-D51B-1C61-90AA-ED9C1FB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Graag even inloggen</a:t>
            </a:r>
          </a:p>
        </p:txBody>
      </p:sp>
      <p:sp>
        <p:nvSpPr>
          <p:cNvPr id="7" name="Ondertitel 6">
            <a:extLst>
              <a:ext uri="{FF2B5EF4-FFF2-40B4-BE49-F238E27FC236}">
                <a16:creationId xmlns:a16="http://schemas.microsoft.com/office/drawing/2014/main" id="{D6818F84-ED5F-516A-4693-B119B8600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2" name="Graphic 1" descr="Vergrendelen met effen opvulling">
            <a:extLst>
              <a:ext uri="{FF2B5EF4-FFF2-40B4-BE49-F238E27FC236}">
                <a16:creationId xmlns:a16="http://schemas.microsoft.com/office/drawing/2014/main" id="{FE14B14A-CD4D-DF5C-D848-289DC1310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4622" y="2630191"/>
            <a:ext cx="2808157" cy="280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0871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FCEC88-3D46-F402-7693-C4F510DB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826A35B-3FEA-46C1-6448-941478EAA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3420" y="1825625"/>
            <a:ext cx="8690379" cy="3872442"/>
          </a:xfrm>
        </p:spPr>
        <p:txBody>
          <a:bodyPr/>
          <a:lstStyle/>
          <a:p>
            <a:r>
              <a:rPr lang="nl-NL" dirty="0"/>
              <a:t>JSON Web tokens, zijn tokens die bewaard worden op een lokale browser.</a:t>
            </a:r>
          </a:p>
          <a:p>
            <a:r>
              <a:rPr lang="nl-NL" dirty="0"/>
              <a:t>Deze tokens voorkomen dat inloggen niet consistent nodig is voor iedere actie.</a:t>
            </a:r>
          </a:p>
          <a:p>
            <a:r>
              <a:rPr lang="nl-NL" dirty="0"/>
              <a:t>Vooral bedoeld voor web development maar kan ook gebruikt worden voor reguliere applicaties</a:t>
            </a:r>
          </a:p>
          <a:p>
            <a:r>
              <a:rPr lang="nl-NL" dirty="0"/>
              <a:t>Wordt universeel gebruikt en is makkelijk terug te zoeken in een browser, het is een type Cookie</a:t>
            </a:r>
          </a:p>
          <a:p>
            <a:endParaRPr lang="nl-NL" dirty="0"/>
          </a:p>
        </p:txBody>
      </p:sp>
      <p:pic>
        <p:nvPicPr>
          <p:cNvPr id="2050" name="Picture 2" descr="JSON Web Token — Explanation. JWT is used for authentication and… | by  Somesh | Medium">
            <a:extLst>
              <a:ext uri="{FF2B5EF4-FFF2-40B4-BE49-F238E27FC236}">
                <a16:creationId xmlns:a16="http://schemas.microsoft.com/office/drawing/2014/main" id="{4D1E81A4-FB44-7886-D593-6ABAA71A2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497" y="352265"/>
            <a:ext cx="4529840" cy="1327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6895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09D43B-085C-94D0-3743-F763D559C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JWT - gebruik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901959-0508-93D2-E083-6980228B7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De gebruiker logt in.</a:t>
            </a:r>
          </a:p>
          <a:p>
            <a:r>
              <a:rPr lang="nl-NL" dirty="0"/>
              <a:t>De gegevens worden gecontroleerd</a:t>
            </a:r>
          </a:p>
          <a:p>
            <a:r>
              <a:rPr lang="nl-NL" dirty="0"/>
              <a:t>De server maakt een token aan die gekoppeld is aan een gebruiker en tijdsframe. (Soms ook IP bij hoge beveiliging)</a:t>
            </a:r>
          </a:p>
          <a:p>
            <a:r>
              <a:rPr lang="nl-NL" dirty="0"/>
              <a:t>De gebruiker kan nu doen wat hij/zij wilt tot de gebruiker uitlogt of tot de tijd op is.</a:t>
            </a:r>
          </a:p>
        </p:txBody>
      </p:sp>
      <p:pic>
        <p:nvPicPr>
          <p:cNvPr id="4098" name="Picture 2" descr="MILK CHOCOLATE CHIP COOKIE XL">
            <a:extLst>
              <a:ext uri="{FF2B5EF4-FFF2-40B4-BE49-F238E27FC236}">
                <a16:creationId xmlns:a16="http://schemas.microsoft.com/office/drawing/2014/main" id="{85302E53-A903-F88A-0A2F-94EF1BBC7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6312" y="39418"/>
            <a:ext cx="1497074" cy="149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5677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174A3-A094-CDC8-71E9-4795D35A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D44702-6029-CE5F-93CA-1840BCACA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JWT – gebruik in code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BC2A6B-5654-A801-F9F0-2F2EA86CA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(Bijna) iedere taal heeft een package waarmee je JWT kan genereren, vereist vaak een </a:t>
            </a:r>
            <a:r>
              <a:rPr lang="nl-NL" dirty="0" err="1"/>
              <a:t>install</a:t>
            </a:r>
            <a:r>
              <a:rPr lang="nl-NL" dirty="0"/>
              <a:t>.</a:t>
            </a:r>
          </a:p>
          <a:p>
            <a:r>
              <a:rPr lang="nl-NL" dirty="0"/>
              <a:t>Je maakt een private key van random letters en cijfers. </a:t>
            </a:r>
          </a:p>
          <a:p>
            <a:r>
              <a:rPr lang="nl-NL" dirty="0"/>
              <a:t>Laat JWT het generen</a:t>
            </a:r>
          </a:p>
          <a:p>
            <a:r>
              <a:rPr lang="nl-NL" dirty="0"/>
              <a:t>Stuurt het op naar de gebruiker, deze slaat het op in de browser</a:t>
            </a:r>
          </a:p>
          <a:p>
            <a:r>
              <a:rPr lang="nl-NL" dirty="0"/>
              <a:t>De gebruiker stuurt met iedere actie de JWT mee.</a:t>
            </a:r>
          </a:p>
          <a:p>
            <a:r>
              <a:rPr lang="nl-NL" dirty="0"/>
              <a:t>JWT controleert zichzelf of de actie nog kan en of de juiste persoon acties uitvoert.</a:t>
            </a:r>
          </a:p>
        </p:txBody>
      </p:sp>
      <p:pic>
        <p:nvPicPr>
          <p:cNvPr id="4098" name="Picture 2" descr="MILK CHOCOLATE CHIP COOKIE XL">
            <a:extLst>
              <a:ext uri="{FF2B5EF4-FFF2-40B4-BE49-F238E27FC236}">
                <a16:creationId xmlns:a16="http://schemas.microsoft.com/office/drawing/2014/main" id="{377C670B-908B-9CC4-9449-299F4A7181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6312" y="39418"/>
            <a:ext cx="1497074" cy="149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24398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9D8D61-0B66-4C27-EF35-7FD222DE7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Opdrachten: Database </a:t>
            </a:r>
            <a:r>
              <a:rPr lang="nl-NL" dirty="0" err="1"/>
              <a:t>injections</a:t>
            </a:r>
            <a:r>
              <a:rPr lang="nl-NL" dirty="0"/>
              <a:t> &amp; JWT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3D65B2C-0B29-6837-1A38-EBF4B3F9D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Twee opdrachten deze week:</a:t>
            </a:r>
          </a:p>
          <a:p>
            <a:pPr lvl="1"/>
            <a:r>
              <a:rPr lang="nl-NL" dirty="0"/>
              <a:t>Database </a:t>
            </a:r>
            <a:r>
              <a:rPr lang="nl-NL" dirty="0" err="1"/>
              <a:t>injection</a:t>
            </a:r>
            <a:r>
              <a:rPr lang="nl-NL" dirty="0"/>
              <a:t> oefening met de mogelijkheid om een database te manipuleren op wijze die niet bedoeld zijn. </a:t>
            </a:r>
          </a:p>
          <a:p>
            <a:pPr lvl="1"/>
            <a:endParaRPr lang="nl-NL" dirty="0"/>
          </a:p>
          <a:p>
            <a:pPr lvl="1"/>
            <a:r>
              <a:rPr lang="nl-NL" dirty="0"/>
              <a:t>JWT oefening waarmee je een tijdelijke token kan maken en gebruik ervan maken. </a:t>
            </a:r>
          </a:p>
        </p:txBody>
      </p:sp>
    </p:spTree>
    <p:extLst>
      <p:ext uri="{BB962C8B-B14F-4D97-AF65-F5344CB8AC3E}">
        <p14:creationId xmlns:p14="http://schemas.microsoft.com/office/powerpoint/2010/main" val="24648477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1A3F00-D22C-8C45-2591-74E8FD01C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nl-NL" dirty="0"/>
              <a:t>Volgende week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186008C-654E-6F3B-AA1A-BDA418F9A7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18584"/>
          </a:xfrm>
        </p:spPr>
        <p:txBody>
          <a:bodyPr>
            <a:normAutofit/>
          </a:bodyPr>
          <a:lstStyle/>
          <a:p>
            <a:r>
              <a:rPr lang="nl-NL" dirty="0"/>
              <a:t>Netwerken</a:t>
            </a:r>
          </a:p>
          <a:p>
            <a:pPr lvl="1"/>
            <a:r>
              <a:rPr lang="nl-NL" sz="2800"/>
              <a:t>Afluisteren</a:t>
            </a:r>
          </a:p>
          <a:p>
            <a:pPr lvl="1"/>
            <a:r>
              <a:rPr lang="nl-NL" sz="2800"/>
              <a:t>Beschermen</a:t>
            </a:r>
          </a:p>
          <a:p>
            <a:pPr lvl="1"/>
            <a:r>
              <a:rPr lang="nl-NL" sz="2800"/>
              <a:t>VPN</a:t>
            </a:r>
          </a:p>
          <a:p>
            <a:r>
              <a:rPr lang="nl-NL" dirty="0"/>
              <a:t>Man in de </a:t>
            </a:r>
            <a:r>
              <a:rPr lang="nl-NL" dirty="0" err="1"/>
              <a:t>middle</a:t>
            </a:r>
            <a:endParaRPr lang="nl-NL" dirty="0"/>
          </a:p>
          <a:p>
            <a:r>
              <a:rPr lang="nl-NL" dirty="0" err="1"/>
              <a:t>Wireshark</a:t>
            </a:r>
            <a:endParaRPr lang="nl-NL" dirty="0"/>
          </a:p>
        </p:txBody>
      </p:sp>
      <p:pic>
        <p:nvPicPr>
          <p:cNvPr id="5" name="Graphic 4" descr="Verbindingen silhouet">
            <a:extLst>
              <a:ext uri="{FF2B5EF4-FFF2-40B4-BE49-F238E27FC236}">
                <a16:creationId xmlns:a16="http://schemas.microsoft.com/office/drawing/2014/main" id="{6C760D15-C48F-6D52-7C29-70292DD61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53708" y="1825625"/>
            <a:ext cx="4018584" cy="401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215279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e2" id="{9E7AAD1C-B155-4896-B55B-3944D7133965}" vid="{4C889715-0D36-4A12-BFED-915D686707C6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Nova1</Template>
  <TotalTime>1</TotalTime>
  <Words>1112</Words>
  <Application>Microsoft Office PowerPoint</Application>
  <PresentationFormat>Breedbeeld</PresentationFormat>
  <Paragraphs>161</Paragraphs>
  <Slides>39</Slides>
  <Notes>2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Kantoorthema</vt:lpstr>
      <vt:lpstr>CySec – les 4</vt:lpstr>
      <vt:lpstr>Programma</vt:lpstr>
      <vt:lpstr>Actualiteit</vt:lpstr>
      <vt:lpstr>Actualiteit - Odido</vt:lpstr>
      <vt:lpstr>Wat weten we nog van vorige les?</vt:lpstr>
      <vt:lpstr>Leerdoelen</vt:lpstr>
      <vt:lpstr>Inlog gegevens voor deze les zijn</vt:lpstr>
      <vt:lpstr>Graag even inloggen</vt:lpstr>
      <vt:lpstr>Database security – werkvorm – 5 minuten </vt:lpstr>
      <vt:lpstr>Graag even inloggen</vt:lpstr>
      <vt:lpstr>Database security opties</vt:lpstr>
      <vt:lpstr>Graag even inloggen</vt:lpstr>
      <vt:lpstr>Database security</vt:lpstr>
      <vt:lpstr>Graag even inloggen</vt:lpstr>
      <vt:lpstr>Rollen en rechten</vt:lpstr>
      <vt:lpstr>Graag even inloggen</vt:lpstr>
      <vt:lpstr>CRUD beveiliging</vt:lpstr>
      <vt:lpstr>Graag even inloggen</vt:lpstr>
      <vt:lpstr>Database security</vt:lpstr>
      <vt:lpstr>Graag even inloggen</vt:lpstr>
      <vt:lpstr>Database injections</vt:lpstr>
      <vt:lpstr>Graag even inloggen</vt:lpstr>
      <vt:lpstr>Database injections</vt:lpstr>
      <vt:lpstr>Graag even inloggen</vt:lpstr>
      <vt:lpstr>Database injections - ILLEGAAL</vt:lpstr>
      <vt:lpstr>Graag even inloggen</vt:lpstr>
      <vt:lpstr>Database injections – Hoe werkt het</vt:lpstr>
      <vt:lpstr>Graag even inloggen</vt:lpstr>
      <vt:lpstr>Database injections - bescherming</vt:lpstr>
      <vt:lpstr>Graag even inloggen</vt:lpstr>
      <vt:lpstr>Opdracht op github</vt:lpstr>
      <vt:lpstr>Graag even inloggen</vt:lpstr>
      <vt:lpstr>Zijn jullie het al zat om in te loggen?</vt:lpstr>
      <vt:lpstr>Graag even inloggen</vt:lpstr>
      <vt:lpstr>PowerPoint-presentatie</vt:lpstr>
      <vt:lpstr>JWT - gebruik</vt:lpstr>
      <vt:lpstr>JWT – gebruik in code</vt:lpstr>
      <vt:lpstr>Opdrachten: Database injections &amp; JWT</vt:lpstr>
      <vt:lpstr>Volgende week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Erwin van Hunnik</dc:creator>
  <cp:lastModifiedBy>Hunnik, Erwin van</cp:lastModifiedBy>
  <cp:revision>17</cp:revision>
  <dcterms:created xsi:type="dcterms:W3CDTF">2026-02-10T21:24:48Z</dcterms:created>
  <dcterms:modified xsi:type="dcterms:W3CDTF">2026-02-18T07:38:50Z</dcterms:modified>
</cp:coreProperties>
</file>