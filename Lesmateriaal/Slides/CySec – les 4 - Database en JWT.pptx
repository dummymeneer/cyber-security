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8" r:id="rId4"/>
    <p:sldId id="272" r:id="rId5"/>
    <p:sldId id="258" r:id="rId6"/>
    <p:sldId id="259" r:id="rId7"/>
    <p:sldId id="265" r:id="rId8"/>
    <p:sldId id="273" r:id="rId9"/>
    <p:sldId id="274" r:id="rId10"/>
    <p:sldId id="275" r:id="rId11"/>
    <p:sldId id="276" r:id="rId12"/>
    <p:sldId id="277" r:id="rId13"/>
    <p:sldId id="269" r:id="rId14"/>
    <p:sldId id="270" r:id="rId15"/>
    <p:sldId id="278" r:id="rId16"/>
    <p:sldId id="279" r:id="rId17"/>
    <p:sldId id="263" r:id="rId18"/>
    <p:sldId id="271" r:id="rId19"/>
    <p:sldId id="297" r:id="rId20"/>
    <p:sldId id="26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 varScale="1">
        <p:scale>
          <a:sx n="100" d="100"/>
          <a:sy n="100" d="100"/>
        </p:scale>
        <p:origin x="34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Afbeelding: https://pixabay.com/nl/illustrations/vlag-eu-europese-europa-de-eu-vlag-4303637/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773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7-3-2026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51tARU2aAc?feature=oembed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CySec</a:t>
            </a:r>
            <a:r>
              <a:rPr lang="nl-NL" dirty="0"/>
              <a:t> – les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Database security, Database </a:t>
            </a:r>
            <a:r>
              <a:rPr lang="nl-NL" dirty="0" err="1"/>
              <a:t>injections</a:t>
            </a:r>
            <a:r>
              <a:rPr lang="nl-NL" dirty="0"/>
              <a:t> en JWT</a:t>
            </a:r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vorige les</a:t>
            </a:r>
          </a:p>
          <a:p>
            <a:r>
              <a:rPr lang="nl-NL" dirty="0"/>
              <a:t>Leerdoelen</a:t>
            </a:r>
          </a:p>
          <a:p>
            <a:r>
              <a:rPr lang="nl-NL" dirty="0"/>
              <a:t>Database </a:t>
            </a:r>
            <a:r>
              <a:rPr lang="nl-NL" dirty="0" err="1"/>
              <a:t>secruity</a:t>
            </a:r>
            <a:endParaRPr lang="nl-NL" dirty="0"/>
          </a:p>
          <a:p>
            <a:r>
              <a:rPr lang="nl-NL" dirty="0"/>
              <a:t>Database </a:t>
            </a:r>
            <a:r>
              <a:rPr lang="nl-NL" dirty="0" err="1"/>
              <a:t>injections</a:t>
            </a:r>
            <a:endParaRPr lang="nl-NL" dirty="0"/>
          </a:p>
          <a:p>
            <a:r>
              <a:rPr lang="nl-NL" dirty="0"/>
              <a:t>JWT</a:t>
            </a:r>
          </a:p>
          <a:p>
            <a:r>
              <a:rPr lang="nl-NL" dirty="0"/>
              <a:t>Volgende week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DDC81-10B9-DC6F-0D56-350DB7DE8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Actualiteit</a:t>
            </a:r>
          </a:p>
        </p:txBody>
      </p:sp>
      <p:pic>
        <p:nvPicPr>
          <p:cNvPr id="4" name="Onlinemedia 3" title="Heeft Odido geleerd van het datalek? | LUBACH">
            <a:hlinkClick r:id="" action="ppaction://media"/>
            <a:extLst>
              <a:ext uri="{FF2B5EF4-FFF2-40B4-BE49-F238E27FC236}">
                <a16:creationId xmlns:a16="http://schemas.microsoft.com/office/drawing/2014/main" id="{1BB37EE2-D95A-F0FB-AEF9-27EBE3E1063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68588" y="1825625"/>
            <a:ext cx="6853237" cy="387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A3E2B-01D1-CB6C-23B6-639AFCEF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Actualiteit - </a:t>
            </a:r>
            <a:r>
              <a:rPr lang="nl-NL" dirty="0" err="1"/>
              <a:t>Odido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EA6923A-943B-2334-F39E-7AE41FF2E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3 aanvallen</a:t>
            </a:r>
          </a:p>
          <a:p>
            <a:pPr lvl="1"/>
            <a:r>
              <a:rPr lang="nl-NL"/>
              <a:t>Phishing</a:t>
            </a:r>
          </a:p>
          <a:p>
            <a:pPr lvl="1"/>
            <a:r>
              <a:rPr lang="nl-NL"/>
              <a:t>Autoritair</a:t>
            </a:r>
          </a:p>
          <a:p>
            <a:pPr lvl="1"/>
            <a:r>
              <a:rPr lang="nl-NL"/>
              <a:t>Hacking</a:t>
            </a:r>
          </a:p>
          <a:p>
            <a:r>
              <a:rPr lang="nl-NL"/>
              <a:t>2 </a:t>
            </a:r>
            <a:r>
              <a:rPr lang="nl-NL" dirty="0"/>
              <a:t>(vermeende) verdedigingen</a:t>
            </a:r>
          </a:p>
          <a:p>
            <a:pPr lvl="1"/>
            <a:r>
              <a:rPr lang="nl-NL"/>
              <a:t>Logging</a:t>
            </a:r>
          </a:p>
          <a:p>
            <a:pPr lvl="1"/>
            <a:r>
              <a:rPr lang="nl-NL"/>
              <a:t>Download blokkade</a:t>
            </a:r>
            <a:endParaRPr lang="nl-NL" dirty="0"/>
          </a:p>
        </p:txBody>
      </p:sp>
      <p:pic>
        <p:nvPicPr>
          <p:cNvPr id="1026" name="Picture 2" descr="Miljoenen Odido-klanten slachtoffer van datalek | SeniorWeb">
            <a:extLst>
              <a:ext uri="{FF2B5EF4-FFF2-40B4-BE49-F238E27FC236}">
                <a16:creationId xmlns:a16="http://schemas.microsoft.com/office/drawing/2014/main" id="{647D64EB-3AFC-C24C-DD94-6DC278994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468" y="1027906"/>
            <a:ext cx="3872442" cy="387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0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weten we nog van vorige les?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6" name="Picture 2" descr="Vlag Eu Europese - Gratis afbeelding op Pixabay">
            <a:extLst>
              <a:ext uri="{FF2B5EF4-FFF2-40B4-BE49-F238E27FC236}">
                <a16:creationId xmlns:a16="http://schemas.microsoft.com/office/drawing/2014/main" id="{024EF17D-BC04-09B1-BD24-21EA00D7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210" y="3566272"/>
            <a:ext cx="2962198" cy="268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5855A-447C-1837-7276-355F822E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C96C40-E495-1DDD-8C30-9641A0EA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Weet je de kernprincipes van databases beveiligen</a:t>
            </a:r>
          </a:p>
          <a:p>
            <a:pPr lvl="1"/>
            <a:r>
              <a:rPr lang="nl-NL" dirty="0"/>
              <a:t>Weet je hoe rollen data kan beschermen.</a:t>
            </a:r>
          </a:p>
          <a:p>
            <a:pPr lvl="1"/>
            <a:r>
              <a:rPr lang="nl-NL" dirty="0"/>
              <a:t>Weet je wat een database </a:t>
            </a:r>
            <a:r>
              <a:rPr lang="nl-NL" dirty="0" err="1"/>
              <a:t>injection</a:t>
            </a:r>
            <a:r>
              <a:rPr lang="nl-NL" dirty="0"/>
              <a:t> is.</a:t>
            </a:r>
          </a:p>
          <a:p>
            <a:pPr lvl="1"/>
            <a:r>
              <a:rPr lang="nl-NL" dirty="0"/>
              <a:t>Kan je een database </a:t>
            </a:r>
            <a:r>
              <a:rPr lang="nl-NL" dirty="0" err="1"/>
              <a:t>injection</a:t>
            </a:r>
            <a:r>
              <a:rPr lang="nl-NL" dirty="0"/>
              <a:t> uitvoeren in een gecontroleerde omgeving.</a:t>
            </a:r>
          </a:p>
          <a:p>
            <a:pPr lvl="1"/>
            <a:r>
              <a:rPr lang="nl-NL" dirty="0"/>
              <a:t>Weet je hoe je database </a:t>
            </a:r>
            <a:r>
              <a:rPr lang="nl-NL" dirty="0" err="1"/>
              <a:t>injections</a:t>
            </a:r>
            <a:r>
              <a:rPr lang="nl-NL" dirty="0"/>
              <a:t> kan weren.</a:t>
            </a:r>
          </a:p>
          <a:p>
            <a:pPr lvl="1"/>
            <a:r>
              <a:rPr lang="nl-NL" dirty="0"/>
              <a:t>Weet je wat een JWT is.</a:t>
            </a:r>
          </a:p>
          <a:p>
            <a:pPr lvl="1"/>
            <a:r>
              <a:rPr lang="nl-NL" dirty="0"/>
              <a:t>Weet je hoe je een JWT toepast.</a:t>
            </a:r>
          </a:p>
        </p:txBody>
      </p:sp>
    </p:spTree>
    <p:extLst>
      <p:ext uri="{BB962C8B-B14F-4D97-AF65-F5344CB8AC3E}">
        <p14:creationId xmlns:p14="http://schemas.microsoft.com/office/powerpoint/2010/main" val="261652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07051-0F3C-18D1-A04F-F432EA76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security opties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5DC7E6-20F3-149A-4BB4-6A7FD625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Wachtwoord beveiliging</a:t>
            </a:r>
          </a:p>
          <a:p>
            <a:r>
              <a:rPr lang="nl-NL" dirty="0"/>
              <a:t>Toegang tot specifieke datasets</a:t>
            </a:r>
          </a:p>
          <a:p>
            <a:r>
              <a:rPr lang="nl-NL" dirty="0"/>
              <a:t>Rollen en rechten</a:t>
            </a:r>
          </a:p>
          <a:p>
            <a:r>
              <a:rPr lang="nl-NL" dirty="0"/>
              <a:t>CRUD beveiliging</a:t>
            </a:r>
          </a:p>
          <a:p>
            <a:r>
              <a:rPr lang="nl-NL" dirty="0"/>
              <a:t>Download blokkades</a:t>
            </a:r>
          </a:p>
          <a:p>
            <a:r>
              <a:rPr lang="nl-NL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407327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2F2096A-9AE3-3EB4-2E7F-67C34ECF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security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4C2A8AE-371B-86D5-9BC9-1E2BF184C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Wachtwoord beveiliging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067380F8-675C-C67C-D2EA-B24700C5CD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Het minste dat erin moet zitten is een wachtwoord dat niet “root” of “password” of 1234 is</a:t>
            </a:r>
          </a:p>
          <a:p>
            <a:r>
              <a:rPr lang="nl-NL" dirty="0"/>
              <a:t>Sterke wachtwoorden beschermen al een klein deel van je data.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3D54475E-7F45-2338-C98F-43D0CEC8E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Toegang tot specifieke datasets</a:t>
            </a:r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C0561236-1B2C-308C-EE15-44B6CA42E1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/>
              <a:t>Verleen alleen toegang tot data die absoluut nodig is. </a:t>
            </a:r>
          </a:p>
          <a:p>
            <a:r>
              <a:rPr lang="nl-NL" dirty="0"/>
              <a:t>Als de klanten de film namen nodig heeft, geef ze dan niet ook toegang tot klantrekeningnummers</a:t>
            </a:r>
          </a:p>
          <a:p>
            <a:r>
              <a:rPr lang="nl-NL" dirty="0"/>
              <a:t>Map uit wie wat nodig heeft.</a:t>
            </a:r>
          </a:p>
        </p:txBody>
      </p:sp>
    </p:spTree>
    <p:extLst>
      <p:ext uri="{BB962C8B-B14F-4D97-AF65-F5344CB8AC3E}">
        <p14:creationId xmlns:p14="http://schemas.microsoft.com/office/powerpoint/2010/main" val="35891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1125D-4CA1-EF9B-21E6-BD429B9B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Rollen en rechten</a:t>
            </a:r>
          </a:p>
        </p:txBody>
      </p:sp>
      <p:pic>
        <p:nvPicPr>
          <p:cNvPr id="5" name="Graphic 4" descr="Werknemersbadge met effen opvulling">
            <a:extLst>
              <a:ext uri="{FF2B5EF4-FFF2-40B4-BE49-F238E27FC236}">
                <a16:creationId xmlns:a16="http://schemas.microsoft.com/office/drawing/2014/main" id="{2AC91571-78AA-3F0F-EB3D-75329001C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708" y="1825625"/>
            <a:ext cx="4018584" cy="4018584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AFA5FA-0318-9C06-8412-B30BD7300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>
            <a:normAutofit/>
          </a:bodyPr>
          <a:lstStyle/>
          <a:p>
            <a:r>
              <a:rPr lang="nl-NL" sz="2200" dirty="0"/>
              <a:t>Je kan rollen/</a:t>
            </a:r>
            <a:r>
              <a:rPr lang="nl-NL" sz="2200" dirty="0" err="1"/>
              <a:t>Gebruikerprofielen</a:t>
            </a:r>
            <a:r>
              <a:rPr lang="nl-NL" sz="2200" dirty="0"/>
              <a:t> maken voor een database.</a:t>
            </a:r>
          </a:p>
          <a:p>
            <a:r>
              <a:rPr lang="nl-NL" sz="2200" dirty="0"/>
              <a:t>Deze rollen bevatten bepaalde rechten zoals:</a:t>
            </a:r>
          </a:p>
          <a:p>
            <a:pPr lvl="1"/>
            <a:r>
              <a:rPr lang="nl-NL" sz="2200" dirty="0"/>
              <a:t>Of dit type gebruiker mag toevoegen, verwijderen of wijzigen.</a:t>
            </a:r>
          </a:p>
          <a:p>
            <a:pPr lvl="1"/>
            <a:r>
              <a:rPr lang="nl-NL" sz="2200" dirty="0"/>
              <a:t>Welke tabellen dit type gebruiker mag inzien.</a:t>
            </a:r>
          </a:p>
          <a:p>
            <a:pPr lvl="1"/>
            <a:r>
              <a:rPr lang="nl-NL" sz="2200" dirty="0"/>
              <a:t>Of de gebruiker op grote schaal aanpassingen mag maken.</a:t>
            </a:r>
          </a:p>
          <a:p>
            <a:endParaRPr lang="nl-NL" sz="2200" dirty="0"/>
          </a:p>
        </p:txBody>
      </p:sp>
    </p:spTree>
    <p:extLst>
      <p:ext uri="{BB962C8B-B14F-4D97-AF65-F5344CB8AC3E}">
        <p14:creationId xmlns:p14="http://schemas.microsoft.com/office/powerpoint/2010/main" val="3937316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FF15B4E-67E7-E30F-4C73-506FFD84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CRUD beveiliging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81DA0814-AF4F-DE72-6E93-522F8945D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604416" cy="3872442"/>
          </a:xfrm>
        </p:spPr>
        <p:txBody>
          <a:bodyPr>
            <a:normAutofit fontScale="92500" lnSpcReduction="20000"/>
          </a:bodyPr>
          <a:lstStyle/>
          <a:p>
            <a:r>
              <a:rPr lang="nl-NL" b="1" dirty="0" err="1"/>
              <a:t>Create</a:t>
            </a:r>
            <a:r>
              <a:rPr lang="nl-NL" dirty="0"/>
              <a:t> – Mag een type gebruiker data aanmaken</a:t>
            </a:r>
          </a:p>
          <a:p>
            <a:r>
              <a:rPr lang="nl-NL" b="1" dirty="0"/>
              <a:t>Read</a:t>
            </a:r>
            <a:r>
              <a:rPr lang="nl-NL" dirty="0"/>
              <a:t> – Mag een type gebruiker data inzien</a:t>
            </a:r>
          </a:p>
          <a:p>
            <a:r>
              <a:rPr lang="nl-NL" b="1" dirty="0"/>
              <a:t>Update</a:t>
            </a:r>
            <a:r>
              <a:rPr lang="nl-NL" dirty="0"/>
              <a:t> – Mag een type gebruiker data wijzigen</a:t>
            </a:r>
          </a:p>
          <a:p>
            <a:r>
              <a:rPr lang="nl-NL" b="1" dirty="0"/>
              <a:t>Delete</a:t>
            </a:r>
            <a:r>
              <a:rPr lang="nl-NL" dirty="0"/>
              <a:t> – Mag een type gebruiker data verwijderen</a:t>
            </a:r>
          </a:p>
          <a:p>
            <a:endParaRPr lang="nl-NL" dirty="0"/>
          </a:p>
          <a:p>
            <a:r>
              <a:rPr lang="nl-NL" dirty="0"/>
              <a:t>Dit kan op tabel, lijst, datapunt en kolom niveau bepaald worden</a:t>
            </a:r>
          </a:p>
        </p:txBody>
      </p:sp>
      <p:pic>
        <p:nvPicPr>
          <p:cNvPr id="2050" name="Picture 2" descr="What is a Table?">
            <a:extLst>
              <a:ext uri="{FF2B5EF4-FFF2-40B4-BE49-F238E27FC236}">
                <a16:creationId xmlns:a16="http://schemas.microsoft.com/office/drawing/2014/main" id="{405A43CF-1C10-D7E0-6625-CDAF17A84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895" y="2043112"/>
            <a:ext cx="4619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943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51841-F2EF-A20A-ADDA-900D6690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security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3FBCFD1-2F05-9B5E-FF39-42A52568E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Download blokkades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C450547-4B13-4FCE-CCA7-75AF33B477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Speciale software regels die downloaden van data (bijna) onmogelijk maken.</a:t>
            </a:r>
          </a:p>
          <a:p>
            <a:r>
              <a:rPr lang="nl-NL" dirty="0"/>
              <a:t>Vereist vaak de goedkeuring van meerdere hoge managers.</a:t>
            </a:r>
          </a:p>
          <a:p>
            <a:r>
              <a:rPr lang="nl-NL" dirty="0"/>
              <a:t>Voorkomt massa dataleks.</a:t>
            </a:r>
          </a:p>
          <a:p>
            <a:r>
              <a:rPr lang="nl-NL" dirty="0"/>
              <a:t>Wordt niet vaak genoeg gebruikt.</a:t>
            </a:r>
          </a:p>
          <a:p>
            <a:r>
              <a:rPr lang="nl-NL" dirty="0"/>
              <a:t>Zo sterk/zwak als de rest van de beveiliging.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C62D643-77B8-C62B-D08F-4102FAC8E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Monitoring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95C31A1-9A22-794A-ECFB-177D78C8B39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Databases worden gemonitord door mens en machine. </a:t>
            </a:r>
          </a:p>
          <a:p>
            <a:r>
              <a:rPr lang="nl-NL" dirty="0"/>
              <a:t>Machines geven signalen af als er verdachte activiteit is.</a:t>
            </a:r>
          </a:p>
          <a:p>
            <a:r>
              <a:rPr lang="nl-NL" dirty="0"/>
              <a:t>Mensen nemen actie om data veilig te stellen.</a:t>
            </a:r>
          </a:p>
          <a:p>
            <a:r>
              <a:rPr lang="nl-NL" dirty="0"/>
              <a:t>24/7 monitoring voor grote data bedrijven.</a:t>
            </a:r>
          </a:p>
        </p:txBody>
      </p:sp>
      <p:pic>
        <p:nvPicPr>
          <p:cNvPr id="8" name="Graphic 7" descr="Beveiligingscamera met effen opvulling">
            <a:extLst>
              <a:ext uri="{FF2B5EF4-FFF2-40B4-BE49-F238E27FC236}">
                <a16:creationId xmlns:a16="http://schemas.microsoft.com/office/drawing/2014/main" id="{2C57F692-D543-D198-F586-280C3997A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512532" y="244477"/>
            <a:ext cx="1754080" cy="175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7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C4F8035-01A5-10A7-E595-A32675391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endParaRPr lang="nl-NL" dirty="0"/>
          </a:p>
        </p:txBody>
      </p:sp>
      <p:sp>
        <p:nvSpPr>
          <p:cNvPr id="8" name="Ondertitel 7">
            <a:extLst>
              <a:ext uri="{FF2B5EF4-FFF2-40B4-BE49-F238E27FC236}">
                <a16:creationId xmlns:a16="http://schemas.microsoft.com/office/drawing/2014/main" id="{25789F8D-9A84-44E0-8137-99BDF72EE5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3074" name="Picture 2" descr="Meme: &quot;Hacking time&quot; - All Templates - Meme-arsenal.com">
            <a:extLst>
              <a:ext uri="{FF2B5EF4-FFF2-40B4-BE49-F238E27FC236}">
                <a16:creationId xmlns:a16="http://schemas.microsoft.com/office/drawing/2014/main" id="{F56B808F-A836-AB70-04FF-1F706BC9B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9"/>
          <a:stretch>
            <a:fillRect/>
          </a:stretch>
        </p:blipFill>
        <p:spPr bwMode="auto">
          <a:xfrm>
            <a:off x="7429500" y="3026347"/>
            <a:ext cx="4762500" cy="290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825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129DD0-3554-61EE-DABB-5FF253B1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89F514-EE8A-AEA3-099D-5FE17B1C1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r>
              <a:rPr lang="nl-NL" dirty="0"/>
              <a:t> zijn een invoer in een veld waarbij data gemanipuleerd wordt op </a:t>
            </a:r>
            <a:r>
              <a:rPr lang="nl-NL" dirty="0" err="1"/>
              <a:t>wijzes</a:t>
            </a:r>
            <a:r>
              <a:rPr lang="nl-NL" dirty="0"/>
              <a:t> waarvoor die niet bedoeld zijn.</a:t>
            </a:r>
          </a:p>
          <a:p>
            <a:r>
              <a:rPr lang="nl-NL" dirty="0"/>
              <a:t>Dit kan onschuldig zijn maar is dat vaak niet. </a:t>
            </a:r>
          </a:p>
          <a:p>
            <a:r>
              <a:rPr lang="nl-NL" dirty="0"/>
              <a:t>Meeste systemen zijn hier tegen beschermd. De weinige die dat niet zijn geven informatie vrij.</a:t>
            </a:r>
          </a:p>
        </p:txBody>
      </p:sp>
    </p:spTree>
    <p:extLst>
      <p:ext uri="{BB962C8B-B14F-4D97-AF65-F5344CB8AC3E}">
        <p14:creationId xmlns:p14="http://schemas.microsoft.com/office/powerpoint/2010/main" val="1881921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12839D-E75C-A707-E6C3-9200D3B8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r>
              <a:rPr lang="nl-NL" dirty="0"/>
              <a:t> - </a:t>
            </a:r>
            <a:r>
              <a:rPr lang="nl-NL" b="1" dirty="0">
                <a:solidFill>
                  <a:srgbClr val="FF0000"/>
                </a:solidFill>
              </a:rPr>
              <a:t>ILLEGAAL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0C1179A-E437-E8E0-5C95-061F410CE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r>
              <a:rPr lang="nl-NL" dirty="0"/>
              <a:t> op een systeem waar je geen toestemming van hebt is </a:t>
            </a:r>
            <a:r>
              <a:rPr lang="nl-NL" b="1" dirty="0">
                <a:solidFill>
                  <a:srgbClr val="FF0000"/>
                </a:solidFill>
              </a:rPr>
              <a:t>ILLEGAAL</a:t>
            </a:r>
          </a:p>
          <a:p>
            <a:r>
              <a:rPr lang="nl-NL" dirty="0"/>
              <a:t>Lichte straffen voor data opvragen, tot zware straffen van data verspreiden en/of verwijderen</a:t>
            </a:r>
          </a:p>
          <a:p>
            <a:r>
              <a:rPr lang="nl-NL" dirty="0"/>
              <a:t>Zeer makkelijk te traceren</a:t>
            </a:r>
          </a:p>
          <a:p>
            <a:r>
              <a:rPr lang="nl-NL" dirty="0"/>
              <a:t>Juridisch kan hier een straf op zitten van:</a:t>
            </a:r>
          </a:p>
          <a:p>
            <a:pPr lvl="1"/>
            <a:r>
              <a:rPr lang="nl-NL" dirty="0"/>
              <a:t>Een ban van de website/service</a:t>
            </a:r>
          </a:p>
          <a:p>
            <a:pPr lvl="1"/>
            <a:r>
              <a:rPr lang="nl-NL" dirty="0"/>
              <a:t>20.000 euro</a:t>
            </a:r>
          </a:p>
          <a:p>
            <a:pPr lvl="1"/>
            <a:r>
              <a:rPr lang="nl-NL" dirty="0"/>
              <a:t>Tot 20 jaar de cel in</a:t>
            </a:r>
          </a:p>
          <a:p>
            <a:endParaRPr lang="nl-NL" dirty="0"/>
          </a:p>
        </p:txBody>
      </p:sp>
      <p:pic>
        <p:nvPicPr>
          <p:cNvPr id="5" name="Graphic 4" descr="Waarschuwing met effen opvulling">
            <a:extLst>
              <a:ext uri="{FF2B5EF4-FFF2-40B4-BE49-F238E27FC236}">
                <a16:creationId xmlns:a16="http://schemas.microsoft.com/office/drawing/2014/main" id="{2B971A56-703C-9499-E97E-512D1419A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6603" y="3604466"/>
            <a:ext cx="2228538" cy="22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1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42F87-D3D0-CCB2-0C9C-9BF33BE4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r>
              <a:rPr lang="nl-NL" dirty="0"/>
              <a:t> – Hoe werkt het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6359B5-F944-C617-BFAD-1ACDC2A5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Grofweg:</a:t>
            </a:r>
          </a:p>
          <a:p>
            <a:pPr lvl="1"/>
            <a:r>
              <a:rPr lang="nl-NL" dirty="0"/>
              <a:t>Je doelwit programma heeft een invoer veld.</a:t>
            </a:r>
          </a:p>
          <a:p>
            <a:pPr lvl="1"/>
            <a:r>
              <a:rPr lang="nl-NL" dirty="0"/>
              <a:t>Met dit invoer veld kan je zoeken naar een item.</a:t>
            </a:r>
          </a:p>
          <a:p>
            <a:pPr lvl="1"/>
            <a:r>
              <a:rPr lang="nl-NL" dirty="0"/>
              <a:t>In plaats van een normaal zoek resultaat geef je een afsluiting van SQL mee en daar achter een SQL command van wat je wilt bereiken.</a:t>
            </a:r>
          </a:p>
          <a:p>
            <a:endParaRPr lang="nl-NL" dirty="0"/>
          </a:p>
          <a:p>
            <a:r>
              <a:rPr lang="nl-NL" dirty="0"/>
              <a:t>Veel SQL applicaties hebben al enkele beveiliging hiervoor maar niet geheel!</a:t>
            </a:r>
          </a:p>
        </p:txBody>
      </p:sp>
    </p:spTree>
    <p:extLst>
      <p:ext uri="{BB962C8B-B14F-4D97-AF65-F5344CB8AC3E}">
        <p14:creationId xmlns:p14="http://schemas.microsoft.com/office/powerpoint/2010/main" val="2156469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D3516-15F2-77F2-09A7-B8C45B87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</a:t>
            </a:r>
            <a:r>
              <a:rPr lang="nl-NL" dirty="0" err="1"/>
              <a:t>injections</a:t>
            </a:r>
            <a:r>
              <a:rPr lang="nl-NL" dirty="0"/>
              <a:t> - bescherming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53DA35-9A27-CDA0-E0E0-57945E57E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2 bekende manieren</a:t>
            </a:r>
          </a:p>
          <a:p>
            <a:r>
              <a:rPr lang="nl-NL" dirty="0"/>
              <a:t>1. je zoekt naar symbolen die niet thuishoren in een normaal verwacht invoerveld en keurt daarop een input goed of fout</a:t>
            </a:r>
          </a:p>
          <a:p>
            <a:r>
              <a:rPr lang="nl-NL" dirty="0"/>
              <a:t>2. Je laat een package controleren of de input correct is of niet</a:t>
            </a:r>
          </a:p>
          <a:p>
            <a:endParaRPr lang="nl-NL" dirty="0"/>
          </a:p>
          <a:p>
            <a:r>
              <a:rPr lang="nl-NL" dirty="0"/>
              <a:t>1 is meer werk maar zelf inzicht, 2 kan betrouwbaar en snel zijn maar kan iets over het hoofd zien.</a:t>
            </a:r>
          </a:p>
          <a:p>
            <a:endParaRPr lang="nl-NL" dirty="0"/>
          </a:p>
        </p:txBody>
      </p:sp>
      <p:pic>
        <p:nvPicPr>
          <p:cNvPr id="5" name="Graphic 4" descr="Schild met vinkje met effen opvulling">
            <a:extLst>
              <a:ext uri="{FF2B5EF4-FFF2-40B4-BE49-F238E27FC236}">
                <a16:creationId xmlns:a16="http://schemas.microsoft.com/office/drawing/2014/main" id="{D59B2682-6062-563B-9D61-1C4821687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8459" y="365125"/>
            <a:ext cx="1883764" cy="18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2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CEC88-3D46-F402-7693-C4F510DB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26A35B-3FEA-46C1-6448-941478EA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420" y="1825625"/>
            <a:ext cx="8690379" cy="3872442"/>
          </a:xfrm>
        </p:spPr>
        <p:txBody>
          <a:bodyPr/>
          <a:lstStyle/>
          <a:p>
            <a:r>
              <a:rPr lang="nl-NL" dirty="0"/>
              <a:t>JSON Web tokens, zijn tokens die bewaard worden op een lokale browser.</a:t>
            </a:r>
          </a:p>
          <a:p>
            <a:r>
              <a:rPr lang="nl-NL" dirty="0"/>
              <a:t>Deze tokens voorkomen dat inloggen niet consistent nodig is voor iedere actie.</a:t>
            </a:r>
          </a:p>
          <a:p>
            <a:r>
              <a:rPr lang="nl-NL" dirty="0"/>
              <a:t>Vooral gebruikt voor web development maar kan ook gebruikt worden voor reguliere applicaties</a:t>
            </a:r>
          </a:p>
          <a:p>
            <a:r>
              <a:rPr lang="nl-NL" dirty="0"/>
              <a:t>Wordt universeel gebruikt en is makkelijk terug te zoeken in een browser, het is een type Cookie</a:t>
            </a:r>
          </a:p>
          <a:p>
            <a:endParaRPr lang="nl-NL" dirty="0"/>
          </a:p>
        </p:txBody>
      </p:sp>
      <p:pic>
        <p:nvPicPr>
          <p:cNvPr id="2050" name="Picture 2" descr="JSON Web Token — Explanation. JWT is used for authentication and… | by  Somesh | Medium">
            <a:extLst>
              <a:ext uri="{FF2B5EF4-FFF2-40B4-BE49-F238E27FC236}">
                <a16:creationId xmlns:a16="http://schemas.microsoft.com/office/drawing/2014/main" id="{4D1E81A4-FB44-7886-D593-6ABAA71A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97" y="352265"/>
            <a:ext cx="4529840" cy="132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895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9D43B-085C-94D0-3743-F763D559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JWT - gebruik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901959-0508-93D2-E083-6980228B7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 gebruiker logt in.</a:t>
            </a:r>
          </a:p>
          <a:p>
            <a:r>
              <a:rPr lang="nl-NL" dirty="0"/>
              <a:t>De gegevens worden gecontroleerd</a:t>
            </a:r>
          </a:p>
          <a:p>
            <a:r>
              <a:rPr lang="nl-NL" dirty="0"/>
              <a:t>De server maakt een token aan die gekoppeld is aan een gebruiker en tijdsframe. (Soms ook IP bij hoge beveiliging)</a:t>
            </a:r>
          </a:p>
          <a:p>
            <a:r>
              <a:rPr lang="nl-NL" dirty="0"/>
              <a:t>De gebruiker kan nu doen wat hij/zij wilt tot de gebruiker uitlogt of tot de tijd op is.</a:t>
            </a:r>
          </a:p>
        </p:txBody>
      </p:sp>
      <p:pic>
        <p:nvPicPr>
          <p:cNvPr id="4098" name="Picture 2" descr="MILK CHOCOLATE CHIP COOKIE XL">
            <a:extLst>
              <a:ext uri="{FF2B5EF4-FFF2-40B4-BE49-F238E27FC236}">
                <a16:creationId xmlns:a16="http://schemas.microsoft.com/office/drawing/2014/main" id="{85302E53-A903-F88A-0A2F-94EF1BBC7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312" y="39418"/>
            <a:ext cx="1497074" cy="14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567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74A3-A094-CDC8-71E9-4795D35A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D44702-6029-CE5F-93CA-1840BCAC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JWT – gebruik in code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BC2A6B-5654-A801-F9F0-2F2EA86CA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(Bijna) iedere taal heeft een package waarmee je JWT kan genereren, vereist vaak een </a:t>
            </a:r>
            <a:r>
              <a:rPr lang="nl-NL" dirty="0" err="1"/>
              <a:t>install</a:t>
            </a:r>
            <a:r>
              <a:rPr lang="nl-NL" dirty="0"/>
              <a:t>.</a:t>
            </a:r>
          </a:p>
          <a:p>
            <a:r>
              <a:rPr lang="nl-NL" dirty="0"/>
              <a:t>Je maakt een private key van random letters en cijfers. </a:t>
            </a:r>
          </a:p>
          <a:p>
            <a:r>
              <a:rPr lang="nl-NL" dirty="0"/>
              <a:t>Laat JWT het generen</a:t>
            </a:r>
          </a:p>
          <a:p>
            <a:r>
              <a:rPr lang="nl-NL" dirty="0"/>
              <a:t>Stuurt het op naar de gebruiker, deze slaat het op in de browser</a:t>
            </a:r>
          </a:p>
          <a:p>
            <a:r>
              <a:rPr lang="nl-NL" dirty="0"/>
              <a:t>De gebruiker stuurt met iedere actie de JWT mee.</a:t>
            </a:r>
          </a:p>
          <a:p>
            <a:r>
              <a:rPr lang="nl-NL" dirty="0"/>
              <a:t>JWT controleert zichzelf of de actie nog kan en of de juiste persoon acties uitvoert.</a:t>
            </a:r>
          </a:p>
        </p:txBody>
      </p:sp>
      <p:pic>
        <p:nvPicPr>
          <p:cNvPr id="4098" name="Picture 2" descr="MILK CHOCOLATE CHIP COOKIE XL">
            <a:extLst>
              <a:ext uri="{FF2B5EF4-FFF2-40B4-BE49-F238E27FC236}">
                <a16:creationId xmlns:a16="http://schemas.microsoft.com/office/drawing/2014/main" id="{377C670B-908B-9CC4-9449-299F4A718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312" y="39418"/>
            <a:ext cx="1497074" cy="149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439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D8D61-0B66-4C27-EF35-7FD222DE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Opdrachten: Database </a:t>
            </a:r>
            <a:r>
              <a:rPr lang="nl-NL" dirty="0" err="1"/>
              <a:t>injections</a:t>
            </a:r>
            <a:r>
              <a:rPr lang="nl-NL" dirty="0"/>
              <a:t> &amp; JWT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D65B2C-0B29-6837-1A38-EBF4B3F9D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Twee opdrachten deze week:</a:t>
            </a:r>
          </a:p>
          <a:p>
            <a:pPr lvl="1"/>
            <a:r>
              <a:rPr lang="nl-NL" dirty="0"/>
              <a:t>Database </a:t>
            </a:r>
            <a:r>
              <a:rPr lang="nl-NL" dirty="0" err="1"/>
              <a:t>injection</a:t>
            </a:r>
            <a:r>
              <a:rPr lang="nl-NL" dirty="0"/>
              <a:t> oefening met de mogelijkheid om een database te manipuleren op wijze die niet bedoeld zijn. 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JWT oefening waarmee je een tijdelijke token kan maken en gebruik ervan maken. </a:t>
            </a:r>
          </a:p>
        </p:txBody>
      </p:sp>
    </p:spTree>
    <p:extLst>
      <p:ext uri="{BB962C8B-B14F-4D97-AF65-F5344CB8AC3E}">
        <p14:creationId xmlns:p14="http://schemas.microsoft.com/office/powerpoint/2010/main" val="2464847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A3F00-D22C-8C45-2591-74E8FD01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86008C-654E-6F3B-AA1A-BDA418F9A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>
            <a:normAutofit/>
          </a:bodyPr>
          <a:lstStyle/>
          <a:p>
            <a:r>
              <a:rPr lang="nl-NL" dirty="0"/>
              <a:t>Netwerken</a:t>
            </a:r>
          </a:p>
          <a:p>
            <a:pPr lvl="1"/>
            <a:r>
              <a:rPr lang="nl-NL" sz="2800"/>
              <a:t>Afluisteren</a:t>
            </a:r>
          </a:p>
          <a:p>
            <a:pPr lvl="1"/>
            <a:r>
              <a:rPr lang="nl-NL" sz="2800"/>
              <a:t>Beschermen</a:t>
            </a:r>
          </a:p>
          <a:p>
            <a:pPr lvl="1"/>
            <a:r>
              <a:rPr lang="nl-NL" sz="2800"/>
              <a:t>VPN</a:t>
            </a:r>
          </a:p>
          <a:p>
            <a:r>
              <a:rPr lang="nl-NL" dirty="0"/>
              <a:t>Man in de </a:t>
            </a:r>
            <a:r>
              <a:rPr lang="nl-NL" dirty="0" err="1"/>
              <a:t>middle</a:t>
            </a:r>
            <a:endParaRPr lang="nl-NL" dirty="0"/>
          </a:p>
          <a:p>
            <a:r>
              <a:rPr lang="nl-NL" dirty="0" err="1"/>
              <a:t>Wireshark</a:t>
            </a:r>
            <a:endParaRPr lang="nl-NL" dirty="0"/>
          </a:p>
        </p:txBody>
      </p:sp>
      <p:pic>
        <p:nvPicPr>
          <p:cNvPr id="5" name="Graphic 4" descr="Verbindingen silhouet">
            <a:extLst>
              <a:ext uri="{FF2B5EF4-FFF2-40B4-BE49-F238E27FC236}">
                <a16:creationId xmlns:a16="http://schemas.microsoft.com/office/drawing/2014/main" id="{6C760D15-C48F-6D52-7C29-70292DD61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3708" y="1825625"/>
            <a:ext cx="4018584" cy="401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1527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887</Words>
  <Application>Microsoft Office PowerPoint</Application>
  <PresentationFormat>Breedbeeld</PresentationFormat>
  <Paragraphs>124</Paragraphs>
  <Slides>21</Slides>
  <Notes>1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Kantoorthema</vt:lpstr>
      <vt:lpstr>CySec – les 4</vt:lpstr>
      <vt:lpstr>Programma</vt:lpstr>
      <vt:lpstr>Actualiteit</vt:lpstr>
      <vt:lpstr>Actualiteit - Odido</vt:lpstr>
      <vt:lpstr>Wat weten we nog van vorige les?</vt:lpstr>
      <vt:lpstr>Leerdoelen</vt:lpstr>
      <vt:lpstr>Database security opties</vt:lpstr>
      <vt:lpstr>Database security</vt:lpstr>
      <vt:lpstr>Rollen en rechten</vt:lpstr>
      <vt:lpstr>CRUD beveiliging</vt:lpstr>
      <vt:lpstr>Database security</vt:lpstr>
      <vt:lpstr>Database injections</vt:lpstr>
      <vt:lpstr>Database injections</vt:lpstr>
      <vt:lpstr>Database injections - ILLEGAAL</vt:lpstr>
      <vt:lpstr>Database injections – Hoe werkt het</vt:lpstr>
      <vt:lpstr>Database injections - bescherming</vt:lpstr>
      <vt:lpstr>PowerPoint-presentatie</vt:lpstr>
      <vt:lpstr>JWT - gebruik</vt:lpstr>
      <vt:lpstr>JWT – gebruik in code</vt:lpstr>
      <vt:lpstr>Opdrachten: Database injections &amp; JWT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19</cp:revision>
  <dcterms:created xsi:type="dcterms:W3CDTF">2026-02-10T21:24:48Z</dcterms:created>
  <dcterms:modified xsi:type="dcterms:W3CDTF">2026-03-06T23:09:57Z</dcterms:modified>
</cp:coreProperties>
</file>