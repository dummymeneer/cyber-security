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9" r:id="rId2"/>
    <p:sldId id="256" r:id="rId3"/>
    <p:sldId id="257" r:id="rId4"/>
    <p:sldId id="258" r:id="rId5"/>
    <p:sldId id="290" r:id="rId6"/>
    <p:sldId id="306" r:id="rId7"/>
    <p:sldId id="291" r:id="rId8"/>
    <p:sldId id="297" r:id="rId9"/>
    <p:sldId id="298" r:id="rId10"/>
    <p:sldId id="292" r:id="rId11"/>
    <p:sldId id="299" r:id="rId12"/>
    <p:sldId id="305" r:id="rId13"/>
    <p:sldId id="301" r:id="rId14"/>
    <p:sldId id="294" r:id="rId15"/>
    <p:sldId id="312" r:id="rId16"/>
    <p:sldId id="307" r:id="rId17"/>
    <p:sldId id="309" r:id="rId18"/>
    <p:sldId id="316" r:id="rId19"/>
    <p:sldId id="308" r:id="rId20"/>
    <p:sldId id="325" r:id="rId21"/>
    <p:sldId id="313" r:id="rId22"/>
    <p:sldId id="320" r:id="rId23"/>
    <p:sldId id="319" r:id="rId24"/>
    <p:sldId id="317" r:id="rId25"/>
    <p:sldId id="318" r:id="rId26"/>
    <p:sldId id="310" r:id="rId27"/>
    <p:sldId id="311" r:id="rId28"/>
    <p:sldId id="328" r:id="rId29"/>
    <p:sldId id="330" r:id="rId30"/>
    <p:sldId id="331" r:id="rId31"/>
    <p:sldId id="332" r:id="rId32"/>
    <p:sldId id="259" r:id="rId33"/>
    <p:sldId id="26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0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16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Bron: https://donderberggroep.nl/pf47-paard-van-troje-en-andere-brandbare-replicas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7432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https://www.youtube.com/watch?v=_M98kx8fiy8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11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Bron: https://www.reddit.com/r/pcmasterrace/comments/yk1gtu/hollywood_vs_reality/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9112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Bron: https://stock.adobe.com/nl/images/terrorist-balaclava-mask-ak-symbol-silhouette-icon-on-background/123930924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239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7-3-2026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7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6672E-A245-4AF9-85E5-7A1DF618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Mededelingen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F7A513-31BB-B325-B209-49CD4C64D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Laaste</a:t>
            </a:r>
            <a:r>
              <a:rPr lang="nl-NL" dirty="0"/>
              <a:t> officiële les </a:t>
            </a:r>
          </a:p>
          <a:p>
            <a:r>
              <a:rPr lang="nl-NL" dirty="0"/>
              <a:t>Vergeet niet je programmeer opdrachten te laten aftekenen</a:t>
            </a:r>
          </a:p>
          <a:p>
            <a:pPr lvl="1"/>
            <a:r>
              <a:rPr lang="nl-NL" dirty="0"/>
              <a:t>Niet gedaan = Geen examen</a:t>
            </a:r>
          </a:p>
          <a:p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8219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CySec</a:t>
            </a:r>
            <a:r>
              <a:rPr lang="nl-NL" dirty="0"/>
              <a:t> – les 7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Social</a:t>
            </a:r>
            <a:r>
              <a:rPr lang="nl-NL" dirty="0"/>
              <a:t> </a:t>
            </a:r>
            <a:r>
              <a:rPr lang="nl-NL" dirty="0" err="1"/>
              <a:t>enigeering</a:t>
            </a:r>
            <a:r>
              <a:rPr lang="nl-NL" dirty="0"/>
              <a:t>, </a:t>
            </a:r>
            <a:r>
              <a:rPr lang="nl-NL" dirty="0" err="1"/>
              <a:t>Hacking</a:t>
            </a:r>
            <a:r>
              <a:rPr lang="nl-NL" dirty="0"/>
              <a:t>, hackers</a:t>
            </a:r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Terugblik vorige les</a:t>
            </a:r>
          </a:p>
          <a:p>
            <a:r>
              <a:rPr lang="nl-NL" dirty="0"/>
              <a:t>Leerdoelen</a:t>
            </a:r>
          </a:p>
          <a:p>
            <a:r>
              <a:rPr lang="nl-NL" dirty="0" err="1"/>
              <a:t>Social</a:t>
            </a:r>
            <a:r>
              <a:rPr lang="nl-NL" dirty="0"/>
              <a:t> </a:t>
            </a:r>
            <a:r>
              <a:rPr lang="nl-NL" dirty="0" err="1"/>
              <a:t>enigineering</a:t>
            </a:r>
            <a:endParaRPr lang="nl-NL" dirty="0"/>
          </a:p>
          <a:p>
            <a:r>
              <a:rPr lang="nl-NL" dirty="0" err="1"/>
              <a:t>Hacking</a:t>
            </a:r>
            <a:r>
              <a:rPr lang="nl-NL" dirty="0"/>
              <a:t> en aanvallen</a:t>
            </a:r>
          </a:p>
          <a:p>
            <a:r>
              <a:rPr lang="nl-NL" dirty="0"/>
              <a:t>Hackers</a:t>
            </a:r>
          </a:p>
          <a:p>
            <a:r>
              <a:rPr lang="nl-NL" dirty="0"/>
              <a:t>Volgende week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weten we nog van vorige les?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Contracten</a:t>
            </a:r>
          </a:p>
          <a:p>
            <a:r>
              <a:rPr lang="nl-NL" dirty="0"/>
              <a:t>Lokale wetten</a:t>
            </a:r>
          </a:p>
          <a:p>
            <a:pPr lvl="1"/>
            <a:r>
              <a:rPr lang="nl-NL" dirty="0"/>
              <a:t>Nederland</a:t>
            </a:r>
          </a:p>
          <a:p>
            <a:pPr lvl="1"/>
            <a:r>
              <a:rPr lang="nl-NL" dirty="0"/>
              <a:t>Amerika</a:t>
            </a:r>
          </a:p>
          <a:p>
            <a:pPr lvl="1"/>
            <a:r>
              <a:rPr lang="nl-NL" dirty="0"/>
              <a:t>China</a:t>
            </a:r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1B41D0-F860-BD99-802F-A448DE3B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Cyber security is niet alleen computers of sloten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7A7237-2FC8-359B-01AB-8E6FE0CDD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van de zwakste schakels binnen cyber security is de mens</a:t>
            </a:r>
          </a:p>
          <a:p>
            <a:r>
              <a:rPr lang="nl-NL" dirty="0"/>
              <a:t>Een spel van </a:t>
            </a:r>
          </a:p>
          <a:p>
            <a:pPr lvl="1"/>
            <a:r>
              <a:rPr lang="nl-NL" dirty="0"/>
              <a:t>Vertrouwen</a:t>
            </a:r>
          </a:p>
          <a:p>
            <a:pPr lvl="1"/>
            <a:r>
              <a:rPr lang="nl-NL" dirty="0"/>
              <a:t>Goed gelovigheid</a:t>
            </a:r>
          </a:p>
          <a:p>
            <a:pPr lvl="1"/>
            <a:r>
              <a:rPr lang="nl-NL" dirty="0"/>
              <a:t>Macht</a:t>
            </a:r>
          </a:p>
          <a:p>
            <a:pPr lvl="1"/>
            <a:r>
              <a:rPr lang="nl-NL" dirty="0"/>
              <a:t>Omgevingsbewustzijn</a:t>
            </a:r>
          </a:p>
          <a:p>
            <a:pPr lvl="1"/>
            <a:r>
              <a:rPr lang="nl-NL" dirty="0"/>
              <a:t>Vriendelijkheid</a:t>
            </a:r>
          </a:p>
          <a:p>
            <a:pPr lvl="1"/>
            <a:r>
              <a:rPr lang="nl-NL" dirty="0"/>
              <a:t>Groeperingen</a:t>
            </a:r>
          </a:p>
          <a:p>
            <a:pPr lvl="1"/>
            <a:r>
              <a:rPr lang="nl-NL" dirty="0"/>
              <a:t>Angst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072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2012C-1A1C-F037-2092-54C599BF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9C170-C237-13D6-519B-785BCA0F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Never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up…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F81955-2849-2589-5821-24F2F2E64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Wat waren je eerste </a:t>
            </a:r>
            <a:r>
              <a:rPr lang="nl-NL" dirty="0" err="1"/>
              <a:t>clues</a:t>
            </a:r>
            <a:r>
              <a:rPr lang="nl-NL" dirty="0"/>
              <a:t>?</a:t>
            </a:r>
          </a:p>
          <a:p>
            <a:pPr lvl="1"/>
            <a:r>
              <a:rPr lang="nl-NL" dirty="0"/>
              <a:t>High </a:t>
            </a:r>
            <a:r>
              <a:rPr lang="nl-NL" dirty="0" err="1"/>
              <a:t>importance</a:t>
            </a:r>
            <a:r>
              <a:rPr lang="nl-NL" dirty="0"/>
              <a:t>? Zo laat in de periode</a:t>
            </a:r>
          </a:p>
          <a:p>
            <a:pPr lvl="1"/>
            <a:r>
              <a:rPr lang="nl-NL" dirty="0"/>
              <a:t>Geen details over welk vak, alleen algemene informatie</a:t>
            </a:r>
          </a:p>
          <a:p>
            <a:pPr lvl="1"/>
            <a:r>
              <a:rPr lang="nl-NL" dirty="0"/>
              <a:t>Geen spellingsfouten voor een bekende </a:t>
            </a:r>
            <a:r>
              <a:rPr lang="nl-NL" dirty="0" err="1"/>
              <a:t>dyslect</a:t>
            </a:r>
            <a:endParaRPr lang="nl-NL" dirty="0"/>
          </a:p>
          <a:p>
            <a:pPr lvl="1"/>
            <a:r>
              <a:rPr lang="nl-NL" dirty="0"/>
              <a:t>Afsluiting klopt niet – Ik ben technisch gezien nog geen docent</a:t>
            </a:r>
          </a:p>
          <a:p>
            <a:pPr lvl="1"/>
            <a:r>
              <a:rPr lang="nl-NL" dirty="0"/>
              <a:t>Hover over de link</a:t>
            </a:r>
            <a:br>
              <a:rPr lang="nl-NL" dirty="0"/>
            </a:br>
            <a:r>
              <a:rPr lang="nl-NL" dirty="0"/>
              <a:t>deze komt niet overeen </a:t>
            </a:r>
            <a:br>
              <a:rPr lang="nl-NL" dirty="0"/>
            </a:br>
            <a:r>
              <a:rPr lang="nl-NL" dirty="0"/>
              <a:t>met wat er staat</a:t>
            </a:r>
          </a:p>
          <a:p>
            <a:pPr lvl="1"/>
            <a:r>
              <a:rPr lang="nl-NL" dirty="0"/>
              <a:t>Email afzender is vreemd</a:t>
            </a:r>
          </a:p>
          <a:p>
            <a:pPr lvl="1"/>
            <a:r>
              <a:rPr lang="nl-NL" dirty="0"/>
              <a:t>Ik stond voor jullie</a:t>
            </a:r>
            <a:br>
              <a:rPr lang="nl-NL" dirty="0"/>
            </a:br>
            <a:r>
              <a:rPr lang="nl-NL" dirty="0"/>
              <a:t>toen de email aankwam</a:t>
            </a:r>
            <a:br>
              <a:rPr lang="nl-NL" dirty="0"/>
            </a:br>
            <a:r>
              <a:rPr lang="nl-NL" dirty="0"/>
              <a:t>ver weg van mijn laptop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C44353F-F822-AD26-383F-7368AFB4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4653" y="3718806"/>
            <a:ext cx="7177347" cy="22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6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F1F3D-3284-5845-DA9A-F902F8AE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Social</a:t>
            </a:r>
            <a:r>
              <a:rPr lang="nl-NL" dirty="0"/>
              <a:t> engineering - </a:t>
            </a:r>
            <a:r>
              <a:rPr lang="nl-NL" dirty="0" err="1"/>
              <a:t>Phishing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5ECE2C-3F09-7D0C-1231-A9800728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642"/>
            <a:ext cx="6165574" cy="3872442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Aanval met vertrouwen en angst</a:t>
            </a:r>
          </a:p>
          <a:p>
            <a:r>
              <a:rPr lang="nl-NL" dirty="0" err="1"/>
              <a:t>Emails</a:t>
            </a:r>
            <a:r>
              <a:rPr lang="nl-NL" dirty="0"/>
              <a:t>, telefoontjes of sms die bedoeld zijn om je inlog gegevens of geld af te nemen.</a:t>
            </a:r>
          </a:p>
          <a:p>
            <a:r>
              <a:rPr lang="nl-NL" dirty="0"/>
              <a:t>Vaak geloofwaardige inhoud, zelfde huisstijl, vaak met urgentie.</a:t>
            </a:r>
          </a:p>
          <a:p>
            <a:r>
              <a:rPr lang="nl-NL" dirty="0"/>
              <a:t>Vaak mail </a:t>
            </a:r>
            <a:r>
              <a:rPr lang="nl-NL" dirty="0" err="1"/>
              <a:t>spoofing</a:t>
            </a:r>
            <a:r>
              <a:rPr lang="nl-NL" dirty="0"/>
              <a:t> vanuit echt email adres.</a:t>
            </a:r>
          </a:p>
          <a:p>
            <a:r>
              <a:rPr lang="nl-NL" dirty="0"/>
              <a:t>Bij twijfel bel of mail het bedrijf via de daadwerkelijke websites contact pagina.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EA8857E-A97F-29B3-9A52-F4C6E3F2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456" y="1441173"/>
            <a:ext cx="5004116" cy="43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9E31-419E-37CA-1423-E30EE9F7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A75CD0-B77A-8032-7346-0905F511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Social</a:t>
            </a:r>
            <a:r>
              <a:rPr lang="nl-NL" dirty="0"/>
              <a:t> engineering - </a:t>
            </a:r>
            <a:r>
              <a:rPr lang="nl-NL" dirty="0" err="1"/>
              <a:t>Phishing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0751A3-46F7-323A-C5C5-5FC056F6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7847" cy="3872442"/>
          </a:xfrm>
        </p:spPr>
        <p:txBody>
          <a:bodyPr>
            <a:normAutofit/>
          </a:bodyPr>
          <a:lstStyle/>
          <a:p>
            <a:r>
              <a:rPr lang="nl-NL" dirty="0" err="1"/>
              <a:t>Alternavieven</a:t>
            </a:r>
            <a:r>
              <a:rPr lang="nl-NL" dirty="0"/>
              <a:t> van </a:t>
            </a:r>
            <a:r>
              <a:rPr lang="nl-NL" dirty="0" err="1"/>
              <a:t>Phishing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Spear</a:t>
            </a:r>
            <a:r>
              <a:rPr lang="nl-NL" dirty="0"/>
              <a:t> </a:t>
            </a:r>
            <a:r>
              <a:rPr lang="nl-NL" dirty="0" err="1"/>
              <a:t>phising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Whaling</a:t>
            </a:r>
            <a:endParaRPr lang="nl-NL" dirty="0"/>
          </a:p>
          <a:p>
            <a:pPr lvl="1"/>
            <a:r>
              <a:rPr lang="nl-NL" dirty="0" err="1"/>
              <a:t>Vishing</a:t>
            </a:r>
            <a:endParaRPr lang="nl-NL" dirty="0"/>
          </a:p>
          <a:p>
            <a:pPr lvl="1"/>
            <a:r>
              <a:rPr lang="nl-NL" dirty="0" err="1"/>
              <a:t>Smishing</a:t>
            </a:r>
            <a:endParaRPr lang="nl-NL" dirty="0"/>
          </a:p>
          <a:p>
            <a:pPr lvl="1"/>
            <a:r>
              <a:rPr lang="nl-NL" dirty="0" err="1"/>
              <a:t>Angler</a:t>
            </a:r>
            <a:r>
              <a:rPr lang="nl-NL" dirty="0"/>
              <a:t> </a:t>
            </a:r>
            <a:r>
              <a:rPr lang="nl-NL" dirty="0" err="1"/>
              <a:t>phising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5" name="Graphic 4" descr="Vissen met effen opvulling">
            <a:extLst>
              <a:ext uri="{FF2B5EF4-FFF2-40B4-BE49-F238E27FC236}">
                <a16:creationId xmlns:a16="http://schemas.microsoft.com/office/drawing/2014/main" id="{F0A31C28-43CF-574D-2986-87C7E4DB4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188"/>
          <a:stretch>
            <a:fillRect/>
          </a:stretch>
        </p:blipFill>
        <p:spPr>
          <a:xfrm>
            <a:off x="9008483" y="2155590"/>
            <a:ext cx="1018209" cy="3304594"/>
          </a:xfrm>
          <a:prstGeom prst="rect">
            <a:avLst/>
          </a:prstGeom>
        </p:spPr>
      </p:pic>
      <p:pic>
        <p:nvPicPr>
          <p:cNvPr id="7" name="Graphic 6" descr="Toets met effen opvulling">
            <a:extLst>
              <a:ext uri="{FF2B5EF4-FFF2-40B4-BE49-F238E27FC236}">
                <a16:creationId xmlns:a16="http://schemas.microsoft.com/office/drawing/2014/main" id="{CFE269A2-3960-9C6A-3CFC-69FACCB5A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144151">
            <a:off x="7774650" y="2871432"/>
            <a:ext cx="1679564" cy="16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4F78-5269-3E1E-2CD4-7D717245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8F1A3-0739-A181-784A-EF69D405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Social</a:t>
            </a:r>
            <a:r>
              <a:rPr lang="nl-NL" dirty="0"/>
              <a:t> engineering - </a:t>
            </a:r>
            <a:r>
              <a:rPr lang="nl-NL" dirty="0" err="1"/>
              <a:t>Phishing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ED44E0-5084-1275-6F10-182F9E26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7847" cy="3872442"/>
          </a:xfrm>
        </p:spPr>
        <p:txBody>
          <a:bodyPr>
            <a:normAutofit fontScale="92500" lnSpcReduction="10000"/>
          </a:bodyPr>
          <a:lstStyle/>
          <a:p>
            <a:r>
              <a:rPr lang="nl-NL" dirty="0" err="1"/>
              <a:t>Alternavieven</a:t>
            </a:r>
            <a:r>
              <a:rPr lang="nl-NL" dirty="0"/>
              <a:t> van </a:t>
            </a:r>
            <a:r>
              <a:rPr lang="nl-NL" dirty="0" err="1"/>
              <a:t>Phishing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Spear</a:t>
            </a:r>
            <a:r>
              <a:rPr lang="nl-NL" dirty="0"/>
              <a:t> </a:t>
            </a:r>
            <a:r>
              <a:rPr lang="nl-NL" dirty="0" err="1"/>
              <a:t>phishing</a:t>
            </a:r>
            <a:r>
              <a:rPr lang="nl-NL" dirty="0"/>
              <a:t> </a:t>
            </a:r>
          </a:p>
          <a:p>
            <a:pPr lvl="2"/>
            <a:r>
              <a:rPr lang="nl-NL" dirty="0"/>
              <a:t>Gericht op specifieke doelwitten </a:t>
            </a:r>
            <a:r>
              <a:rPr lang="nl-NL" dirty="0" err="1"/>
              <a:t>phishen</a:t>
            </a:r>
            <a:endParaRPr lang="nl-NL" dirty="0"/>
          </a:p>
          <a:p>
            <a:pPr lvl="2"/>
            <a:r>
              <a:rPr lang="nl-NL" dirty="0"/>
              <a:t>Dit is meer dan alleen gedoeld op naam</a:t>
            </a:r>
          </a:p>
          <a:p>
            <a:pPr lvl="2"/>
            <a:r>
              <a:rPr lang="nl-NL" dirty="0"/>
              <a:t>Gebruikt data die gekocht is via brokers</a:t>
            </a:r>
          </a:p>
          <a:p>
            <a:pPr lvl="1"/>
            <a:r>
              <a:rPr lang="nl-NL" dirty="0" err="1"/>
              <a:t>Whaling</a:t>
            </a:r>
            <a:r>
              <a:rPr lang="nl-NL" dirty="0"/>
              <a:t> – </a:t>
            </a:r>
            <a:r>
              <a:rPr lang="nl-NL" dirty="0" err="1"/>
              <a:t>Hoogbetalende</a:t>
            </a:r>
            <a:r>
              <a:rPr lang="nl-NL" dirty="0"/>
              <a:t> doelwitten</a:t>
            </a:r>
          </a:p>
          <a:p>
            <a:pPr lvl="2"/>
            <a:r>
              <a:rPr lang="nl-NL" dirty="0"/>
              <a:t>Dit zijn vaak </a:t>
            </a:r>
            <a:r>
              <a:rPr lang="nl-NL" dirty="0" err="1"/>
              <a:t>CEO’s</a:t>
            </a:r>
            <a:r>
              <a:rPr lang="nl-NL" dirty="0"/>
              <a:t> van bedrijven of </a:t>
            </a:r>
            <a:r>
              <a:rPr lang="nl-NL" dirty="0" err="1"/>
              <a:t>influencers</a:t>
            </a:r>
            <a:endParaRPr lang="nl-NL" dirty="0"/>
          </a:p>
          <a:p>
            <a:pPr lvl="2"/>
            <a:r>
              <a:rPr lang="nl-NL" dirty="0"/>
              <a:t>Zelfde techniek als </a:t>
            </a:r>
            <a:r>
              <a:rPr lang="nl-NL" dirty="0" err="1"/>
              <a:t>spear</a:t>
            </a:r>
            <a:r>
              <a:rPr lang="nl-NL" dirty="0"/>
              <a:t> </a:t>
            </a:r>
            <a:r>
              <a:rPr lang="nl-NL" dirty="0" err="1"/>
              <a:t>phishing</a:t>
            </a:r>
            <a:r>
              <a:rPr lang="nl-NL" dirty="0"/>
              <a:t>, andere details</a:t>
            </a:r>
          </a:p>
          <a:p>
            <a:pPr lvl="1"/>
            <a:r>
              <a:rPr lang="nl-NL" dirty="0"/>
              <a:t>Ad </a:t>
            </a:r>
            <a:r>
              <a:rPr lang="nl-NL" dirty="0" err="1"/>
              <a:t>phishing</a:t>
            </a:r>
            <a:endParaRPr lang="nl-NL" dirty="0"/>
          </a:p>
          <a:p>
            <a:pPr lvl="2"/>
            <a:r>
              <a:rPr lang="nl-NL" dirty="0"/>
              <a:t>Een advertentie die te mooi om waar te zijn is.</a:t>
            </a:r>
          </a:p>
          <a:p>
            <a:pPr lvl="2"/>
            <a:r>
              <a:rPr lang="nl-NL" dirty="0"/>
              <a:t>Ga er maar vanuit dat het een </a:t>
            </a:r>
            <a:r>
              <a:rPr lang="nl-NL" dirty="0" err="1"/>
              <a:t>phishing</a:t>
            </a:r>
            <a:r>
              <a:rPr lang="nl-NL" dirty="0"/>
              <a:t> poging is.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Graphic 3" descr="Vissen met effen opvulling">
            <a:extLst>
              <a:ext uri="{FF2B5EF4-FFF2-40B4-BE49-F238E27FC236}">
                <a16:creationId xmlns:a16="http://schemas.microsoft.com/office/drawing/2014/main" id="{1D377A5D-3E1A-6A2E-0ECE-E23E3D322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188"/>
          <a:stretch>
            <a:fillRect/>
          </a:stretch>
        </p:blipFill>
        <p:spPr>
          <a:xfrm>
            <a:off x="9008483" y="2155590"/>
            <a:ext cx="1018209" cy="3304594"/>
          </a:xfrm>
          <a:prstGeom prst="rect">
            <a:avLst/>
          </a:prstGeom>
        </p:spPr>
      </p:pic>
      <p:pic>
        <p:nvPicPr>
          <p:cNvPr id="5" name="Graphic 4" descr="Toets met effen opvulling">
            <a:extLst>
              <a:ext uri="{FF2B5EF4-FFF2-40B4-BE49-F238E27FC236}">
                <a16:creationId xmlns:a16="http://schemas.microsoft.com/office/drawing/2014/main" id="{B1AB9C57-E00E-6391-1BC6-D9834C93A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144151">
            <a:off x="7774650" y="2871432"/>
            <a:ext cx="1679564" cy="16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5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90727-1B0A-D16D-63A3-CC963E1C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Social</a:t>
            </a:r>
            <a:r>
              <a:rPr lang="nl-NL" dirty="0"/>
              <a:t> engineering - </a:t>
            </a:r>
            <a:r>
              <a:rPr lang="nl-NL" dirty="0" err="1"/>
              <a:t>Tailgating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5FAC0A-F7EE-1C86-A3A2-5B9B6A252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5362" cy="3872442"/>
          </a:xfrm>
        </p:spPr>
        <p:txBody>
          <a:bodyPr/>
          <a:lstStyle/>
          <a:p>
            <a:r>
              <a:rPr lang="nl-NL" dirty="0"/>
              <a:t>Hackers willen soms een server benaderen maar dat kan alleen als fysiek.</a:t>
            </a:r>
          </a:p>
          <a:p>
            <a:r>
              <a:rPr lang="nl-NL" dirty="0"/>
              <a:t>Het gebouw is bereikbaar maar de deur zit op slot.</a:t>
            </a:r>
          </a:p>
          <a:p>
            <a:r>
              <a:rPr lang="nl-NL" dirty="0"/>
              <a:t>Loop met een personeel lid mee alsof je erbij hoort.</a:t>
            </a:r>
          </a:p>
          <a:p>
            <a:r>
              <a:rPr lang="nl-NL" dirty="0" err="1"/>
              <a:t>Pity</a:t>
            </a:r>
            <a:r>
              <a:rPr lang="nl-NL" dirty="0"/>
              <a:t> points als je je handen vol hebt.</a:t>
            </a:r>
          </a:p>
        </p:txBody>
      </p:sp>
      <p:pic>
        <p:nvPicPr>
          <p:cNvPr id="5" name="Graphic 4" descr="Klep open met effen opvulling">
            <a:extLst>
              <a:ext uri="{FF2B5EF4-FFF2-40B4-BE49-F238E27FC236}">
                <a16:creationId xmlns:a16="http://schemas.microsoft.com/office/drawing/2014/main" id="{781944CD-F360-4ABB-8766-EB8AD29E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7689" y="1825625"/>
            <a:ext cx="3276167" cy="32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3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56CEB-65AF-2602-552D-E362F894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Baiting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D47036-B7CB-0963-4A72-8B8F5749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4873" cy="3872442"/>
          </a:xfrm>
        </p:spPr>
        <p:txBody>
          <a:bodyPr/>
          <a:lstStyle/>
          <a:p>
            <a:r>
              <a:rPr lang="nl-NL" dirty="0"/>
              <a:t>Vreemde USB gevonden</a:t>
            </a:r>
          </a:p>
          <a:p>
            <a:r>
              <a:rPr lang="nl-NL" dirty="0"/>
              <a:t>Laten we kijken wat er op staat</a:t>
            </a:r>
          </a:p>
          <a:p>
            <a:pPr lvl="1"/>
            <a:r>
              <a:rPr lang="nl-NL" dirty="0"/>
              <a:t>Om data te stelen</a:t>
            </a:r>
          </a:p>
          <a:p>
            <a:pPr lvl="1"/>
            <a:r>
              <a:rPr lang="nl-NL" dirty="0"/>
              <a:t>Om te kijken van wie die is</a:t>
            </a:r>
          </a:p>
          <a:p>
            <a:pPr lvl="1"/>
            <a:r>
              <a:rPr lang="nl-NL" dirty="0"/>
              <a:t>Omdat we nieuwsgierig zijn</a:t>
            </a:r>
          </a:p>
        </p:txBody>
      </p:sp>
      <p:pic>
        <p:nvPicPr>
          <p:cNvPr id="4" name="Tijdelijke aanduiding voor inhoud 4" descr="USB-stick met effen opvulling">
            <a:extLst>
              <a:ext uri="{FF2B5EF4-FFF2-40B4-BE49-F238E27FC236}">
                <a16:creationId xmlns:a16="http://schemas.microsoft.com/office/drawing/2014/main" id="{BBFDFAEB-A66A-3A4F-996C-48717CE94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3219" y="2140961"/>
            <a:ext cx="2961092" cy="296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7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CF08-7D59-E334-06FE-92107C90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7AB08-415C-771B-D4B8-BE4AEAFF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Baiting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CFF797-969C-73B8-F55C-F3191F35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4873" cy="3872442"/>
          </a:xfrm>
        </p:spPr>
        <p:txBody>
          <a:bodyPr/>
          <a:lstStyle/>
          <a:p>
            <a:r>
              <a:rPr lang="nl-NL" dirty="0"/>
              <a:t>Vreemde USB gevonden</a:t>
            </a:r>
          </a:p>
          <a:p>
            <a:r>
              <a:rPr lang="nl-NL" dirty="0"/>
              <a:t>Laten liggen!</a:t>
            </a:r>
          </a:p>
          <a:p>
            <a:r>
              <a:rPr lang="nl-NL" dirty="0"/>
              <a:t>OF geef het aan de beveiliging/IT</a:t>
            </a:r>
          </a:p>
        </p:txBody>
      </p:sp>
      <p:pic>
        <p:nvPicPr>
          <p:cNvPr id="4" name="Tijdelijke aanduiding voor inhoud 4" descr="USB-stick met effen opvulling">
            <a:extLst>
              <a:ext uri="{FF2B5EF4-FFF2-40B4-BE49-F238E27FC236}">
                <a16:creationId xmlns:a16="http://schemas.microsoft.com/office/drawing/2014/main" id="{137A134B-1197-4358-C678-B0B88846C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3219" y="2140961"/>
            <a:ext cx="2961092" cy="296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18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31B90-6C15-5A85-119F-64B561E1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Pretexting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C6CE59-D3B5-76D1-363D-9D7278700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5720" cy="3872442"/>
          </a:xfrm>
        </p:spPr>
        <p:txBody>
          <a:bodyPr/>
          <a:lstStyle/>
          <a:p>
            <a:r>
              <a:rPr lang="nl-NL" dirty="0"/>
              <a:t>Maak gebruik van een goed verhaal waarbij hoge emoties van toepassing zijn</a:t>
            </a:r>
          </a:p>
          <a:p>
            <a:r>
              <a:rPr lang="nl-NL" dirty="0"/>
              <a:t>Druk van werk, zelfvernedering, stress of verdriet kunnen heel goed werken.</a:t>
            </a:r>
          </a:p>
        </p:txBody>
      </p:sp>
      <p:pic>
        <p:nvPicPr>
          <p:cNvPr id="4" name="Tijdelijke aanduiding voor inhoud 4" descr="Huilend gezicht met effen opvulling met effen opvulling">
            <a:extLst>
              <a:ext uri="{FF2B5EF4-FFF2-40B4-BE49-F238E27FC236}">
                <a16:creationId xmlns:a16="http://schemas.microsoft.com/office/drawing/2014/main" id="{FB360BA4-E28E-1999-6F5F-4DC1D1EE4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7964" y="2594379"/>
            <a:ext cx="2186275" cy="21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5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2AA42-59DE-F5B5-80C4-7DB0494C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Quid</a:t>
            </a:r>
            <a:r>
              <a:rPr lang="nl-NL" dirty="0"/>
              <a:t> pro quo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DAA8CE-B316-0996-8438-BCA02192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41920" cy="3872442"/>
          </a:xfrm>
        </p:spPr>
        <p:txBody>
          <a:bodyPr/>
          <a:lstStyle/>
          <a:p>
            <a:r>
              <a:rPr lang="nl-NL" dirty="0"/>
              <a:t>Als jij de hacker toegang geeft voor heel even dan zal hij/zij je terug helpen met iets.</a:t>
            </a:r>
          </a:p>
          <a:p>
            <a:r>
              <a:rPr lang="nl-NL" dirty="0"/>
              <a:t>Ze zoeken vaak de medewerkers met toegang die: </a:t>
            </a:r>
          </a:p>
          <a:p>
            <a:pPr lvl="1"/>
            <a:r>
              <a:rPr lang="nl-NL" dirty="0"/>
              <a:t>Geld zorgen hebben</a:t>
            </a:r>
          </a:p>
          <a:p>
            <a:pPr lvl="1"/>
            <a:r>
              <a:rPr lang="nl-NL" dirty="0"/>
              <a:t>Verslavingen hebben</a:t>
            </a:r>
          </a:p>
          <a:p>
            <a:pPr lvl="1"/>
            <a:r>
              <a:rPr lang="nl-NL" dirty="0"/>
              <a:t>Relationele problemen hebben</a:t>
            </a:r>
          </a:p>
        </p:txBody>
      </p:sp>
      <p:pic>
        <p:nvPicPr>
          <p:cNvPr id="5" name="Tijdelijke aanduiding voor inhoud 4" descr="Lening met effen opvulling">
            <a:extLst>
              <a:ext uri="{FF2B5EF4-FFF2-40B4-BE49-F238E27FC236}">
                <a16:creationId xmlns:a16="http://schemas.microsoft.com/office/drawing/2014/main" id="{DBDDEEFB-3058-D78C-F2E4-0E77398FC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2631" y="2322475"/>
            <a:ext cx="2410784" cy="241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8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C0DB-BE47-E33C-EC19-DEE93705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09E0F-4364-20A8-350C-D9AE8D24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Machtsmisbruik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4051325-6B30-A40A-E294-99F1A9441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0540" cy="3872442"/>
          </a:xfrm>
        </p:spPr>
        <p:txBody>
          <a:bodyPr/>
          <a:lstStyle/>
          <a:p>
            <a:r>
              <a:rPr lang="nl-NL" dirty="0"/>
              <a:t>Je baas kan zijn macht willen misbruiken door druk op jou te leggen</a:t>
            </a:r>
          </a:p>
          <a:p>
            <a:r>
              <a:rPr lang="nl-NL" dirty="0"/>
              <a:t>Klantgegevens zijn goud waard als je weet aan wie je ze moet verkopen.</a:t>
            </a:r>
          </a:p>
        </p:txBody>
      </p:sp>
      <p:pic>
        <p:nvPicPr>
          <p:cNvPr id="6" name="Tijdelijke aanduiding voor inhoud 4" descr="Gespierde arm met effen opvulling">
            <a:extLst>
              <a:ext uri="{FF2B5EF4-FFF2-40B4-BE49-F238E27FC236}">
                <a16:creationId xmlns:a16="http://schemas.microsoft.com/office/drawing/2014/main" id="{CA30BBD0-9FC6-F9B1-5352-D92E4B0E4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2761" y="2481420"/>
            <a:ext cx="2456339" cy="245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4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62CF3-75E5-C98D-E8A9-9FC8D3EB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Scareware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B8C9DE-F0F9-B7AB-FE9A-25C5DAF8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607" cy="3872442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Een nep virus plaatsen dat heel klein en onschuldig is maar lijkt op een echt virus</a:t>
            </a:r>
          </a:p>
          <a:p>
            <a:r>
              <a:rPr lang="nl-NL" dirty="0" err="1"/>
              <a:t>Stratagie</a:t>
            </a:r>
            <a:r>
              <a:rPr lang="nl-NL" dirty="0"/>
              <a:t> 1: </a:t>
            </a:r>
          </a:p>
          <a:p>
            <a:pPr lvl="1"/>
            <a:r>
              <a:rPr lang="nl-NL" dirty="0"/>
              <a:t>Doe alsof je de computers beveiliging bent en een update nodig hebt om dit virus te stoppen.</a:t>
            </a:r>
          </a:p>
          <a:p>
            <a:r>
              <a:rPr lang="nl-NL" dirty="0" err="1"/>
              <a:t>Stratagie</a:t>
            </a:r>
            <a:r>
              <a:rPr lang="nl-NL" dirty="0"/>
              <a:t> 2:</a:t>
            </a:r>
          </a:p>
          <a:p>
            <a:pPr lvl="1"/>
            <a:r>
              <a:rPr lang="nl-NL" dirty="0"/>
              <a:t>Vraag om een kleine bedrag en verleen de hackers via de betaling toegang voor het echte virus</a:t>
            </a:r>
          </a:p>
        </p:txBody>
      </p:sp>
      <p:pic>
        <p:nvPicPr>
          <p:cNvPr id="1026" name="Picture 2" descr="What Is Scareware? Examples &amp; What to Know - InfoSec Insights">
            <a:extLst>
              <a:ext uri="{FF2B5EF4-FFF2-40B4-BE49-F238E27FC236}">
                <a16:creationId xmlns:a16="http://schemas.microsoft.com/office/drawing/2014/main" id="{6B1F3DC7-7095-2C64-8092-87AFE3E1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932" y="-45867"/>
            <a:ext cx="5448172" cy="404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Monster met effen opvulling">
            <a:extLst>
              <a:ext uri="{FF2B5EF4-FFF2-40B4-BE49-F238E27FC236}">
                <a16:creationId xmlns:a16="http://schemas.microsoft.com/office/drawing/2014/main" id="{E22B1648-5F16-22D6-D877-C952FE851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77645" y="3720288"/>
            <a:ext cx="2255520" cy="225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73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08E85-2C15-D864-7580-A9510723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Er zijn veel meer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C6252D-5A4B-6D72-AA38-12C0C97CA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 err="1"/>
              <a:t>Diversion</a:t>
            </a:r>
            <a:r>
              <a:rPr lang="nl-NL" dirty="0"/>
              <a:t> </a:t>
            </a:r>
            <a:r>
              <a:rPr lang="nl-NL" dirty="0" err="1"/>
              <a:t>theft</a:t>
            </a:r>
            <a:endParaRPr lang="nl-NL" dirty="0"/>
          </a:p>
          <a:p>
            <a:pPr lvl="1"/>
            <a:r>
              <a:rPr lang="nl-NL" dirty="0"/>
              <a:t>Waarbij je een pakje, brieven of zelfs </a:t>
            </a:r>
            <a:r>
              <a:rPr lang="nl-NL" dirty="0" err="1"/>
              <a:t>emails</a:t>
            </a:r>
            <a:r>
              <a:rPr lang="nl-NL" dirty="0"/>
              <a:t> laat doorlussen naar een ander email adres</a:t>
            </a:r>
          </a:p>
          <a:p>
            <a:r>
              <a:rPr lang="nl-NL" dirty="0"/>
              <a:t>Watering hole / Common </a:t>
            </a:r>
            <a:r>
              <a:rPr lang="nl-NL" dirty="0" err="1"/>
              <a:t>grounds</a:t>
            </a:r>
            <a:endParaRPr lang="nl-NL" dirty="0"/>
          </a:p>
          <a:p>
            <a:pPr lvl="1"/>
            <a:r>
              <a:rPr lang="nl-NL" dirty="0"/>
              <a:t>Maak gebruik van een gemeenschappelijke </a:t>
            </a:r>
            <a:r>
              <a:rPr lang="nl-NL" dirty="0" err="1"/>
              <a:t>vrijtijds</a:t>
            </a:r>
            <a:r>
              <a:rPr lang="nl-NL" dirty="0"/>
              <a:t> event/website die je doelwitten gebruiken en infiltreer via daar</a:t>
            </a:r>
          </a:p>
          <a:p>
            <a:r>
              <a:rPr lang="nl-NL" dirty="0"/>
              <a:t>Covert </a:t>
            </a:r>
            <a:r>
              <a:rPr lang="nl-NL" dirty="0" err="1"/>
              <a:t>espionage</a:t>
            </a:r>
            <a:endParaRPr lang="nl-NL" dirty="0"/>
          </a:p>
          <a:p>
            <a:pPr lvl="1"/>
            <a:r>
              <a:rPr lang="nl-NL" dirty="0"/>
              <a:t>James bond </a:t>
            </a:r>
            <a:r>
              <a:rPr lang="nl-NL" dirty="0" err="1"/>
              <a:t>lite</a:t>
            </a:r>
            <a:r>
              <a:rPr lang="nl-NL" dirty="0"/>
              <a:t>, gebruik van vermommingen, achtervolgingen en observaties om informatie te winnen.</a:t>
            </a:r>
          </a:p>
          <a:p>
            <a:pPr lvl="1"/>
            <a:r>
              <a:rPr lang="nl-NL" dirty="0"/>
              <a:t>Met informatie en wat diefstal van pasjes en identiteit binnenkomen en losgaan op een systeem.</a:t>
            </a:r>
          </a:p>
        </p:txBody>
      </p:sp>
    </p:spTree>
    <p:extLst>
      <p:ext uri="{BB962C8B-B14F-4D97-AF65-F5344CB8AC3E}">
        <p14:creationId xmlns:p14="http://schemas.microsoft.com/office/powerpoint/2010/main" val="683388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F89D7-0A1B-993C-4EC3-B4E684B8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Enkele redenen waarom dit werkt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5A4F8D-A504-E2D4-DB6B-FCB91330E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68270" cy="3872442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Autoriteit – “Ik ben van de IT afdeling”</a:t>
            </a:r>
          </a:p>
          <a:p>
            <a:r>
              <a:rPr lang="nl-NL" dirty="0"/>
              <a:t>Urgentie - “Nu handelen!”</a:t>
            </a:r>
          </a:p>
          <a:p>
            <a:pPr lvl="1"/>
            <a:r>
              <a:rPr lang="nl-NL" dirty="0"/>
              <a:t>Typische </a:t>
            </a:r>
            <a:r>
              <a:rPr lang="nl-NL" dirty="0" err="1"/>
              <a:t>nederlandse</a:t>
            </a:r>
            <a:r>
              <a:rPr lang="nl-NL" dirty="0"/>
              <a:t> </a:t>
            </a:r>
            <a:r>
              <a:rPr lang="nl-NL" dirty="0" err="1"/>
              <a:t>gezegte</a:t>
            </a:r>
            <a:r>
              <a:rPr lang="nl-NL" dirty="0"/>
              <a:t>: Haastige spoed is zelden goed.</a:t>
            </a:r>
          </a:p>
          <a:p>
            <a:r>
              <a:rPr lang="nl-NL" dirty="0"/>
              <a:t>Angst - “Je account wordt geblokkeerd.”</a:t>
            </a:r>
          </a:p>
          <a:p>
            <a:pPr lvl="1"/>
            <a:r>
              <a:rPr lang="nl-NL" dirty="0"/>
              <a:t>Niemand wil een virus hebben dus kleine paniekmomenten kunnen snelle beslissingen </a:t>
            </a:r>
            <a:r>
              <a:rPr lang="nl-NL" dirty="0" err="1"/>
              <a:t>creeeren</a:t>
            </a:r>
            <a:r>
              <a:rPr lang="nl-NL" dirty="0"/>
              <a:t>.</a:t>
            </a:r>
          </a:p>
          <a:p>
            <a:r>
              <a:rPr lang="nl-NL" dirty="0"/>
              <a:t>Hebzucht - “Je hebt €500 gewonnen.”</a:t>
            </a:r>
          </a:p>
          <a:p>
            <a:pPr lvl="1"/>
            <a:r>
              <a:rPr lang="nl-NL" dirty="0"/>
              <a:t>Iets leuks krijgen is altijd leuk.</a:t>
            </a:r>
          </a:p>
          <a:p>
            <a:r>
              <a:rPr lang="nl-NL" dirty="0"/>
              <a:t>Behulpzaamheid - “Kun je me even helpen?”</a:t>
            </a:r>
          </a:p>
          <a:p>
            <a:pPr lvl="1"/>
            <a:r>
              <a:rPr lang="nl-NL" dirty="0"/>
              <a:t>Mensen helpen elkaar, zit in de nature van de mens.</a:t>
            </a:r>
          </a:p>
        </p:txBody>
      </p:sp>
      <p:pic>
        <p:nvPicPr>
          <p:cNvPr id="5" name="Graphic 4" descr="Hersenen met effen opvulling">
            <a:extLst>
              <a:ext uri="{FF2B5EF4-FFF2-40B4-BE49-F238E27FC236}">
                <a16:creationId xmlns:a16="http://schemas.microsoft.com/office/drawing/2014/main" id="{7998C7B2-A853-F8D1-DDB7-EBEDDA203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4701" y="2971800"/>
            <a:ext cx="1400239" cy="1400239"/>
          </a:xfrm>
          <a:prstGeom prst="rect">
            <a:avLst/>
          </a:prstGeom>
        </p:spPr>
      </p:pic>
      <p:pic>
        <p:nvPicPr>
          <p:cNvPr id="7" name="Graphic 6" descr="Grijnzend gezicht met effen opvulling met effen opvulling">
            <a:extLst>
              <a:ext uri="{FF2B5EF4-FFF2-40B4-BE49-F238E27FC236}">
                <a16:creationId xmlns:a16="http://schemas.microsoft.com/office/drawing/2014/main" id="{97CBFDF3-1D88-4E05-6754-D66917E07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8770" y="2057400"/>
            <a:ext cx="914400" cy="914400"/>
          </a:xfrm>
          <a:prstGeom prst="rect">
            <a:avLst/>
          </a:prstGeom>
        </p:spPr>
      </p:pic>
      <p:pic>
        <p:nvPicPr>
          <p:cNvPr id="9" name="Graphic 8" descr="Verrast gezicht met effen opvulling met effen opvulling">
            <a:extLst>
              <a:ext uri="{FF2B5EF4-FFF2-40B4-BE49-F238E27FC236}">
                <a16:creationId xmlns:a16="http://schemas.microsoft.com/office/drawing/2014/main" id="{4FAFC69C-F98A-053F-FFD6-E57B43EFB3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8770" y="4227270"/>
            <a:ext cx="914400" cy="914400"/>
          </a:xfrm>
          <a:prstGeom prst="rect">
            <a:avLst/>
          </a:prstGeom>
        </p:spPr>
      </p:pic>
      <p:pic>
        <p:nvPicPr>
          <p:cNvPr id="11" name="Graphic 10" descr="Huilend gezicht met effen opvulling met effen opvulling">
            <a:extLst>
              <a:ext uri="{FF2B5EF4-FFF2-40B4-BE49-F238E27FC236}">
                <a16:creationId xmlns:a16="http://schemas.microsoft.com/office/drawing/2014/main" id="{5A334483-4BEF-E387-402F-F443FFE484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6470" y="4227270"/>
            <a:ext cx="914400" cy="914400"/>
          </a:xfrm>
          <a:prstGeom prst="rect">
            <a:avLst/>
          </a:prstGeom>
        </p:spPr>
      </p:pic>
      <p:pic>
        <p:nvPicPr>
          <p:cNvPr id="13" name="Graphic 12" descr="Bezorgd gezicht met effen opvulling  met effen opvulling">
            <a:extLst>
              <a:ext uri="{FF2B5EF4-FFF2-40B4-BE49-F238E27FC236}">
                <a16:creationId xmlns:a16="http://schemas.microsoft.com/office/drawing/2014/main" id="{5A9BA82B-6D9E-3D98-565B-1FAFCC0C7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6470" y="2057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5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3279B-6D14-1C34-6A54-931AD1F39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Aanvallen</a:t>
            </a:r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C53E2BE1-9A29-D723-75EB-1628F519B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Tijdelijke aanduiding voor inhoud 4" descr="Zwaard met effen opvulling">
            <a:extLst>
              <a:ext uri="{FF2B5EF4-FFF2-40B4-BE49-F238E27FC236}">
                <a16:creationId xmlns:a16="http://schemas.microsoft.com/office/drawing/2014/main" id="{0BB92ED6-FB3F-2774-4C16-D99B35C003B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1950" y="2025015"/>
            <a:ext cx="3600000" cy="3600000"/>
          </a:xfrm>
        </p:spPr>
      </p:pic>
      <p:pic>
        <p:nvPicPr>
          <p:cNvPr id="6" name="Tijdelijke aanduiding voor inhoud 4" descr="Zwaard met effen opvulling">
            <a:extLst>
              <a:ext uri="{FF2B5EF4-FFF2-40B4-BE49-F238E27FC236}">
                <a16:creationId xmlns:a16="http://schemas.microsoft.com/office/drawing/2014/main" id="{0FDBCF37-5C72-D752-BE55-43B13A4F4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413141" y="202501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4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F22C1-39DB-FCF3-C298-4A7C86EE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Oorlog te lang, geef een Trojaans paard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D4E5D7-F213-4DC9-90F3-58ECC2BED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3640" cy="3872442"/>
          </a:xfrm>
        </p:spPr>
        <p:txBody>
          <a:bodyPr/>
          <a:lstStyle/>
          <a:p>
            <a:r>
              <a:rPr lang="nl-NL" dirty="0" err="1"/>
              <a:t>Trojans</a:t>
            </a:r>
            <a:r>
              <a:rPr lang="nl-NL" dirty="0"/>
              <a:t> zijn pakketten met een heel klein programma dat onder het zicht van de firewall en virusscanner kan komen</a:t>
            </a:r>
          </a:p>
          <a:p>
            <a:r>
              <a:rPr lang="nl-NL" dirty="0"/>
              <a:t>Vaak vastgeplakt aan een onschuldig bestand</a:t>
            </a:r>
          </a:p>
          <a:p>
            <a:r>
              <a:rPr lang="nl-NL" dirty="0"/>
              <a:t>Installeert passief ergere bedreigingen</a:t>
            </a:r>
          </a:p>
        </p:txBody>
      </p:sp>
      <p:pic>
        <p:nvPicPr>
          <p:cNvPr id="2050" name="Picture 2" descr="Paard van Troje in Toverland (Limburg, Sevenum, Toverland) [collectie Anton Nuijten]">
            <a:extLst>
              <a:ext uri="{FF2B5EF4-FFF2-40B4-BE49-F238E27FC236}">
                <a16:creationId xmlns:a16="http://schemas.microsoft.com/office/drawing/2014/main" id="{588F5B82-2100-56B8-C70D-B100FFB63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953" y="1654492"/>
            <a:ext cx="4328067" cy="35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54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0E1B9-DB21-C0FF-4134-2A4896B0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Eye </a:t>
            </a:r>
            <a:r>
              <a:rPr lang="nl-NL" dirty="0" err="1"/>
              <a:t>spy</a:t>
            </a:r>
            <a:r>
              <a:rPr lang="nl-NL" dirty="0"/>
              <a:t>, …ware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7DA1CA-6CE6-30C8-E209-786E5E857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23894" cy="3872442"/>
          </a:xfrm>
        </p:spPr>
        <p:txBody>
          <a:bodyPr>
            <a:normAutofit fontScale="92500"/>
          </a:bodyPr>
          <a:lstStyle/>
          <a:p>
            <a:r>
              <a:rPr lang="nl-NL" dirty="0"/>
              <a:t>Spyware is een software die bedoeld is om activiteiten op een computer of netwerk te monitoren</a:t>
            </a:r>
          </a:p>
          <a:p>
            <a:r>
              <a:rPr lang="nl-NL" dirty="0"/>
              <a:t>Wachtwoorden, persoonsgegevens, bestanden, alles was zichtbaar en doorgespeeld</a:t>
            </a:r>
          </a:p>
          <a:p>
            <a:r>
              <a:rPr lang="nl-NL" dirty="0"/>
              <a:t>Spyware is ook gebruikt om mensen te bespioneren.</a:t>
            </a:r>
          </a:p>
          <a:p>
            <a:r>
              <a:rPr lang="nl-NL" dirty="0"/>
              <a:t>De webcam spyware was van 2005 tot 2008 de bekendste spyware onder jongeren</a:t>
            </a:r>
          </a:p>
        </p:txBody>
      </p:sp>
      <p:pic>
        <p:nvPicPr>
          <p:cNvPr id="5" name="Graphic 4" descr="Oog met effen opvulling">
            <a:extLst>
              <a:ext uri="{FF2B5EF4-FFF2-40B4-BE49-F238E27FC236}">
                <a16:creationId xmlns:a16="http://schemas.microsoft.com/office/drawing/2014/main" id="{C3556486-E789-182C-7A60-B820CB45F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8232" y="2562591"/>
            <a:ext cx="1173173" cy="1173173"/>
          </a:xfrm>
          <a:prstGeom prst="rect">
            <a:avLst/>
          </a:prstGeom>
        </p:spPr>
      </p:pic>
      <p:pic>
        <p:nvPicPr>
          <p:cNvPr id="7" name="Graphic 6" descr="Vergrootglas met effen opvulling">
            <a:extLst>
              <a:ext uri="{FF2B5EF4-FFF2-40B4-BE49-F238E27FC236}">
                <a16:creationId xmlns:a16="http://schemas.microsoft.com/office/drawing/2014/main" id="{AE238DDE-58C8-D934-1893-A1CBA1F9E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0679" y="2080360"/>
            <a:ext cx="2697280" cy="26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23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2D472-E6FE-6CDB-4BAC-BD551F7B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Wil je snel geld, sluit dan je computer af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45FAC5-050C-FDA1-FC80-A4F39EB81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1180" cy="38724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Krijg je dit op je pc of zelfs je netwerk wordt alles afgesloten en kan je niks doen tot het betaald is.</a:t>
            </a:r>
          </a:p>
          <a:p>
            <a:r>
              <a:rPr lang="nl-NL" dirty="0"/>
              <a:t>Vaak zit er een telefoonnummer bij of een crypto account</a:t>
            </a:r>
          </a:p>
          <a:p>
            <a:r>
              <a:rPr lang="nl-NL" dirty="0" err="1"/>
              <a:t>Ransomware</a:t>
            </a:r>
            <a:r>
              <a:rPr lang="nl-NL" dirty="0"/>
              <a:t> is hardnekkig en zelf als je betaalt is het geen garantie dat het opgelost is.</a:t>
            </a:r>
          </a:p>
          <a:p>
            <a:r>
              <a:rPr lang="nl-NL" dirty="0"/>
              <a:t>PC opnieuw opstarten werkt niet (altijd)</a:t>
            </a:r>
          </a:p>
          <a:p>
            <a:endParaRPr lang="nl-NL" dirty="0"/>
          </a:p>
        </p:txBody>
      </p:sp>
      <p:pic>
        <p:nvPicPr>
          <p:cNvPr id="5" name="Graphic 4" descr="Vergrendelen met effen opvulling">
            <a:extLst>
              <a:ext uri="{FF2B5EF4-FFF2-40B4-BE49-F238E27FC236}">
                <a16:creationId xmlns:a16="http://schemas.microsoft.com/office/drawing/2014/main" id="{B0314033-59C7-1E41-546A-E13A909B2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6840" y="2407920"/>
            <a:ext cx="2522220" cy="252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69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212DA-6E8C-8AA0-4A3C-90E1E587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Mister </a:t>
            </a:r>
            <a:r>
              <a:rPr lang="nl-NL" dirty="0" err="1"/>
              <a:t>windows</a:t>
            </a:r>
            <a:r>
              <a:rPr lang="nl-NL" dirty="0"/>
              <a:t> i </a:t>
            </a:r>
            <a:r>
              <a:rPr lang="nl-NL" dirty="0" err="1"/>
              <a:t>don’t</a:t>
            </a:r>
            <a:r>
              <a:rPr lang="nl-NL" dirty="0"/>
              <a:t> feel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good</a:t>
            </a:r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E7FD799-49CF-DAD3-AD95-01CEC7887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89420" cy="4018584"/>
          </a:xfrm>
        </p:spPr>
        <p:txBody>
          <a:bodyPr/>
          <a:lstStyle/>
          <a:p>
            <a:r>
              <a:rPr lang="en-US" dirty="0"/>
              <a:t>Maakt data corrupt</a:t>
            </a:r>
          </a:p>
          <a:p>
            <a:r>
              <a:rPr lang="en-US" dirty="0" err="1"/>
              <a:t>Vernietigd</a:t>
            </a:r>
            <a:r>
              <a:rPr lang="en-US" dirty="0"/>
              <a:t> </a:t>
            </a:r>
            <a:r>
              <a:rPr lang="en-US" dirty="0" err="1"/>
              <a:t>legitieme</a:t>
            </a:r>
            <a:r>
              <a:rPr lang="en-US" dirty="0"/>
              <a:t> data</a:t>
            </a:r>
          </a:p>
          <a:p>
            <a:r>
              <a:rPr lang="en-US" dirty="0" err="1"/>
              <a:t>Schakelt</a:t>
            </a:r>
            <a:r>
              <a:rPr lang="en-US" dirty="0"/>
              <a:t> </a:t>
            </a:r>
            <a:r>
              <a:rPr lang="en-US" dirty="0" err="1"/>
              <a:t>beveiliging</a:t>
            </a:r>
            <a:r>
              <a:rPr lang="en-US" dirty="0"/>
              <a:t> </a:t>
            </a:r>
            <a:r>
              <a:rPr lang="en-US" dirty="0" err="1"/>
              <a:t>uit</a:t>
            </a:r>
            <a:endParaRPr lang="en-US" dirty="0"/>
          </a:p>
          <a:p>
            <a:r>
              <a:rPr lang="en-US" dirty="0"/>
              <a:t>Dit is </a:t>
            </a:r>
            <a:r>
              <a:rPr lang="en-US" dirty="0" err="1"/>
              <a:t>vaak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 trojan </a:t>
            </a:r>
            <a:r>
              <a:rPr lang="en-US" dirty="0" err="1"/>
              <a:t>zijn</a:t>
            </a:r>
            <a:r>
              <a:rPr lang="en-US" dirty="0"/>
              <a:t> de gateway </a:t>
            </a:r>
            <a:r>
              <a:rPr lang="en-US" dirty="0" err="1"/>
              <a:t>aanvallen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de </a:t>
            </a:r>
            <a:r>
              <a:rPr lang="en-US" dirty="0" err="1"/>
              <a:t>ergere</a:t>
            </a:r>
            <a:r>
              <a:rPr lang="en-US" dirty="0"/>
              <a:t> </a:t>
            </a:r>
            <a:r>
              <a:rPr lang="en-US" dirty="0" err="1"/>
              <a:t>aanvallen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Tijdelijke aanduiding voor inhoud 4" descr="Ziektekiem silhouet">
            <a:extLst>
              <a:ext uri="{FF2B5EF4-FFF2-40B4-BE49-F238E27FC236}">
                <a16:creationId xmlns:a16="http://schemas.microsoft.com/office/drawing/2014/main" id="{83AE5873-95E3-4236-C9CC-DB14AB1734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9991" y="2354579"/>
            <a:ext cx="2643809" cy="2643809"/>
          </a:xfrm>
        </p:spPr>
      </p:pic>
    </p:spTree>
    <p:extLst>
      <p:ext uri="{BB962C8B-B14F-4D97-AF65-F5344CB8AC3E}">
        <p14:creationId xmlns:p14="http://schemas.microsoft.com/office/powerpoint/2010/main" val="18894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32202-963B-B011-9402-CB40806F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Zombies, </a:t>
            </a:r>
            <a:r>
              <a:rPr lang="nl-NL" dirty="0" err="1"/>
              <a:t>oops</a:t>
            </a:r>
            <a:r>
              <a:rPr lang="nl-NL" dirty="0"/>
              <a:t> copyright claim…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90DCF6-8FE4-D990-8F03-049C1394B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4680" cy="3872442"/>
          </a:xfrm>
        </p:spPr>
        <p:txBody>
          <a:bodyPr/>
          <a:lstStyle/>
          <a:p>
            <a:r>
              <a:rPr lang="nl-NL" dirty="0"/>
              <a:t>Een zombie virus is een virus dat de machine voor een deel in een bot verandert</a:t>
            </a:r>
          </a:p>
          <a:p>
            <a:r>
              <a:rPr lang="nl-NL" dirty="0"/>
              <a:t>Een meester programma kan deze dan bedienen en gebruiken in de achtergrond</a:t>
            </a:r>
          </a:p>
          <a:p>
            <a:r>
              <a:rPr lang="nl-NL" dirty="0"/>
              <a:t>Zie je je muis bewegen zonder input of dingen aanklikken/typen</a:t>
            </a:r>
          </a:p>
          <a:p>
            <a:r>
              <a:rPr lang="nl-NL" dirty="0"/>
              <a:t>Je zou zombie kunnen hebben</a:t>
            </a:r>
          </a:p>
        </p:txBody>
      </p:sp>
      <p:pic>
        <p:nvPicPr>
          <p:cNvPr id="5" name="Graphic 4" descr="Zombie met effen opvulling">
            <a:extLst>
              <a:ext uri="{FF2B5EF4-FFF2-40B4-BE49-F238E27FC236}">
                <a16:creationId xmlns:a16="http://schemas.microsoft.com/office/drawing/2014/main" id="{EFD141D3-63CA-AAEC-9136-418ED2213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7280" y="2110740"/>
            <a:ext cx="2636520" cy="26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08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91FC09-D563-3B41-1B7E-6E157794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Bot hier, bot daar, bot overal en nu jij ook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61D62-0471-E0CF-56DB-9AFD13DD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6860" cy="3872442"/>
          </a:xfrm>
        </p:spPr>
        <p:txBody>
          <a:bodyPr/>
          <a:lstStyle/>
          <a:p>
            <a:r>
              <a:rPr lang="nl-NL" dirty="0" err="1"/>
              <a:t>Botnets</a:t>
            </a:r>
            <a:r>
              <a:rPr lang="nl-NL" dirty="0"/>
              <a:t> zijn corrupte machines die in een extra netwerk zitten.</a:t>
            </a:r>
          </a:p>
          <a:p>
            <a:r>
              <a:rPr lang="nl-NL" dirty="0"/>
              <a:t>Dit kan gezien worden als een netwerk van zombies.</a:t>
            </a:r>
          </a:p>
          <a:p>
            <a:r>
              <a:rPr lang="nl-NL" dirty="0"/>
              <a:t>Wordt gebruikt om </a:t>
            </a:r>
            <a:r>
              <a:rPr lang="nl-NL" dirty="0" err="1"/>
              <a:t>Ddos</a:t>
            </a:r>
            <a:r>
              <a:rPr lang="nl-NL" dirty="0"/>
              <a:t> aanvallen uit te voeren. </a:t>
            </a:r>
          </a:p>
          <a:p>
            <a:r>
              <a:rPr lang="nl-NL" dirty="0"/>
              <a:t>Verspreid zich vaak via andere aanvallen zoals…</a:t>
            </a:r>
          </a:p>
        </p:txBody>
      </p:sp>
      <p:pic>
        <p:nvPicPr>
          <p:cNvPr id="5" name="Graphic 4" descr="Netwerk silhouet">
            <a:extLst>
              <a:ext uri="{FF2B5EF4-FFF2-40B4-BE49-F238E27FC236}">
                <a16:creationId xmlns:a16="http://schemas.microsoft.com/office/drawing/2014/main" id="{8AC6416A-E016-0F49-CA53-C30596DCB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4950" y="1955940"/>
            <a:ext cx="2125980" cy="2125980"/>
          </a:xfrm>
          <a:prstGeom prst="rect">
            <a:avLst/>
          </a:prstGeom>
        </p:spPr>
      </p:pic>
      <p:pic>
        <p:nvPicPr>
          <p:cNvPr id="7" name="Graphic 6" descr="Robot met effen opvulling">
            <a:extLst>
              <a:ext uri="{FF2B5EF4-FFF2-40B4-BE49-F238E27FC236}">
                <a16:creationId xmlns:a16="http://schemas.microsoft.com/office/drawing/2014/main" id="{50DEF0B6-F8AE-6C15-AACC-F103CE79B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6110" y="1955940"/>
            <a:ext cx="914400" cy="914400"/>
          </a:xfrm>
          <a:prstGeom prst="rect">
            <a:avLst/>
          </a:prstGeom>
        </p:spPr>
      </p:pic>
      <p:pic>
        <p:nvPicPr>
          <p:cNvPr id="8" name="Graphic 7" descr="Robot met effen opvulling">
            <a:extLst>
              <a:ext uri="{FF2B5EF4-FFF2-40B4-BE49-F238E27FC236}">
                <a16:creationId xmlns:a16="http://schemas.microsoft.com/office/drawing/2014/main" id="{5B8171F4-7295-87B0-9F72-A5AE684C9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7750" y="1955940"/>
            <a:ext cx="914400" cy="914400"/>
          </a:xfrm>
          <a:prstGeom prst="rect">
            <a:avLst/>
          </a:prstGeom>
        </p:spPr>
      </p:pic>
      <p:pic>
        <p:nvPicPr>
          <p:cNvPr id="9" name="Graphic 8" descr="Robot met effen opvulling">
            <a:extLst>
              <a:ext uri="{FF2B5EF4-FFF2-40B4-BE49-F238E27FC236}">
                <a16:creationId xmlns:a16="http://schemas.microsoft.com/office/drawing/2014/main" id="{4B25E47B-6724-5448-58C9-BE49884A4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0740" y="1346340"/>
            <a:ext cx="914400" cy="914400"/>
          </a:xfrm>
          <a:prstGeom prst="rect">
            <a:avLst/>
          </a:prstGeom>
        </p:spPr>
      </p:pic>
      <p:pic>
        <p:nvPicPr>
          <p:cNvPr id="10" name="Graphic 9" descr="Robot met effen opvulling">
            <a:extLst>
              <a:ext uri="{FF2B5EF4-FFF2-40B4-BE49-F238E27FC236}">
                <a16:creationId xmlns:a16="http://schemas.microsoft.com/office/drawing/2014/main" id="{BFA84E08-29FB-27E2-BF9F-3004EBA36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3020" y="3432772"/>
            <a:ext cx="914400" cy="914400"/>
          </a:xfrm>
          <a:prstGeom prst="rect">
            <a:avLst/>
          </a:prstGeom>
        </p:spPr>
      </p:pic>
      <p:pic>
        <p:nvPicPr>
          <p:cNvPr id="11" name="Graphic 10" descr="Robot met effen opvulling">
            <a:extLst>
              <a:ext uri="{FF2B5EF4-FFF2-40B4-BE49-F238E27FC236}">
                <a16:creationId xmlns:a16="http://schemas.microsoft.com/office/drawing/2014/main" id="{B7516722-01F0-75DC-30BF-21A61423D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4180" y="35304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03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832FB2-DE76-4195-36A7-3B09B9B6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Diggy</a:t>
            </a:r>
            <a:r>
              <a:rPr lang="nl-NL" dirty="0"/>
              <a:t> </a:t>
            </a:r>
            <a:r>
              <a:rPr lang="nl-NL" dirty="0" err="1"/>
              <a:t>diggy</a:t>
            </a:r>
            <a:r>
              <a:rPr lang="nl-NL" dirty="0"/>
              <a:t> hole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7041BA-8E2D-0B9E-BE10-9B904C4F3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9200" cy="3872442"/>
          </a:xfrm>
        </p:spPr>
        <p:txBody>
          <a:bodyPr/>
          <a:lstStyle/>
          <a:p>
            <a:r>
              <a:rPr lang="nl-NL" dirty="0"/>
              <a:t>Wormen zijn aanvallen die zich blijven voortplanten en dragen andere aanvallen.</a:t>
            </a:r>
          </a:p>
          <a:p>
            <a:r>
              <a:rPr lang="nl-NL" dirty="0"/>
              <a:t>Wormen zijn vaak toegepast zonder controle programma maar geven wel signalen af bij data diefstal</a:t>
            </a:r>
          </a:p>
          <a:p>
            <a:endParaRPr lang="nl-NL" dirty="0"/>
          </a:p>
        </p:txBody>
      </p:sp>
      <p:pic>
        <p:nvPicPr>
          <p:cNvPr id="5" name="Graphic 4" descr="Worm met effen opvulling">
            <a:extLst>
              <a:ext uri="{FF2B5EF4-FFF2-40B4-BE49-F238E27FC236}">
                <a16:creationId xmlns:a16="http://schemas.microsoft.com/office/drawing/2014/main" id="{9788593B-01AD-A777-5D54-8BD96190D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840" y="1233488"/>
            <a:ext cx="914400" cy="914400"/>
          </a:xfrm>
          <a:prstGeom prst="rect">
            <a:avLst/>
          </a:prstGeom>
        </p:spPr>
      </p:pic>
      <p:pic>
        <p:nvPicPr>
          <p:cNvPr id="6" name="Graphic 5" descr="Worm met effen opvulling">
            <a:extLst>
              <a:ext uri="{FF2B5EF4-FFF2-40B4-BE49-F238E27FC236}">
                <a16:creationId xmlns:a16="http://schemas.microsoft.com/office/drawing/2014/main" id="{4B93B5B3-8EE7-2761-6644-8EB6536D3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7302" y="134250"/>
            <a:ext cx="914400" cy="914400"/>
          </a:xfrm>
          <a:prstGeom prst="rect">
            <a:avLst/>
          </a:prstGeom>
        </p:spPr>
      </p:pic>
      <p:pic>
        <p:nvPicPr>
          <p:cNvPr id="7" name="Graphic 6" descr="Worm met effen opvulling">
            <a:extLst>
              <a:ext uri="{FF2B5EF4-FFF2-40B4-BE49-F238E27FC236}">
                <a16:creationId xmlns:a16="http://schemas.microsoft.com/office/drawing/2014/main" id="{0B082F87-003A-83C4-0862-E10A9D52C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2589531"/>
            <a:ext cx="914400" cy="914400"/>
          </a:xfrm>
          <a:prstGeom prst="rect">
            <a:avLst/>
          </a:prstGeom>
        </p:spPr>
      </p:pic>
      <p:pic>
        <p:nvPicPr>
          <p:cNvPr id="8" name="Graphic 7" descr="Worm met effen opvulling">
            <a:extLst>
              <a:ext uri="{FF2B5EF4-FFF2-40B4-BE49-F238E27FC236}">
                <a16:creationId xmlns:a16="http://schemas.microsoft.com/office/drawing/2014/main" id="{E8E9D70F-3BBF-CF67-1A89-743932173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1950244"/>
            <a:ext cx="914400" cy="914400"/>
          </a:xfrm>
          <a:prstGeom prst="rect">
            <a:avLst/>
          </a:prstGeom>
        </p:spPr>
      </p:pic>
      <p:pic>
        <p:nvPicPr>
          <p:cNvPr id="9" name="Graphic 8" descr="Worm met effen opvulling">
            <a:extLst>
              <a:ext uri="{FF2B5EF4-FFF2-40B4-BE49-F238E27FC236}">
                <a16:creationId xmlns:a16="http://schemas.microsoft.com/office/drawing/2014/main" id="{CF0E57D1-47DE-A1F1-01D3-D54B5DDA2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4620" y="2976986"/>
            <a:ext cx="914400" cy="914400"/>
          </a:xfrm>
          <a:prstGeom prst="rect">
            <a:avLst/>
          </a:prstGeom>
        </p:spPr>
      </p:pic>
      <p:pic>
        <p:nvPicPr>
          <p:cNvPr id="10" name="Graphic 9" descr="Worm met effen opvulling">
            <a:extLst>
              <a:ext uri="{FF2B5EF4-FFF2-40B4-BE49-F238E27FC236}">
                <a16:creationId xmlns:a16="http://schemas.microsoft.com/office/drawing/2014/main" id="{7B99B41D-E2D2-8FF5-0E2F-68AC20EB3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0860" y="4396740"/>
            <a:ext cx="914400" cy="914400"/>
          </a:xfrm>
          <a:prstGeom prst="rect">
            <a:avLst/>
          </a:prstGeom>
        </p:spPr>
      </p:pic>
      <p:pic>
        <p:nvPicPr>
          <p:cNvPr id="11" name="Graphic 10" descr="Worm met effen opvulling">
            <a:extLst>
              <a:ext uri="{FF2B5EF4-FFF2-40B4-BE49-F238E27FC236}">
                <a16:creationId xmlns:a16="http://schemas.microsoft.com/office/drawing/2014/main" id="{E1A8CCA0-F9AB-678E-112B-CDB557175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300" y="3352800"/>
            <a:ext cx="914400" cy="914400"/>
          </a:xfrm>
          <a:prstGeom prst="rect">
            <a:avLst/>
          </a:prstGeom>
        </p:spPr>
      </p:pic>
      <p:pic>
        <p:nvPicPr>
          <p:cNvPr id="12" name="Graphic 11" descr="Worm met effen opvulling">
            <a:extLst>
              <a:ext uri="{FF2B5EF4-FFF2-40B4-BE49-F238E27FC236}">
                <a16:creationId xmlns:a16="http://schemas.microsoft.com/office/drawing/2014/main" id="{0E6595F8-51A7-0001-AD00-FF875342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0600" y="3848100"/>
            <a:ext cx="914400" cy="914400"/>
          </a:xfrm>
          <a:prstGeom prst="rect">
            <a:avLst/>
          </a:prstGeom>
        </p:spPr>
      </p:pic>
      <p:pic>
        <p:nvPicPr>
          <p:cNvPr id="13" name="Graphic 12" descr="Worm met effen opvulling">
            <a:extLst>
              <a:ext uri="{FF2B5EF4-FFF2-40B4-BE49-F238E27FC236}">
                <a16:creationId xmlns:a16="http://schemas.microsoft.com/office/drawing/2014/main" id="{B0C715FE-4745-187B-4CF9-DDBA9C64D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700" y="4145280"/>
            <a:ext cx="914400" cy="914400"/>
          </a:xfrm>
          <a:prstGeom prst="rect">
            <a:avLst/>
          </a:prstGeom>
        </p:spPr>
      </p:pic>
      <p:pic>
        <p:nvPicPr>
          <p:cNvPr id="14" name="Graphic 13" descr="Worm met effen opvulling">
            <a:extLst>
              <a:ext uri="{FF2B5EF4-FFF2-40B4-BE49-F238E27FC236}">
                <a16:creationId xmlns:a16="http://schemas.microsoft.com/office/drawing/2014/main" id="{C6DC6AF5-35A7-5064-8C28-ABE2D9EB7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3950" y="3230880"/>
            <a:ext cx="914400" cy="914400"/>
          </a:xfrm>
          <a:prstGeom prst="rect">
            <a:avLst/>
          </a:prstGeom>
        </p:spPr>
      </p:pic>
      <p:pic>
        <p:nvPicPr>
          <p:cNvPr id="15" name="Graphic 14" descr="Worm met effen opvulling">
            <a:extLst>
              <a:ext uri="{FF2B5EF4-FFF2-40B4-BE49-F238E27FC236}">
                <a16:creationId xmlns:a16="http://schemas.microsoft.com/office/drawing/2014/main" id="{B3A0F129-FDA4-B503-0ED8-18718B49F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0" y="4853940"/>
            <a:ext cx="914400" cy="914400"/>
          </a:xfrm>
          <a:prstGeom prst="rect">
            <a:avLst/>
          </a:prstGeom>
        </p:spPr>
      </p:pic>
      <p:pic>
        <p:nvPicPr>
          <p:cNvPr id="16" name="Graphic 15" descr="Worm met effen opvulling">
            <a:extLst>
              <a:ext uri="{FF2B5EF4-FFF2-40B4-BE49-F238E27FC236}">
                <a16:creationId xmlns:a16="http://schemas.microsoft.com/office/drawing/2014/main" id="{E7BBB4AB-9881-443B-7855-5A339AD9B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1120" y="1064203"/>
            <a:ext cx="914400" cy="914400"/>
          </a:xfrm>
          <a:prstGeom prst="rect">
            <a:avLst/>
          </a:prstGeom>
        </p:spPr>
      </p:pic>
      <p:pic>
        <p:nvPicPr>
          <p:cNvPr id="18" name="Graphic 17" descr="Worm met effen opvulling">
            <a:extLst>
              <a:ext uri="{FF2B5EF4-FFF2-40B4-BE49-F238E27FC236}">
                <a16:creationId xmlns:a16="http://schemas.microsoft.com/office/drawing/2014/main" id="{87F31363-598B-1CFA-E206-3F975C141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3240" y="830104"/>
            <a:ext cx="914400" cy="914400"/>
          </a:xfrm>
          <a:prstGeom prst="rect">
            <a:avLst/>
          </a:prstGeom>
        </p:spPr>
      </p:pic>
      <p:pic>
        <p:nvPicPr>
          <p:cNvPr id="19" name="Graphic 18" descr="Worm met effen opvulling">
            <a:extLst>
              <a:ext uri="{FF2B5EF4-FFF2-40B4-BE49-F238E27FC236}">
                <a16:creationId xmlns:a16="http://schemas.microsoft.com/office/drawing/2014/main" id="{4274286E-42CD-9EFB-53F1-5E0FCBA29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6860" y="112872"/>
            <a:ext cx="914400" cy="914400"/>
          </a:xfrm>
          <a:prstGeom prst="rect">
            <a:avLst/>
          </a:prstGeom>
        </p:spPr>
      </p:pic>
      <p:pic>
        <p:nvPicPr>
          <p:cNvPr id="20" name="Graphic 19" descr="Worm met effen opvulling">
            <a:extLst>
              <a:ext uri="{FF2B5EF4-FFF2-40B4-BE49-F238E27FC236}">
                <a16:creationId xmlns:a16="http://schemas.microsoft.com/office/drawing/2014/main" id="{6958A834-29F1-0CF8-F023-D866F1D1E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2186147"/>
            <a:ext cx="914400" cy="914400"/>
          </a:xfrm>
          <a:prstGeom prst="rect">
            <a:avLst/>
          </a:prstGeom>
        </p:spPr>
      </p:pic>
      <p:pic>
        <p:nvPicPr>
          <p:cNvPr id="21" name="Graphic 20" descr="Worm met effen opvulling">
            <a:extLst>
              <a:ext uri="{FF2B5EF4-FFF2-40B4-BE49-F238E27FC236}">
                <a16:creationId xmlns:a16="http://schemas.microsoft.com/office/drawing/2014/main" id="{DB3BF1E8-762B-EA14-5829-C327AFB5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3400" y="1546860"/>
            <a:ext cx="914400" cy="914400"/>
          </a:xfrm>
          <a:prstGeom prst="rect">
            <a:avLst/>
          </a:prstGeom>
        </p:spPr>
      </p:pic>
      <p:pic>
        <p:nvPicPr>
          <p:cNvPr id="22" name="Graphic 21" descr="Worm met effen opvulling">
            <a:extLst>
              <a:ext uri="{FF2B5EF4-FFF2-40B4-BE49-F238E27FC236}">
                <a16:creationId xmlns:a16="http://schemas.microsoft.com/office/drawing/2014/main" id="{852BD9A8-4354-683B-87D6-914954AFA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020" y="2573602"/>
            <a:ext cx="914400" cy="914400"/>
          </a:xfrm>
          <a:prstGeom prst="rect">
            <a:avLst/>
          </a:prstGeom>
        </p:spPr>
      </p:pic>
      <p:pic>
        <p:nvPicPr>
          <p:cNvPr id="23" name="Graphic 22" descr="Worm met effen opvulling">
            <a:extLst>
              <a:ext uri="{FF2B5EF4-FFF2-40B4-BE49-F238E27FC236}">
                <a16:creationId xmlns:a16="http://schemas.microsoft.com/office/drawing/2014/main" id="{368C15B0-0264-5DFB-3403-C415DAF5D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1260" y="3993356"/>
            <a:ext cx="914400" cy="914400"/>
          </a:xfrm>
          <a:prstGeom prst="rect">
            <a:avLst/>
          </a:prstGeom>
        </p:spPr>
      </p:pic>
      <p:pic>
        <p:nvPicPr>
          <p:cNvPr id="24" name="Graphic 23" descr="Worm met effen opvulling">
            <a:extLst>
              <a:ext uri="{FF2B5EF4-FFF2-40B4-BE49-F238E27FC236}">
                <a16:creationId xmlns:a16="http://schemas.microsoft.com/office/drawing/2014/main" id="{564B33CA-01A6-61CB-AFFF-92AF93C7E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700" y="2949416"/>
            <a:ext cx="914400" cy="914400"/>
          </a:xfrm>
          <a:prstGeom prst="rect">
            <a:avLst/>
          </a:prstGeom>
        </p:spPr>
      </p:pic>
      <p:pic>
        <p:nvPicPr>
          <p:cNvPr id="25" name="Graphic 24" descr="Worm met effen opvulling">
            <a:extLst>
              <a:ext uri="{FF2B5EF4-FFF2-40B4-BE49-F238E27FC236}">
                <a16:creationId xmlns:a16="http://schemas.microsoft.com/office/drawing/2014/main" id="{3FA002C9-3B00-4619-D68E-EC6B8500F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0166" y="3675727"/>
            <a:ext cx="914400" cy="914400"/>
          </a:xfrm>
          <a:prstGeom prst="rect">
            <a:avLst/>
          </a:prstGeom>
        </p:spPr>
      </p:pic>
      <p:pic>
        <p:nvPicPr>
          <p:cNvPr id="26" name="Graphic 25" descr="Worm met effen opvulling">
            <a:extLst>
              <a:ext uri="{FF2B5EF4-FFF2-40B4-BE49-F238E27FC236}">
                <a16:creationId xmlns:a16="http://schemas.microsoft.com/office/drawing/2014/main" id="{9A6011E9-FF40-7095-5CAA-42F7C89A1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350" y="2827496"/>
            <a:ext cx="914400" cy="914400"/>
          </a:xfrm>
          <a:prstGeom prst="rect">
            <a:avLst/>
          </a:prstGeom>
        </p:spPr>
      </p:pic>
      <p:pic>
        <p:nvPicPr>
          <p:cNvPr id="27" name="Graphic 26" descr="Worm met effen opvulling">
            <a:extLst>
              <a:ext uri="{FF2B5EF4-FFF2-40B4-BE49-F238E27FC236}">
                <a16:creationId xmlns:a16="http://schemas.microsoft.com/office/drawing/2014/main" id="{EAABCAE7-7830-32EE-DE0C-1F0168705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2800" y="4450556"/>
            <a:ext cx="914400" cy="914400"/>
          </a:xfrm>
          <a:prstGeom prst="rect">
            <a:avLst/>
          </a:prstGeom>
        </p:spPr>
      </p:pic>
      <p:pic>
        <p:nvPicPr>
          <p:cNvPr id="28" name="Graphic 27" descr="Worm met effen opvulling">
            <a:extLst>
              <a:ext uri="{FF2B5EF4-FFF2-40B4-BE49-F238E27FC236}">
                <a16:creationId xmlns:a16="http://schemas.microsoft.com/office/drawing/2014/main" id="{362380BB-D4ED-1F59-7075-C2ECAB815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1520" y="660819"/>
            <a:ext cx="914400" cy="914400"/>
          </a:xfrm>
          <a:prstGeom prst="rect">
            <a:avLst/>
          </a:prstGeom>
        </p:spPr>
      </p:pic>
      <p:pic>
        <p:nvPicPr>
          <p:cNvPr id="29" name="Graphic 28" descr="Worm met effen opvulling">
            <a:extLst>
              <a:ext uri="{FF2B5EF4-FFF2-40B4-BE49-F238E27FC236}">
                <a16:creationId xmlns:a16="http://schemas.microsoft.com/office/drawing/2014/main" id="{85197E0E-40B3-0128-7D61-CF037895E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100" y="2270760"/>
            <a:ext cx="914400" cy="914400"/>
          </a:xfrm>
          <a:prstGeom prst="rect">
            <a:avLst/>
          </a:prstGeom>
        </p:spPr>
      </p:pic>
      <p:pic>
        <p:nvPicPr>
          <p:cNvPr id="30" name="Graphic 29" descr="Worm met effen opvulling">
            <a:extLst>
              <a:ext uri="{FF2B5EF4-FFF2-40B4-BE49-F238E27FC236}">
                <a16:creationId xmlns:a16="http://schemas.microsoft.com/office/drawing/2014/main" id="{42C5AC59-84B9-FB5B-D99F-0D7DD1E5B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720" y="1553528"/>
            <a:ext cx="914400" cy="914400"/>
          </a:xfrm>
          <a:prstGeom prst="rect">
            <a:avLst/>
          </a:prstGeom>
        </p:spPr>
      </p:pic>
      <p:pic>
        <p:nvPicPr>
          <p:cNvPr id="31" name="Graphic 30" descr="Worm met effen opvulling">
            <a:extLst>
              <a:ext uri="{FF2B5EF4-FFF2-40B4-BE49-F238E27FC236}">
                <a16:creationId xmlns:a16="http://schemas.microsoft.com/office/drawing/2014/main" id="{2AC89DBB-35C5-5F30-083D-FC50B4945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5260" y="3626803"/>
            <a:ext cx="914400" cy="914400"/>
          </a:xfrm>
          <a:prstGeom prst="rect">
            <a:avLst/>
          </a:prstGeom>
        </p:spPr>
      </p:pic>
      <p:pic>
        <p:nvPicPr>
          <p:cNvPr id="32" name="Graphic 31" descr="Worm met effen opvulling">
            <a:extLst>
              <a:ext uri="{FF2B5EF4-FFF2-40B4-BE49-F238E27FC236}">
                <a16:creationId xmlns:a16="http://schemas.microsoft.com/office/drawing/2014/main" id="{0C537DBA-C169-64DE-33D5-BF67E9200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9260" y="2987516"/>
            <a:ext cx="914400" cy="914400"/>
          </a:xfrm>
          <a:prstGeom prst="rect">
            <a:avLst/>
          </a:prstGeom>
        </p:spPr>
      </p:pic>
      <p:pic>
        <p:nvPicPr>
          <p:cNvPr id="33" name="Graphic 32" descr="Worm met effen opvulling">
            <a:extLst>
              <a:ext uri="{FF2B5EF4-FFF2-40B4-BE49-F238E27FC236}">
                <a16:creationId xmlns:a16="http://schemas.microsoft.com/office/drawing/2014/main" id="{08B84C32-B6C3-9708-0412-DB46CBF09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0880" y="4014258"/>
            <a:ext cx="914400" cy="914400"/>
          </a:xfrm>
          <a:prstGeom prst="rect">
            <a:avLst/>
          </a:prstGeom>
        </p:spPr>
      </p:pic>
      <p:pic>
        <p:nvPicPr>
          <p:cNvPr id="34" name="Graphic 33" descr="Worm met effen opvulling">
            <a:extLst>
              <a:ext uri="{FF2B5EF4-FFF2-40B4-BE49-F238E27FC236}">
                <a16:creationId xmlns:a16="http://schemas.microsoft.com/office/drawing/2014/main" id="{1C3E91E3-AA4D-07EA-DF9A-6058FC4BB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7120" y="5434012"/>
            <a:ext cx="914400" cy="914400"/>
          </a:xfrm>
          <a:prstGeom prst="rect">
            <a:avLst/>
          </a:prstGeom>
        </p:spPr>
      </p:pic>
      <p:pic>
        <p:nvPicPr>
          <p:cNvPr id="35" name="Graphic 34" descr="Worm met effen opvulling">
            <a:extLst>
              <a:ext uri="{FF2B5EF4-FFF2-40B4-BE49-F238E27FC236}">
                <a16:creationId xmlns:a16="http://schemas.microsoft.com/office/drawing/2014/main" id="{B7FA79E2-2B10-DB99-50C0-2B0FEFAD9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9560" y="4390072"/>
            <a:ext cx="914400" cy="914400"/>
          </a:xfrm>
          <a:prstGeom prst="rect">
            <a:avLst/>
          </a:prstGeom>
        </p:spPr>
      </p:pic>
      <p:pic>
        <p:nvPicPr>
          <p:cNvPr id="36" name="Graphic 35" descr="Worm met effen opvulling">
            <a:extLst>
              <a:ext uri="{FF2B5EF4-FFF2-40B4-BE49-F238E27FC236}">
                <a16:creationId xmlns:a16="http://schemas.microsoft.com/office/drawing/2014/main" id="{47DB1EE3-B5D2-4D2F-24C4-9AE5B20FB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6860" y="4885372"/>
            <a:ext cx="914400" cy="914400"/>
          </a:xfrm>
          <a:prstGeom prst="rect">
            <a:avLst/>
          </a:prstGeom>
        </p:spPr>
      </p:pic>
      <p:pic>
        <p:nvPicPr>
          <p:cNvPr id="37" name="Graphic 36" descr="Worm met effen opvulling">
            <a:extLst>
              <a:ext uri="{FF2B5EF4-FFF2-40B4-BE49-F238E27FC236}">
                <a16:creationId xmlns:a16="http://schemas.microsoft.com/office/drawing/2014/main" id="{EE26A067-B02D-1F96-1452-C0ADBE700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0210" y="4268152"/>
            <a:ext cx="914400" cy="914400"/>
          </a:xfrm>
          <a:prstGeom prst="rect">
            <a:avLst/>
          </a:prstGeom>
        </p:spPr>
      </p:pic>
      <p:pic>
        <p:nvPicPr>
          <p:cNvPr id="38" name="Graphic 37" descr="Worm met effen opvulling">
            <a:extLst>
              <a:ext uri="{FF2B5EF4-FFF2-40B4-BE49-F238E27FC236}">
                <a16:creationId xmlns:a16="http://schemas.microsoft.com/office/drawing/2014/main" id="{2EB3D628-3922-1D8A-CB57-C96015C23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8660" y="5891212"/>
            <a:ext cx="914400" cy="914400"/>
          </a:xfrm>
          <a:prstGeom prst="rect">
            <a:avLst/>
          </a:prstGeom>
        </p:spPr>
      </p:pic>
      <p:pic>
        <p:nvPicPr>
          <p:cNvPr id="39" name="Graphic 38" descr="Worm met effen opvulling">
            <a:extLst>
              <a:ext uri="{FF2B5EF4-FFF2-40B4-BE49-F238E27FC236}">
                <a16:creationId xmlns:a16="http://schemas.microsoft.com/office/drawing/2014/main" id="{ABC61B86-0753-80CA-E0AE-FC3564F79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380" y="2101475"/>
            <a:ext cx="914400" cy="914400"/>
          </a:xfrm>
          <a:prstGeom prst="rect">
            <a:avLst/>
          </a:prstGeom>
        </p:spPr>
      </p:pic>
      <p:pic>
        <p:nvPicPr>
          <p:cNvPr id="40" name="Graphic 39" descr="Worm met effen opvulling">
            <a:extLst>
              <a:ext uri="{FF2B5EF4-FFF2-40B4-BE49-F238E27FC236}">
                <a16:creationId xmlns:a16="http://schemas.microsoft.com/office/drawing/2014/main" id="{EB30AF28-C9CA-AA6E-D7C2-DD1638841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5560" y="-84296"/>
            <a:ext cx="914400" cy="914400"/>
          </a:xfrm>
          <a:prstGeom prst="rect">
            <a:avLst/>
          </a:prstGeom>
        </p:spPr>
      </p:pic>
      <p:pic>
        <p:nvPicPr>
          <p:cNvPr id="41" name="Graphic 40" descr="Worm met effen opvulling">
            <a:extLst>
              <a:ext uri="{FF2B5EF4-FFF2-40B4-BE49-F238E27FC236}">
                <a16:creationId xmlns:a16="http://schemas.microsoft.com/office/drawing/2014/main" id="{87C01156-6C44-31E9-7BF9-C63701719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9180" y="-801528"/>
            <a:ext cx="914400" cy="914400"/>
          </a:xfrm>
          <a:prstGeom prst="rect">
            <a:avLst/>
          </a:prstGeom>
        </p:spPr>
      </p:pic>
      <p:pic>
        <p:nvPicPr>
          <p:cNvPr id="42" name="Graphic 41" descr="Worm met effen opvulling">
            <a:extLst>
              <a:ext uri="{FF2B5EF4-FFF2-40B4-BE49-F238E27FC236}">
                <a16:creationId xmlns:a16="http://schemas.microsoft.com/office/drawing/2014/main" id="{A32D5682-26D4-7793-72A6-942DC5B02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1720" y="1271747"/>
            <a:ext cx="914400" cy="914400"/>
          </a:xfrm>
          <a:prstGeom prst="rect">
            <a:avLst/>
          </a:prstGeom>
        </p:spPr>
      </p:pic>
      <p:pic>
        <p:nvPicPr>
          <p:cNvPr id="43" name="Graphic 42" descr="Worm met effen opvulling">
            <a:extLst>
              <a:ext uri="{FF2B5EF4-FFF2-40B4-BE49-F238E27FC236}">
                <a16:creationId xmlns:a16="http://schemas.microsoft.com/office/drawing/2014/main" id="{186A61DD-4BD3-D5CB-235D-34F4EA96F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5720" y="632460"/>
            <a:ext cx="914400" cy="914400"/>
          </a:xfrm>
          <a:prstGeom prst="rect">
            <a:avLst/>
          </a:prstGeom>
        </p:spPr>
      </p:pic>
      <p:pic>
        <p:nvPicPr>
          <p:cNvPr id="44" name="Graphic 43" descr="Worm met effen opvulling">
            <a:extLst>
              <a:ext uri="{FF2B5EF4-FFF2-40B4-BE49-F238E27FC236}">
                <a16:creationId xmlns:a16="http://schemas.microsoft.com/office/drawing/2014/main" id="{9BFAEFDD-A71D-0A9D-A929-800F6B9C8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7340" y="1659202"/>
            <a:ext cx="914400" cy="914400"/>
          </a:xfrm>
          <a:prstGeom prst="rect">
            <a:avLst/>
          </a:prstGeom>
        </p:spPr>
      </p:pic>
      <p:pic>
        <p:nvPicPr>
          <p:cNvPr id="45" name="Graphic 44" descr="Worm met effen opvulling">
            <a:extLst>
              <a:ext uri="{FF2B5EF4-FFF2-40B4-BE49-F238E27FC236}">
                <a16:creationId xmlns:a16="http://schemas.microsoft.com/office/drawing/2014/main" id="{23F5A17B-6893-028E-FABC-A309BBF88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3580" y="3078956"/>
            <a:ext cx="914400" cy="914400"/>
          </a:xfrm>
          <a:prstGeom prst="rect">
            <a:avLst/>
          </a:prstGeom>
        </p:spPr>
      </p:pic>
      <p:pic>
        <p:nvPicPr>
          <p:cNvPr id="46" name="Graphic 45" descr="Worm met effen opvulling">
            <a:extLst>
              <a:ext uri="{FF2B5EF4-FFF2-40B4-BE49-F238E27FC236}">
                <a16:creationId xmlns:a16="http://schemas.microsoft.com/office/drawing/2014/main" id="{3372C733-B5C6-BC67-D413-AB42490B8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6020" y="2035016"/>
            <a:ext cx="914400" cy="914400"/>
          </a:xfrm>
          <a:prstGeom prst="rect">
            <a:avLst/>
          </a:prstGeom>
        </p:spPr>
      </p:pic>
      <p:pic>
        <p:nvPicPr>
          <p:cNvPr id="47" name="Graphic 46" descr="Worm met effen opvulling">
            <a:extLst>
              <a:ext uri="{FF2B5EF4-FFF2-40B4-BE49-F238E27FC236}">
                <a16:creationId xmlns:a16="http://schemas.microsoft.com/office/drawing/2014/main" id="{CC733FA7-8ABF-CEC5-9C5D-D6C87B555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3320" y="2530316"/>
            <a:ext cx="914400" cy="914400"/>
          </a:xfrm>
          <a:prstGeom prst="rect">
            <a:avLst/>
          </a:prstGeom>
        </p:spPr>
      </p:pic>
      <p:pic>
        <p:nvPicPr>
          <p:cNvPr id="48" name="Graphic 47" descr="Worm met effen opvulling">
            <a:extLst>
              <a:ext uri="{FF2B5EF4-FFF2-40B4-BE49-F238E27FC236}">
                <a16:creationId xmlns:a16="http://schemas.microsoft.com/office/drawing/2014/main" id="{4E483AA8-DA4F-9505-A2D4-84E39A7CB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6670" y="1913096"/>
            <a:ext cx="914400" cy="914400"/>
          </a:xfrm>
          <a:prstGeom prst="rect">
            <a:avLst/>
          </a:prstGeom>
        </p:spPr>
      </p:pic>
      <p:pic>
        <p:nvPicPr>
          <p:cNvPr id="49" name="Graphic 48" descr="Worm met effen opvulling">
            <a:extLst>
              <a:ext uri="{FF2B5EF4-FFF2-40B4-BE49-F238E27FC236}">
                <a16:creationId xmlns:a16="http://schemas.microsoft.com/office/drawing/2014/main" id="{2D14B293-0D01-0EDF-51DA-5557137BE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5120" y="3536156"/>
            <a:ext cx="914400" cy="914400"/>
          </a:xfrm>
          <a:prstGeom prst="rect">
            <a:avLst/>
          </a:prstGeom>
        </p:spPr>
      </p:pic>
      <p:pic>
        <p:nvPicPr>
          <p:cNvPr id="50" name="Graphic 49" descr="Worm met effen opvulling">
            <a:extLst>
              <a:ext uri="{FF2B5EF4-FFF2-40B4-BE49-F238E27FC236}">
                <a16:creationId xmlns:a16="http://schemas.microsoft.com/office/drawing/2014/main" id="{8E7B52B6-6E6F-99AD-2DED-DA4DA695A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840" y="-253581"/>
            <a:ext cx="914400" cy="914400"/>
          </a:xfrm>
          <a:prstGeom prst="rect">
            <a:avLst/>
          </a:prstGeom>
        </p:spPr>
      </p:pic>
      <p:pic>
        <p:nvPicPr>
          <p:cNvPr id="51" name="Graphic 50" descr="Worm met effen opvulling">
            <a:extLst>
              <a:ext uri="{FF2B5EF4-FFF2-40B4-BE49-F238E27FC236}">
                <a16:creationId xmlns:a16="http://schemas.microsoft.com/office/drawing/2014/main" id="{76175913-5DD4-5212-9A28-B0AC2BD63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7880" y="516732"/>
            <a:ext cx="914400" cy="914400"/>
          </a:xfrm>
          <a:prstGeom prst="rect">
            <a:avLst/>
          </a:prstGeom>
        </p:spPr>
      </p:pic>
      <p:pic>
        <p:nvPicPr>
          <p:cNvPr id="52" name="Graphic 51" descr="Worm met effen opvulling">
            <a:extLst>
              <a:ext uri="{FF2B5EF4-FFF2-40B4-BE49-F238E27FC236}">
                <a16:creationId xmlns:a16="http://schemas.microsoft.com/office/drawing/2014/main" id="{A31DD093-E05E-B626-9D25-158D35D08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500" y="-200500"/>
            <a:ext cx="914400" cy="914400"/>
          </a:xfrm>
          <a:prstGeom prst="rect">
            <a:avLst/>
          </a:prstGeom>
        </p:spPr>
      </p:pic>
      <p:pic>
        <p:nvPicPr>
          <p:cNvPr id="53" name="Graphic 52" descr="Worm met effen opvulling">
            <a:extLst>
              <a:ext uri="{FF2B5EF4-FFF2-40B4-BE49-F238E27FC236}">
                <a16:creationId xmlns:a16="http://schemas.microsoft.com/office/drawing/2014/main" id="{9C0A22DF-D304-31FE-F5F1-132CF42F6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40" y="1872775"/>
            <a:ext cx="914400" cy="914400"/>
          </a:xfrm>
          <a:prstGeom prst="rect">
            <a:avLst/>
          </a:prstGeom>
        </p:spPr>
      </p:pic>
      <p:pic>
        <p:nvPicPr>
          <p:cNvPr id="54" name="Graphic 53" descr="Worm met effen opvulling">
            <a:extLst>
              <a:ext uri="{FF2B5EF4-FFF2-40B4-BE49-F238E27FC236}">
                <a16:creationId xmlns:a16="http://schemas.microsoft.com/office/drawing/2014/main" id="{0E6A3C28-BABC-CCAD-496F-205E2AF3A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040" y="1233488"/>
            <a:ext cx="914400" cy="914400"/>
          </a:xfrm>
          <a:prstGeom prst="rect">
            <a:avLst/>
          </a:prstGeom>
        </p:spPr>
      </p:pic>
      <p:pic>
        <p:nvPicPr>
          <p:cNvPr id="55" name="Graphic 54" descr="Worm met effen opvulling">
            <a:extLst>
              <a:ext uri="{FF2B5EF4-FFF2-40B4-BE49-F238E27FC236}">
                <a16:creationId xmlns:a16="http://schemas.microsoft.com/office/drawing/2014/main" id="{F26AC635-425C-666C-BB02-9F0F32AAC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9660" y="2260230"/>
            <a:ext cx="914400" cy="914400"/>
          </a:xfrm>
          <a:prstGeom prst="rect">
            <a:avLst/>
          </a:prstGeom>
        </p:spPr>
      </p:pic>
      <p:pic>
        <p:nvPicPr>
          <p:cNvPr id="56" name="Graphic 55" descr="Worm met effen opvulling">
            <a:extLst>
              <a:ext uri="{FF2B5EF4-FFF2-40B4-BE49-F238E27FC236}">
                <a16:creationId xmlns:a16="http://schemas.microsoft.com/office/drawing/2014/main" id="{419EE54F-59E3-12F1-C5CF-9E87993BD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15900" y="3679984"/>
            <a:ext cx="914400" cy="914400"/>
          </a:xfrm>
          <a:prstGeom prst="rect">
            <a:avLst/>
          </a:prstGeom>
        </p:spPr>
      </p:pic>
      <p:pic>
        <p:nvPicPr>
          <p:cNvPr id="57" name="Graphic 56" descr="Worm met effen opvulling">
            <a:extLst>
              <a:ext uri="{FF2B5EF4-FFF2-40B4-BE49-F238E27FC236}">
                <a16:creationId xmlns:a16="http://schemas.microsoft.com/office/drawing/2014/main" id="{8A94F127-1E54-071A-C1D2-21BA73C05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340" y="2636044"/>
            <a:ext cx="914400" cy="914400"/>
          </a:xfrm>
          <a:prstGeom prst="rect">
            <a:avLst/>
          </a:prstGeom>
        </p:spPr>
      </p:pic>
      <p:pic>
        <p:nvPicPr>
          <p:cNvPr id="58" name="Graphic 57" descr="Worm met effen opvulling">
            <a:extLst>
              <a:ext uri="{FF2B5EF4-FFF2-40B4-BE49-F238E27FC236}">
                <a16:creationId xmlns:a16="http://schemas.microsoft.com/office/drawing/2014/main" id="{75F26602-F351-1AC9-BEC2-1E2FBC2B6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5640" y="3131344"/>
            <a:ext cx="914400" cy="914400"/>
          </a:xfrm>
          <a:prstGeom prst="rect">
            <a:avLst/>
          </a:prstGeom>
        </p:spPr>
      </p:pic>
      <p:pic>
        <p:nvPicPr>
          <p:cNvPr id="59" name="Graphic 58" descr="Worm met effen opvulling">
            <a:extLst>
              <a:ext uri="{FF2B5EF4-FFF2-40B4-BE49-F238E27FC236}">
                <a16:creationId xmlns:a16="http://schemas.microsoft.com/office/drawing/2014/main" id="{0FD5FB64-4AD0-460B-B10D-D8B1D0BBC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8990" y="2514124"/>
            <a:ext cx="914400" cy="914400"/>
          </a:xfrm>
          <a:prstGeom prst="rect">
            <a:avLst/>
          </a:prstGeom>
        </p:spPr>
      </p:pic>
      <p:pic>
        <p:nvPicPr>
          <p:cNvPr id="60" name="Graphic 59" descr="Worm met effen opvulling">
            <a:extLst>
              <a:ext uri="{FF2B5EF4-FFF2-40B4-BE49-F238E27FC236}">
                <a16:creationId xmlns:a16="http://schemas.microsoft.com/office/drawing/2014/main" id="{DE78EDA4-B875-5E0E-5905-CA358AE1C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7440" y="4137184"/>
            <a:ext cx="914400" cy="914400"/>
          </a:xfrm>
          <a:prstGeom prst="rect">
            <a:avLst/>
          </a:prstGeom>
        </p:spPr>
      </p:pic>
      <p:pic>
        <p:nvPicPr>
          <p:cNvPr id="61" name="Graphic 60" descr="Worm met effen opvulling">
            <a:extLst>
              <a:ext uri="{FF2B5EF4-FFF2-40B4-BE49-F238E27FC236}">
                <a16:creationId xmlns:a16="http://schemas.microsoft.com/office/drawing/2014/main" id="{AE20988A-D4B2-1EC2-E447-0974D776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160" y="347447"/>
            <a:ext cx="914400" cy="914400"/>
          </a:xfrm>
          <a:prstGeom prst="rect">
            <a:avLst/>
          </a:prstGeom>
        </p:spPr>
      </p:pic>
      <p:pic>
        <p:nvPicPr>
          <p:cNvPr id="62" name="Graphic 61" descr="Worm met effen opvulling">
            <a:extLst>
              <a:ext uri="{FF2B5EF4-FFF2-40B4-BE49-F238E27FC236}">
                <a16:creationId xmlns:a16="http://schemas.microsoft.com/office/drawing/2014/main" id="{135A24DD-DFB8-CB75-4F13-9735360F8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4271" y="255992"/>
            <a:ext cx="914400" cy="914400"/>
          </a:xfrm>
          <a:prstGeom prst="rect">
            <a:avLst/>
          </a:prstGeom>
        </p:spPr>
      </p:pic>
      <p:pic>
        <p:nvPicPr>
          <p:cNvPr id="63" name="Graphic 62" descr="Worm met effen opvulling">
            <a:extLst>
              <a:ext uri="{FF2B5EF4-FFF2-40B4-BE49-F238E27FC236}">
                <a16:creationId xmlns:a16="http://schemas.microsoft.com/office/drawing/2014/main" id="{8A22315B-5AD0-3CF5-471E-3E2F4F747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5947" y="2426380"/>
            <a:ext cx="914400" cy="914400"/>
          </a:xfrm>
          <a:prstGeom prst="rect">
            <a:avLst/>
          </a:prstGeom>
        </p:spPr>
      </p:pic>
      <p:pic>
        <p:nvPicPr>
          <p:cNvPr id="64" name="Graphic 63" descr="Worm met effen opvulling">
            <a:extLst>
              <a:ext uri="{FF2B5EF4-FFF2-40B4-BE49-F238E27FC236}">
                <a16:creationId xmlns:a16="http://schemas.microsoft.com/office/drawing/2014/main" id="{7BDEC857-E646-7835-066B-415480B76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8487" y="4499655"/>
            <a:ext cx="914400" cy="914400"/>
          </a:xfrm>
          <a:prstGeom prst="rect">
            <a:avLst/>
          </a:prstGeom>
        </p:spPr>
      </p:pic>
      <p:pic>
        <p:nvPicPr>
          <p:cNvPr id="65" name="Graphic 64" descr="Worm met effen opvulling">
            <a:extLst>
              <a:ext uri="{FF2B5EF4-FFF2-40B4-BE49-F238E27FC236}">
                <a16:creationId xmlns:a16="http://schemas.microsoft.com/office/drawing/2014/main" id="{54E1CCBD-9693-B88D-C308-D5FF2F11C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487" y="3860368"/>
            <a:ext cx="914400" cy="914400"/>
          </a:xfrm>
          <a:prstGeom prst="rect">
            <a:avLst/>
          </a:prstGeom>
        </p:spPr>
      </p:pic>
      <p:pic>
        <p:nvPicPr>
          <p:cNvPr id="66" name="Graphic 65" descr="Worm met effen opvulling">
            <a:extLst>
              <a:ext uri="{FF2B5EF4-FFF2-40B4-BE49-F238E27FC236}">
                <a16:creationId xmlns:a16="http://schemas.microsoft.com/office/drawing/2014/main" id="{4F31212F-9ACF-9BAB-5F87-7B0CF55FD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4107" y="4887110"/>
            <a:ext cx="914400" cy="914400"/>
          </a:xfrm>
          <a:prstGeom prst="rect">
            <a:avLst/>
          </a:prstGeom>
        </p:spPr>
      </p:pic>
      <p:pic>
        <p:nvPicPr>
          <p:cNvPr id="67" name="Graphic 66" descr="Worm met effen opvulling">
            <a:extLst>
              <a:ext uri="{FF2B5EF4-FFF2-40B4-BE49-F238E27FC236}">
                <a16:creationId xmlns:a16="http://schemas.microsoft.com/office/drawing/2014/main" id="{8FCB6239-3FC2-8F82-E17A-9B2BF57A7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30347" y="6306864"/>
            <a:ext cx="914400" cy="914400"/>
          </a:xfrm>
          <a:prstGeom prst="rect">
            <a:avLst/>
          </a:prstGeom>
        </p:spPr>
      </p:pic>
      <p:pic>
        <p:nvPicPr>
          <p:cNvPr id="68" name="Graphic 67" descr="Worm met effen opvulling">
            <a:extLst>
              <a:ext uri="{FF2B5EF4-FFF2-40B4-BE49-F238E27FC236}">
                <a16:creationId xmlns:a16="http://schemas.microsoft.com/office/drawing/2014/main" id="{D0D9A3EE-7A8C-00DC-5C2B-53CCA55B4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2787" y="5262924"/>
            <a:ext cx="914400" cy="914400"/>
          </a:xfrm>
          <a:prstGeom prst="rect">
            <a:avLst/>
          </a:prstGeom>
        </p:spPr>
      </p:pic>
      <p:pic>
        <p:nvPicPr>
          <p:cNvPr id="69" name="Graphic 68" descr="Worm met effen opvulling">
            <a:extLst>
              <a:ext uri="{FF2B5EF4-FFF2-40B4-BE49-F238E27FC236}">
                <a16:creationId xmlns:a16="http://schemas.microsoft.com/office/drawing/2014/main" id="{7309816F-5459-67FE-A088-5F2967459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0087" y="5758224"/>
            <a:ext cx="914400" cy="914400"/>
          </a:xfrm>
          <a:prstGeom prst="rect">
            <a:avLst/>
          </a:prstGeom>
        </p:spPr>
      </p:pic>
      <p:pic>
        <p:nvPicPr>
          <p:cNvPr id="70" name="Graphic 69" descr="Worm met effen opvulling">
            <a:extLst>
              <a:ext uri="{FF2B5EF4-FFF2-40B4-BE49-F238E27FC236}">
                <a16:creationId xmlns:a16="http://schemas.microsoft.com/office/drawing/2014/main" id="{F2024B86-E9B4-FDF2-18A2-8C177C199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3437" y="5141004"/>
            <a:ext cx="914400" cy="914400"/>
          </a:xfrm>
          <a:prstGeom prst="rect">
            <a:avLst/>
          </a:prstGeom>
        </p:spPr>
      </p:pic>
      <p:pic>
        <p:nvPicPr>
          <p:cNvPr id="71" name="Graphic 70" descr="Worm met effen opvulling">
            <a:extLst>
              <a:ext uri="{FF2B5EF4-FFF2-40B4-BE49-F238E27FC236}">
                <a16:creationId xmlns:a16="http://schemas.microsoft.com/office/drawing/2014/main" id="{8E7C462C-6A53-D810-A79D-84CAED9B7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1887" y="6764064"/>
            <a:ext cx="914400" cy="914400"/>
          </a:xfrm>
          <a:prstGeom prst="rect">
            <a:avLst/>
          </a:prstGeom>
        </p:spPr>
      </p:pic>
      <p:pic>
        <p:nvPicPr>
          <p:cNvPr id="72" name="Graphic 71" descr="Worm met effen opvulling">
            <a:extLst>
              <a:ext uri="{FF2B5EF4-FFF2-40B4-BE49-F238E27FC236}">
                <a16:creationId xmlns:a16="http://schemas.microsoft.com/office/drawing/2014/main" id="{8AF8BAA5-8A4B-E86E-2531-F7F941CB2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0840" y="2162815"/>
            <a:ext cx="914400" cy="914400"/>
          </a:xfrm>
          <a:prstGeom prst="rect">
            <a:avLst/>
          </a:prstGeom>
        </p:spPr>
      </p:pic>
      <p:pic>
        <p:nvPicPr>
          <p:cNvPr id="73" name="Graphic 72" descr="Worm met effen opvulling">
            <a:extLst>
              <a:ext uri="{FF2B5EF4-FFF2-40B4-BE49-F238E27FC236}">
                <a16:creationId xmlns:a16="http://schemas.microsoft.com/office/drawing/2014/main" id="{5C8B45BD-E6EC-2072-6C88-818E34B85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9722" y="3517352"/>
            <a:ext cx="914400" cy="914400"/>
          </a:xfrm>
          <a:prstGeom prst="rect">
            <a:avLst/>
          </a:prstGeom>
        </p:spPr>
      </p:pic>
      <p:pic>
        <p:nvPicPr>
          <p:cNvPr id="74" name="Graphic 73" descr="Worm met effen opvulling">
            <a:extLst>
              <a:ext uri="{FF2B5EF4-FFF2-40B4-BE49-F238E27FC236}">
                <a16:creationId xmlns:a16="http://schemas.microsoft.com/office/drawing/2014/main" id="{F8882550-1784-6B20-5DBC-3B4BC9DE6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342" y="2800120"/>
            <a:ext cx="914400" cy="914400"/>
          </a:xfrm>
          <a:prstGeom prst="rect">
            <a:avLst/>
          </a:prstGeom>
        </p:spPr>
      </p:pic>
      <p:pic>
        <p:nvPicPr>
          <p:cNvPr id="75" name="Graphic 74" descr="Worm met effen opvulling">
            <a:extLst>
              <a:ext uri="{FF2B5EF4-FFF2-40B4-BE49-F238E27FC236}">
                <a16:creationId xmlns:a16="http://schemas.microsoft.com/office/drawing/2014/main" id="{E02B65E8-4FEA-CB1C-869F-4FBB24219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82" y="4873395"/>
            <a:ext cx="914400" cy="914400"/>
          </a:xfrm>
          <a:prstGeom prst="rect">
            <a:avLst/>
          </a:prstGeom>
        </p:spPr>
      </p:pic>
      <p:pic>
        <p:nvPicPr>
          <p:cNvPr id="76" name="Graphic 75" descr="Worm met effen opvulling">
            <a:extLst>
              <a:ext uri="{FF2B5EF4-FFF2-40B4-BE49-F238E27FC236}">
                <a16:creationId xmlns:a16="http://schemas.microsoft.com/office/drawing/2014/main" id="{044CF7A8-3133-77AA-214F-4A5D99977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882" y="4234108"/>
            <a:ext cx="914400" cy="914400"/>
          </a:xfrm>
          <a:prstGeom prst="rect">
            <a:avLst/>
          </a:prstGeom>
        </p:spPr>
      </p:pic>
      <p:pic>
        <p:nvPicPr>
          <p:cNvPr id="77" name="Graphic 76" descr="Worm met effen opvulling">
            <a:extLst>
              <a:ext uri="{FF2B5EF4-FFF2-40B4-BE49-F238E27FC236}">
                <a16:creationId xmlns:a16="http://schemas.microsoft.com/office/drawing/2014/main" id="{4DDA02AD-D976-99C4-CF1F-A89E1842D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1502" y="5260850"/>
            <a:ext cx="914400" cy="914400"/>
          </a:xfrm>
          <a:prstGeom prst="rect">
            <a:avLst/>
          </a:prstGeom>
        </p:spPr>
      </p:pic>
      <p:pic>
        <p:nvPicPr>
          <p:cNvPr id="78" name="Graphic 77" descr="Worm met effen opvulling">
            <a:extLst>
              <a:ext uri="{FF2B5EF4-FFF2-40B4-BE49-F238E27FC236}">
                <a16:creationId xmlns:a16="http://schemas.microsoft.com/office/drawing/2014/main" id="{4D55998B-AB81-FA59-A6A7-41033039A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7742" y="6680604"/>
            <a:ext cx="914400" cy="914400"/>
          </a:xfrm>
          <a:prstGeom prst="rect">
            <a:avLst/>
          </a:prstGeom>
        </p:spPr>
      </p:pic>
      <p:pic>
        <p:nvPicPr>
          <p:cNvPr id="79" name="Graphic 78" descr="Worm met effen opvulling">
            <a:extLst>
              <a:ext uri="{FF2B5EF4-FFF2-40B4-BE49-F238E27FC236}">
                <a16:creationId xmlns:a16="http://schemas.microsoft.com/office/drawing/2014/main" id="{5B31E072-B711-62A2-3638-E3A90AC1F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0182" y="5636664"/>
            <a:ext cx="914400" cy="914400"/>
          </a:xfrm>
          <a:prstGeom prst="rect">
            <a:avLst/>
          </a:prstGeom>
        </p:spPr>
      </p:pic>
      <p:pic>
        <p:nvPicPr>
          <p:cNvPr id="80" name="Graphic 79" descr="Worm met effen opvulling">
            <a:extLst>
              <a:ext uri="{FF2B5EF4-FFF2-40B4-BE49-F238E27FC236}">
                <a16:creationId xmlns:a16="http://schemas.microsoft.com/office/drawing/2014/main" id="{75B26125-0B94-4E6B-0FA6-820C71578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7482" y="6131964"/>
            <a:ext cx="914400" cy="914400"/>
          </a:xfrm>
          <a:prstGeom prst="rect">
            <a:avLst/>
          </a:prstGeom>
        </p:spPr>
      </p:pic>
      <p:pic>
        <p:nvPicPr>
          <p:cNvPr id="81" name="Graphic 80" descr="Worm met effen opvulling">
            <a:extLst>
              <a:ext uri="{FF2B5EF4-FFF2-40B4-BE49-F238E27FC236}">
                <a16:creationId xmlns:a16="http://schemas.microsoft.com/office/drawing/2014/main" id="{7C3474DC-AAA6-3CC2-DAFB-B2791DE67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832" y="5514744"/>
            <a:ext cx="914400" cy="914400"/>
          </a:xfrm>
          <a:prstGeom prst="rect">
            <a:avLst/>
          </a:prstGeom>
        </p:spPr>
      </p:pic>
      <p:pic>
        <p:nvPicPr>
          <p:cNvPr id="82" name="Graphic 81" descr="Worm met effen opvulling">
            <a:extLst>
              <a:ext uri="{FF2B5EF4-FFF2-40B4-BE49-F238E27FC236}">
                <a16:creationId xmlns:a16="http://schemas.microsoft.com/office/drawing/2014/main" id="{C4437838-5181-F69D-347E-4FEEEB50F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9282" y="7137804"/>
            <a:ext cx="914400" cy="914400"/>
          </a:xfrm>
          <a:prstGeom prst="rect">
            <a:avLst/>
          </a:prstGeom>
        </p:spPr>
      </p:pic>
      <p:pic>
        <p:nvPicPr>
          <p:cNvPr id="83" name="Graphic 82" descr="Worm met effen opvulling">
            <a:extLst>
              <a:ext uri="{FF2B5EF4-FFF2-40B4-BE49-F238E27FC236}">
                <a16:creationId xmlns:a16="http://schemas.microsoft.com/office/drawing/2014/main" id="{FD2973E6-7FA5-0C54-263E-133A6A204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8002" y="33480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50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1500"/>
                            </p:stCondLst>
                            <p:childTnLst>
                              <p:par>
                                <p:cTn id="1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300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35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400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4500"/>
                            </p:stCondLst>
                            <p:childTnLst>
                              <p:par>
                                <p:cTn id="2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5500"/>
                            </p:stCondLst>
                            <p:childTnLst>
                              <p:par>
                                <p:cTn id="2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6000"/>
                            </p:stCondLst>
                            <p:childTnLst>
                              <p:par>
                                <p:cTn id="2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6500"/>
                            </p:stCondLst>
                            <p:childTnLst>
                              <p:par>
                                <p:cTn id="2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7000"/>
                            </p:stCondLst>
                            <p:childTnLst>
                              <p:par>
                                <p:cTn id="2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75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80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8500"/>
                            </p:stCondLst>
                            <p:childTnLst>
                              <p:par>
                                <p:cTn id="2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90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9500"/>
                            </p:stCondLst>
                            <p:childTnLst>
                              <p:par>
                                <p:cTn id="2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30000"/>
                            </p:stCondLst>
                            <p:childTnLst>
                              <p:par>
                                <p:cTn id="2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05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10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15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20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25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30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35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40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45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490AC-24E4-CA95-6105-2684C395E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Hackers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9FD1C554-0A3E-1A1A-1905-AE0476BD1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Graphic 5" descr="Vrouwelijke detective met effen opvulling">
            <a:extLst>
              <a:ext uri="{FF2B5EF4-FFF2-40B4-BE49-F238E27FC236}">
                <a16:creationId xmlns:a16="http://schemas.microsoft.com/office/drawing/2014/main" id="{C5AFE054-FFB0-3264-1D90-92BDEEA56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925" y="1401378"/>
            <a:ext cx="1731580" cy="1731580"/>
          </a:xfrm>
          <a:prstGeom prst="rect">
            <a:avLst/>
          </a:prstGeom>
        </p:spPr>
      </p:pic>
      <p:pic>
        <p:nvPicPr>
          <p:cNvPr id="8" name="Graphic 7" descr="Mannelijke detective met effen opvulling">
            <a:extLst>
              <a:ext uri="{FF2B5EF4-FFF2-40B4-BE49-F238E27FC236}">
                <a16:creationId xmlns:a16="http://schemas.microsoft.com/office/drawing/2014/main" id="{25F68A5E-6204-88B8-473D-963FFEFDC3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6173" y="1317069"/>
            <a:ext cx="1815889" cy="1815889"/>
          </a:xfrm>
          <a:prstGeom prst="rect">
            <a:avLst/>
          </a:prstGeom>
        </p:spPr>
      </p:pic>
      <p:pic>
        <p:nvPicPr>
          <p:cNvPr id="3074" name="Picture 2" descr="Hollywood vs Reality : r/pcmasterrace">
            <a:extLst>
              <a:ext uri="{FF2B5EF4-FFF2-40B4-BE49-F238E27FC236}">
                <a16:creationId xmlns:a16="http://schemas.microsoft.com/office/drawing/2014/main" id="{3C076D5E-8CB8-8700-9415-37CB749A0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623" y="1401379"/>
            <a:ext cx="4144378" cy="453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284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AFEAE-3866-756C-0EA4-A3BD1A57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632" y="365125"/>
            <a:ext cx="8735756" cy="978645"/>
          </a:xfrm>
        </p:spPr>
        <p:txBody>
          <a:bodyPr/>
          <a:lstStyle/>
          <a:p>
            <a:r>
              <a:rPr lang="nl-NL" dirty="0" err="1"/>
              <a:t>Scriptkiddies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green hackers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396035A-C294-F1E3-6C40-1299F5F09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Scriptkiddies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FF5D397C-550F-A355-E3E3-0AFEACCEC9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Illegaal</a:t>
            </a:r>
          </a:p>
          <a:p>
            <a:r>
              <a:rPr lang="nl-NL" dirty="0"/>
              <a:t>Zonder toestemming op een systeem hacken</a:t>
            </a:r>
          </a:p>
          <a:p>
            <a:r>
              <a:rPr lang="nl-NL" dirty="0"/>
              <a:t>Weten niet altijd wat ze doen</a:t>
            </a:r>
          </a:p>
          <a:p>
            <a:r>
              <a:rPr lang="nl-NL" dirty="0"/>
              <a:t>Vaak verveelde kinderen of studenten</a:t>
            </a:r>
          </a:p>
          <a:p>
            <a:endParaRPr lang="nl-NL" dirty="0"/>
          </a:p>
          <a:p>
            <a:r>
              <a:rPr lang="nl-NL" dirty="0"/>
              <a:t>Winst: Kleine hoeveelheid data die bijna niks waard is</a:t>
            </a:r>
          </a:p>
          <a:p>
            <a:r>
              <a:rPr lang="nl-NL" dirty="0"/>
              <a:t>Verlies: Boetes en lage celstraf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9F83D2E-D0C7-9995-89D8-B002BA2AA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Green hackers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610676B5-0671-CABF-E0DB-215451553B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Legaal</a:t>
            </a:r>
          </a:p>
          <a:p>
            <a:r>
              <a:rPr lang="nl-NL" dirty="0"/>
              <a:t>Met toestemming op een systeem hacken</a:t>
            </a:r>
          </a:p>
          <a:p>
            <a:r>
              <a:rPr lang="nl-NL" dirty="0"/>
              <a:t>Zijn aan het leren wat ze kunnen doen</a:t>
            </a:r>
          </a:p>
          <a:p>
            <a:r>
              <a:rPr lang="nl-NL" dirty="0"/>
              <a:t>Vaak studenten die het vakgebied leren</a:t>
            </a:r>
          </a:p>
          <a:p>
            <a:endParaRPr lang="nl-NL" dirty="0"/>
          </a:p>
          <a:p>
            <a:r>
              <a:rPr lang="nl-NL" dirty="0"/>
              <a:t>Winst: legitieme ervaring in een gewild vakgebied</a:t>
            </a:r>
          </a:p>
          <a:p>
            <a:r>
              <a:rPr lang="nl-NL" dirty="0"/>
              <a:t>Verlies: Slecht cijfer of geen resultaten</a:t>
            </a:r>
          </a:p>
        </p:txBody>
      </p:sp>
      <p:pic>
        <p:nvPicPr>
          <p:cNvPr id="8" name="Graphic 7" descr="Vrouwelijke detective met effen opvulling">
            <a:extLst>
              <a:ext uri="{FF2B5EF4-FFF2-40B4-BE49-F238E27FC236}">
                <a16:creationId xmlns:a16="http://schemas.microsoft.com/office/drawing/2014/main" id="{99F6BD2D-2F5C-DE78-4895-9AA94B147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9021" y="233807"/>
            <a:ext cx="1230611" cy="1230611"/>
          </a:xfrm>
          <a:prstGeom prst="rect">
            <a:avLst/>
          </a:prstGeom>
        </p:spPr>
      </p:pic>
      <p:pic>
        <p:nvPicPr>
          <p:cNvPr id="9" name="Graphic 8" descr="Mannelijke detective met effen opvulling">
            <a:extLst>
              <a:ext uri="{FF2B5EF4-FFF2-40B4-BE49-F238E27FC236}">
                <a16:creationId xmlns:a16="http://schemas.microsoft.com/office/drawing/2014/main" id="{DA88D437-8F66-E867-2F36-C4723403A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0189" y="203848"/>
            <a:ext cx="1290528" cy="129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4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2A3B-E1FE-4C89-0AEB-DA2CA076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E9E94-AC26-1FB9-15DA-B7F4282F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632" y="365125"/>
            <a:ext cx="8735756" cy="978645"/>
          </a:xfrm>
        </p:spPr>
        <p:txBody>
          <a:bodyPr/>
          <a:lstStyle/>
          <a:p>
            <a:r>
              <a:rPr lang="nl-NL" dirty="0" err="1"/>
              <a:t>Grey</a:t>
            </a:r>
            <a:r>
              <a:rPr lang="nl-NL" dirty="0"/>
              <a:t> hackers </a:t>
            </a:r>
            <a:r>
              <a:rPr lang="nl-NL" dirty="0" err="1"/>
              <a:t>vs</a:t>
            </a:r>
            <a:r>
              <a:rPr lang="nl-NL" dirty="0"/>
              <a:t> blue hackers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CF85016-1B3E-8AE1-971B-772352583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Grey</a:t>
            </a:r>
            <a:r>
              <a:rPr lang="nl-NL" dirty="0"/>
              <a:t> hackers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E52DFA7E-F963-2AE7-3D2A-A9CDA172B4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l-NL" dirty="0"/>
              <a:t>Illegaal – maar soms getolereerd</a:t>
            </a:r>
          </a:p>
          <a:p>
            <a:r>
              <a:rPr lang="nl-NL" dirty="0"/>
              <a:t>Zonder toestemming op een systeem hacken</a:t>
            </a:r>
          </a:p>
          <a:p>
            <a:r>
              <a:rPr lang="nl-NL" dirty="0"/>
              <a:t>Weten wat ze doen</a:t>
            </a:r>
          </a:p>
          <a:p>
            <a:r>
              <a:rPr lang="nl-NL" dirty="0"/>
              <a:t>Doen geen schade en geven door dan meestal geen probleem</a:t>
            </a:r>
          </a:p>
          <a:p>
            <a:r>
              <a:rPr lang="nl-NL" dirty="0"/>
              <a:t>Schade of om geld vragen voor problemen uitwijzen -&gt; Probleem</a:t>
            </a:r>
          </a:p>
          <a:p>
            <a:r>
              <a:rPr lang="nl-NL" dirty="0"/>
              <a:t>Verveelde security specialisten of security specialisten die zonder werk zitten</a:t>
            </a:r>
          </a:p>
          <a:p>
            <a:r>
              <a:rPr lang="nl-NL" dirty="0"/>
              <a:t>Kan tot hoge boetes en 10 jaar celstraf leiden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B9BC062-77B3-92EE-3948-AF5182E72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Blue (</a:t>
            </a:r>
            <a:r>
              <a:rPr lang="nl-NL" dirty="0" err="1"/>
              <a:t>collar</a:t>
            </a:r>
            <a:r>
              <a:rPr lang="nl-NL" dirty="0"/>
              <a:t>) hackers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6835D1A4-280A-AEBD-B559-123D4604F57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l-NL" dirty="0"/>
              <a:t>Legaal</a:t>
            </a:r>
          </a:p>
          <a:p>
            <a:r>
              <a:rPr lang="nl-NL" dirty="0"/>
              <a:t>Met toestemming op een systeem hacken</a:t>
            </a:r>
          </a:p>
          <a:p>
            <a:r>
              <a:rPr lang="nl-NL" dirty="0"/>
              <a:t>Dit zijn </a:t>
            </a:r>
            <a:r>
              <a:rPr lang="nl-NL" dirty="0" err="1"/>
              <a:t>bedrijfs</a:t>
            </a:r>
            <a:r>
              <a:rPr lang="nl-NL" dirty="0"/>
              <a:t> hackers die producten testen en reguliere controles houden</a:t>
            </a:r>
          </a:p>
          <a:p>
            <a:r>
              <a:rPr lang="nl-NL" dirty="0"/>
              <a:t>Goed betaald maar worden niet altijd gewaardeerd.</a:t>
            </a:r>
          </a:p>
          <a:p>
            <a:endParaRPr lang="nl-NL" dirty="0"/>
          </a:p>
        </p:txBody>
      </p:sp>
      <p:pic>
        <p:nvPicPr>
          <p:cNvPr id="8" name="Graphic 7" descr="Vrouwelijke detective met effen opvulling">
            <a:extLst>
              <a:ext uri="{FF2B5EF4-FFF2-40B4-BE49-F238E27FC236}">
                <a16:creationId xmlns:a16="http://schemas.microsoft.com/office/drawing/2014/main" id="{052DCB13-6E41-45BD-745A-646AF1923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9021" y="233807"/>
            <a:ext cx="1230611" cy="1230611"/>
          </a:xfrm>
          <a:prstGeom prst="rect">
            <a:avLst/>
          </a:prstGeom>
        </p:spPr>
      </p:pic>
      <p:pic>
        <p:nvPicPr>
          <p:cNvPr id="9" name="Graphic 8" descr="Mannelijke detective met effen opvulling">
            <a:extLst>
              <a:ext uri="{FF2B5EF4-FFF2-40B4-BE49-F238E27FC236}">
                <a16:creationId xmlns:a16="http://schemas.microsoft.com/office/drawing/2014/main" id="{610C30E8-B064-8AA2-F602-94F49009B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0189" y="203848"/>
            <a:ext cx="1290528" cy="129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49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5A74-7A2E-46B1-F9EB-54BA1EB1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41E23-6296-6AA6-6698-D92E0D44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632" y="365125"/>
            <a:ext cx="8735756" cy="978645"/>
          </a:xfrm>
        </p:spPr>
        <p:txBody>
          <a:bodyPr/>
          <a:lstStyle/>
          <a:p>
            <a:r>
              <a:rPr lang="nl-NL" dirty="0"/>
              <a:t>White &amp; red </a:t>
            </a:r>
            <a:r>
              <a:rPr lang="nl-NL" dirty="0" err="1"/>
              <a:t>vs</a:t>
            </a:r>
            <a:r>
              <a:rPr lang="nl-NL" dirty="0"/>
              <a:t> black hackers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0DC9F37-A0F9-64BC-AE23-7569C427B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White &amp; red hackers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5276D53F-ADA8-C734-9891-4BEBBA6E62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Kunnen beide werken voor de overheid</a:t>
            </a:r>
          </a:p>
          <a:p>
            <a:r>
              <a:rPr lang="nl-NL" dirty="0"/>
              <a:t>White ook voor bedrijven</a:t>
            </a:r>
          </a:p>
          <a:p>
            <a:r>
              <a:rPr lang="nl-NL" dirty="0"/>
              <a:t>Counter hackers die proberen het systeem van een black hacker neer te halen</a:t>
            </a:r>
          </a:p>
          <a:p>
            <a:r>
              <a:rPr lang="nl-NL" dirty="0"/>
              <a:t>Pen/Security testers</a:t>
            </a:r>
          </a:p>
          <a:p>
            <a:r>
              <a:rPr lang="nl-NL" dirty="0"/>
              <a:t>Betaald heel goed en zijn vaak in nooddienst de gewezen persoon en dus duur.</a:t>
            </a:r>
          </a:p>
          <a:p>
            <a:r>
              <a:rPr lang="nl-NL" dirty="0"/>
              <a:t>Zijn vaak extern en niet intern aan het werk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F1C4B59-8B22-DD1A-1CB0-BCED0437E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Black hackers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0F1D48A9-3077-15BC-1623-75D75D7377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Illegaal</a:t>
            </a:r>
          </a:p>
          <a:p>
            <a:r>
              <a:rPr lang="nl-NL" dirty="0"/>
              <a:t>Experts in het breken van systemen </a:t>
            </a:r>
          </a:p>
          <a:p>
            <a:r>
              <a:rPr lang="nl-NL" dirty="0"/>
              <a:t>Vaak uit op data, afluisteren of verspreiden</a:t>
            </a:r>
          </a:p>
          <a:p>
            <a:r>
              <a:rPr lang="nl-NL" dirty="0"/>
              <a:t>Losstaande criminelen uit op geld verdienen</a:t>
            </a:r>
          </a:p>
          <a:p>
            <a:endParaRPr lang="nl-NL" dirty="0"/>
          </a:p>
        </p:txBody>
      </p:sp>
      <p:pic>
        <p:nvPicPr>
          <p:cNvPr id="8" name="Graphic 7" descr="Vrouwelijke detective met effen opvulling">
            <a:extLst>
              <a:ext uri="{FF2B5EF4-FFF2-40B4-BE49-F238E27FC236}">
                <a16:creationId xmlns:a16="http://schemas.microsoft.com/office/drawing/2014/main" id="{BB9B6B0E-FE52-9A1A-A6FA-AA6BEB33E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9021" y="233807"/>
            <a:ext cx="1230611" cy="1230611"/>
          </a:xfrm>
          <a:prstGeom prst="rect">
            <a:avLst/>
          </a:prstGeom>
        </p:spPr>
      </p:pic>
      <p:pic>
        <p:nvPicPr>
          <p:cNvPr id="9" name="Graphic 8" descr="Mannelijke detective met effen opvulling">
            <a:extLst>
              <a:ext uri="{FF2B5EF4-FFF2-40B4-BE49-F238E27FC236}">
                <a16:creationId xmlns:a16="http://schemas.microsoft.com/office/drawing/2014/main" id="{B4CBA80C-70CA-9BF8-CCE2-9DE102C44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0189" y="203848"/>
            <a:ext cx="1290528" cy="1290528"/>
          </a:xfrm>
          <a:prstGeom prst="rect">
            <a:avLst/>
          </a:prstGeom>
        </p:spPr>
      </p:pic>
      <p:pic>
        <p:nvPicPr>
          <p:cNvPr id="3" name="Graphic 2" descr="Vrouwelijke detective met effen opvulling">
            <a:extLst>
              <a:ext uri="{FF2B5EF4-FFF2-40B4-BE49-F238E27FC236}">
                <a16:creationId xmlns:a16="http://schemas.microsoft.com/office/drawing/2014/main" id="{49FEAA5D-C6DB-DC66-2EFF-5DE9C22F10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044" y="233807"/>
            <a:ext cx="1230611" cy="123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8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066D7-2239-9AFD-CEBC-8158F628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C1DD0-7063-7321-09EA-96D0120B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632" y="365125"/>
            <a:ext cx="8735756" cy="978645"/>
          </a:xfrm>
        </p:spPr>
        <p:txBody>
          <a:bodyPr/>
          <a:lstStyle/>
          <a:p>
            <a:r>
              <a:rPr lang="nl-NL" dirty="0" err="1"/>
              <a:t>Hactivisten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cyber terroristen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A08A5BE-B0EE-4516-573C-5AC72642E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Hackivisten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CA78412C-30B5-3C13-3304-F8324C578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Werken als groep om het internet om doeleindes te benadrukken</a:t>
            </a:r>
          </a:p>
          <a:p>
            <a:r>
              <a:rPr lang="nl-NL" dirty="0"/>
              <a:t>Ondersteunen vaak goede intenties met grof IT geweld</a:t>
            </a:r>
          </a:p>
          <a:p>
            <a:r>
              <a:rPr lang="nl-NL" dirty="0" err="1"/>
              <a:t>Anonymous</a:t>
            </a:r>
            <a:r>
              <a:rPr lang="nl-NL" dirty="0"/>
              <a:t> is hiervan een voorbeeld</a:t>
            </a:r>
          </a:p>
          <a:p>
            <a:r>
              <a:rPr lang="nl-NL" dirty="0"/>
              <a:t>Greenpeace zou een geheime groep hier ook voor hebben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71296C5-7982-47EE-E818-F4A6C1B98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Cyber terroristen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0E50C7EF-0315-753A-6F79-E0FB4B134DC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Worden vaak door landen ingezet om terreur te plegen</a:t>
            </a:r>
          </a:p>
          <a:p>
            <a:r>
              <a:rPr lang="nl-NL" dirty="0"/>
              <a:t>Nooddiensten, infrastructuur en overheidsinstanties zijn de doelwitten.</a:t>
            </a:r>
          </a:p>
          <a:p>
            <a:r>
              <a:rPr lang="nl-NL" dirty="0"/>
              <a:t>Betaalt voor slopen, stelen is niet meer belangrijk</a:t>
            </a:r>
          </a:p>
          <a:p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E497F39-345D-344E-A9BD-7082A624BD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666" y="280087"/>
            <a:ext cx="855380" cy="118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Stockvector Terrorist balaclava mask ak symbol silhouette icon on  background | Adobe Stock">
            <a:extLst>
              <a:ext uri="{FF2B5EF4-FFF2-40B4-BE49-F238E27FC236}">
                <a16:creationId xmlns:a16="http://schemas.microsoft.com/office/drawing/2014/main" id="{82F12415-AB62-FBB2-1EE2-C0B56E1B0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00" t="25235" r="40276" b="43445"/>
          <a:stretch>
            <a:fillRect/>
          </a:stretch>
        </p:blipFill>
        <p:spPr bwMode="auto">
          <a:xfrm>
            <a:off x="10187275" y="411126"/>
            <a:ext cx="791113" cy="122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861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5855A-447C-1837-7276-355F822E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C96C40-E495-1DDD-8C30-9641A0EA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Weet je wat is </a:t>
            </a:r>
            <a:r>
              <a:rPr lang="nl-NL" dirty="0" err="1"/>
              <a:t>social</a:t>
            </a:r>
            <a:r>
              <a:rPr lang="nl-NL" dirty="0"/>
              <a:t> </a:t>
            </a:r>
            <a:r>
              <a:rPr lang="nl-NL" dirty="0" err="1"/>
              <a:t>enigneering</a:t>
            </a:r>
            <a:endParaRPr lang="nl-NL" dirty="0"/>
          </a:p>
          <a:p>
            <a:pPr lvl="1"/>
            <a:r>
              <a:rPr lang="nl-NL" dirty="0"/>
              <a:t>Kan je voorbeelden noemen van </a:t>
            </a:r>
            <a:r>
              <a:rPr lang="nl-NL" dirty="0" err="1"/>
              <a:t>social</a:t>
            </a:r>
            <a:r>
              <a:rPr lang="nl-NL" dirty="0"/>
              <a:t> engineering</a:t>
            </a:r>
          </a:p>
          <a:p>
            <a:pPr lvl="1"/>
            <a:r>
              <a:rPr lang="nl-NL" dirty="0"/>
              <a:t>Weet je de verschillen tussen </a:t>
            </a:r>
            <a:r>
              <a:rPr lang="nl-NL" dirty="0" err="1"/>
              <a:t>Ethical</a:t>
            </a:r>
            <a:r>
              <a:rPr lang="nl-NL" dirty="0"/>
              <a:t> </a:t>
            </a:r>
            <a:r>
              <a:rPr lang="nl-NL" dirty="0" err="1"/>
              <a:t>hacking</a:t>
            </a:r>
            <a:r>
              <a:rPr lang="nl-NL" dirty="0"/>
              <a:t> en non-</a:t>
            </a:r>
            <a:r>
              <a:rPr lang="nl-NL" dirty="0" err="1"/>
              <a:t>ethical</a:t>
            </a:r>
            <a:r>
              <a:rPr lang="nl-NL" dirty="0"/>
              <a:t> </a:t>
            </a:r>
            <a:r>
              <a:rPr lang="nl-NL" dirty="0" err="1"/>
              <a:t>hacking</a:t>
            </a:r>
            <a:endParaRPr lang="nl-NL" dirty="0"/>
          </a:p>
          <a:p>
            <a:pPr lvl="1"/>
            <a:r>
              <a:rPr lang="nl-NL" dirty="0"/>
              <a:t>Weet je welke type hackers er zijn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6526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A3F00-D22C-8C45-2591-74E8FD01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86008C-654E-6F3B-AA1A-BDA418F9A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Zelfstudie-&gt; maak de programmeer opdrachten en laat ze aftekenen, maak je cheatsheet (max 1 a4 enkel </a:t>
            </a:r>
            <a:r>
              <a:rPr lang="nl-NL" dirty="0" err="1"/>
              <a:t>zijdig</a:t>
            </a:r>
            <a:r>
              <a:rPr lang="nl-NL" dirty="0"/>
              <a:t>)</a:t>
            </a:r>
          </a:p>
          <a:p>
            <a:endParaRPr lang="nl-NL" dirty="0"/>
          </a:p>
          <a:p>
            <a:r>
              <a:rPr lang="nl-NL" dirty="0"/>
              <a:t>Uiterlijke examen moment is in week 9 - begin week 10</a:t>
            </a:r>
          </a:p>
          <a:p>
            <a:pPr lvl="1"/>
            <a:r>
              <a:rPr lang="nl-NL" dirty="0"/>
              <a:t>Precieze datum volgt zodra projectweken zijn ingeroosterd.</a:t>
            </a:r>
          </a:p>
          <a:p>
            <a:endParaRPr lang="nl-NL" dirty="0"/>
          </a:p>
          <a:p>
            <a:r>
              <a:rPr lang="nl-NL" dirty="0"/>
              <a:t>Inhalen is tussendoor in periode 4, wordt los ingepland</a:t>
            </a:r>
          </a:p>
        </p:txBody>
      </p:sp>
    </p:spTree>
    <p:extLst>
      <p:ext uri="{BB962C8B-B14F-4D97-AF65-F5344CB8AC3E}">
        <p14:creationId xmlns:p14="http://schemas.microsoft.com/office/powerpoint/2010/main" val="252721527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1520</Words>
  <Application>Microsoft Office PowerPoint</Application>
  <PresentationFormat>Breedbeeld</PresentationFormat>
  <Paragraphs>224</Paragraphs>
  <Slides>33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Kantoorthema</vt:lpstr>
      <vt:lpstr>Mededelingen</vt:lpstr>
      <vt:lpstr>CySec – les 7</vt:lpstr>
      <vt:lpstr>Programma</vt:lpstr>
      <vt:lpstr>Wat weten we nog van vorige les?</vt:lpstr>
      <vt:lpstr>Cyber security is niet alleen computers of sloten</vt:lpstr>
      <vt:lpstr>Never going to give you up…</vt:lpstr>
      <vt:lpstr>Social engineering - Phishing</vt:lpstr>
      <vt:lpstr>Social engineering - Phishing</vt:lpstr>
      <vt:lpstr>Social engineering - Phishing</vt:lpstr>
      <vt:lpstr>Social engineering - Tailgating</vt:lpstr>
      <vt:lpstr>Baiting</vt:lpstr>
      <vt:lpstr>Baiting</vt:lpstr>
      <vt:lpstr>Pretexting</vt:lpstr>
      <vt:lpstr>Quid pro quo</vt:lpstr>
      <vt:lpstr>Machtsmisbruik</vt:lpstr>
      <vt:lpstr>Scareware</vt:lpstr>
      <vt:lpstr>Er zijn veel meer</vt:lpstr>
      <vt:lpstr>Enkele redenen waarom dit werkt</vt:lpstr>
      <vt:lpstr>Aanvallen</vt:lpstr>
      <vt:lpstr>Oorlog te lang, geef een Trojaans paard</vt:lpstr>
      <vt:lpstr>Eye spy, …ware</vt:lpstr>
      <vt:lpstr>Wil je snel geld, sluit dan je computer af</vt:lpstr>
      <vt:lpstr>Mister windows i don’t feel so good</vt:lpstr>
      <vt:lpstr>Zombies, oops copyright claim…</vt:lpstr>
      <vt:lpstr>Bot hier, bot daar, bot overal en nu jij ook</vt:lpstr>
      <vt:lpstr>Diggy diggy hole</vt:lpstr>
      <vt:lpstr>Hackers</vt:lpstr>
      <vt:lpstr>Scriptkiddies vs green hackers</vt:lpstr>
      <vt:lpstr>Grey hackers vs blue hackers</vt:lpstr>
      <vt:lpstr>White &amp; red vs black hackers</vt:lpstr>
      <vt:lpstr>Hactivisten vs cyber terroristen</vt:lpstr>
      <vt:lpstr>Leerdoelen</vt:lpstr>
      <vt:lpstr>Volgende weken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46</cp:revision>
  <dcterms:created xsi:type="dcterms:W3CDTF">2026-02-10T21:24:48Z</dcterms:created>
  <dcterms:modified xsi:type="dcterms:W3CDTF">2026-03-06T23:11:02Z</dcterms:modified>
</cp:coreProperties>
</file>