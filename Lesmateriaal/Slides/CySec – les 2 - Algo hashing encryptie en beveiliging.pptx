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9" r:id="rId3"/>
    <p:sldId id="260" r:id="rId4"/>
    <p:sldId id="261" r:id="rId5"/>
    <p:sldId id="262" r:id="rId6"/>
    <p:sldId id="257" r:id="rId7"/>
    <p:sldId id="258" r:id="rId8"/>
    <p:sldId id="275" r:id="rId9"/>
    <p:sldId id="276" r:id="rId10"/>
    <p:sldId id="277" r:id="rId11"/>
    <p:sldId id="278" r:id="rId12"/>
    <p:sldId id="279" r:id="rId13"/>
    <p:sldId id="280" r:id="rId14"/>
    <p:sldId id="282" r:id="rId15"/>
    <p:sldId id="283" r:id="rId16"/>
    <p:sldId id="284" r:id="rId17"/>
    <p:sldId id="274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C77"/>
    <a:srgbClr val="FBA400"/>
    <a:srgbClr val="FFFEF7"/>
    <a:srgbClr val="FFFE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81" autoAdjust="0"/>
  </p:normalViewPr>
  <p:slideViewPr>
    <p:cSldViewPr snapToGrid="0">
      <p:cViewPr varScale="1">
        <p:scale>
          <a:sx n="104" d="100"/>
          <a:sy n="104" d="100"/>
        </p:scale>
        <p:origin x="216" y="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284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58DB6F-D407-4DAD-8E07-F71A85896F6E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5FC6EB-00F9-4F26-856D-FED6C6A7B26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8855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B4C759-8C62-86C9-3B17-92FACEE38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925" y="406400"/>
            <a:ext cx="645795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A321D15F-B607-A2F4-7E5B-5C4C4A91C9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4266" y="3380783"/>
            <a:ext cx="55118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5970407-AC1E-7009-EC8F-8F2B816D79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9266" y="6356350"/>
            <a:ext cx="1905000" cy="365125"/>
          </a:xfrm>
        </p:spPr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0B12CD7-1DFB-6FCC-4B46-040832962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56350"/>
            <a:ext cx="4114800" cy="365125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ED0717B-501A-6AD2-FAD9-9FDB669F3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6356350"/>
            <a:ext cx="1159933" cy="365125"/>
          </a:xfrm>
        </p:spPr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44405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BFFC90-3395-0A72-C175-88454A108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FF9D1A7-AFA3-2D0A-5016-573C0085F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AEF1A98-39F2-BCFE-A768-C7C7269E6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A3F0BBF-479B-F827-4D71-082BF9E1E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6B33F-8770-9341-9E76-F7A435377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05362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C40951-16BA-65BD-FA23-BCD4B3702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343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223BC3E-99ED-F861-2FB2-1837A862A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794332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04DFCE1-FF20-9098-F41B-CF8AE47B2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27527C-339C-A319-5AB8-112FB83F6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2BC4418-4EF7-67F6-BB89-E7E06ACA8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9828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331BC1-8E05-7E69-F8A9-6DB02B032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2ED6838-DD66-E35D-E7CC-C7808F5D6C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1858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8D7FE4F-8286-26BD-2F95-E57806EDF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1858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D0E1AED-39B0-79D9-7A2C-449973F53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254B2C4-BDF7-31CB-7DC9-B08438151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189A640-A58A-DEB2-536B-CD6A70C76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58894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2C2B3A-1D0A-5865-BE4A-04C18894F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78645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16E3B1D-231C-B7E9-8ECC-869ECCA35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464418"/>
            <a:ext cx="5157787" cy="7142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07D4D88-D8C1-6D25-C28C-87B8DCECC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299305"/>
            <a:ext cx="5157787" cy="357670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B794A09-E8F5-29C8-7AAA-9CCB4BF452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433991"/>
            <a:ext cx="5183188" cy="7446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D06865D-4034-733F-0C0B-2A32C8EDB3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9024" y="2299305"/>
            <a:ext cx="5183188" cy="357670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9615BE59-3F81-7BD5-4DB4-278648CEC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E8CE4A8-74CC-EC89-649F-1C83DAD30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56CBCA2E-28ED-9718-15AD-1B3FFBE1A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56480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3C4379-2683-9B5B-54BA-E3A636049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5F0E2A3-FBE9-DC25-394E-AE9A6C39F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B400D92-2550-0867-9483-45ED646CB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71C9D5D-E51E-CA71-9A90-C4EAB3B95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91459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C5446D9-5DF5-F7C0-2628-90BC9A1C3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F65D153-6E89-D8A5-45CD-F5E3B8296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C4BE700-8736-DEBD-54F5-CD85EBEDB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69294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6DB1C2-788C-5E67-1126-186FE5DFF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9A3E2AF-FE3E-C3CA-0E2C-9C0235AAD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72E7AF5-2E5A-4DE2-1F3D-EE384028A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4CCBAC4-7095-68D4-1F70-41489D11E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9FD96D4-0AD8-6168-4590-B26CA93A3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DB30B07-5631-A050-3B75-0C5F5D002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28018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9B1091-E1AE-DDD5-15E4-4FBF3510F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676DA624-4C35-30ED-18A7-B6FB1563DF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C0BB913-4F09-18DD-A1BA-8427E3841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13FF6D7-870A-E1AF-4B59-6101B009D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49C309F-2101-E8AD-9159-474BFC226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CEE4378-BA38-4FB0-C906-B9BA89930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11610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2D5996-E7C8-5CF7-C2D3-B8748FD4C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E21B26B-BA69-E9AD-7CFF-9F7765932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4E0D85-1929-B19A-7CEE-1C5F655EE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DF32821-6BD5-551A-0269-B059B749A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20D5A6D-2538-85A7-38BB-7F795A3E9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59449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2B48FD73-4D0B-A3A3-2319-42AE9E7263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365125"/>
            <a:ext cx="2671638" cy="5455230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B1C23176-7D84-A884-661D-CD5DEA048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4056" y="365125"/>
            <a:ext cx="8340918" cy="5455230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DAFAA59-F7D1-5531-36D8-900F9C119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7-3-2026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606688D-6FDD-6771-2106-A56DB363A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8D3E2E9-404E-C081-A941-A3629B304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46609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/>
            </a:gs>
            <a:gs pos="35000">
              <a:srgbClr val="FFFEF3"/>
            </a:gs>
            <a:gs pos="62000">
              <a:srgbClr val="FFFEF7"/>
            </a:gs>
            <a:gs pos="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ACF1BF85-4B6C-F008-1B3C-11B47EC59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5411684-1A7E-DFCF-F13E-B761FD6B0A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97150" y="631031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8414D-5A9A-49A8-AA48-E9E7CADEA260}" type="datetimeFigureOut">
              <a:rPr lang="nl-NL" smtClean="0"/>
              <a:t>7-3-2026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9B745CD-F00A-8626-6B75-9275E77135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64200" y="6310311"/>
            <a:ext cx="454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40EA63F-C77B-C305-2060-ECC2516828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04500" y="6310312"/>
            <a:ext cx="1384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64B82-868F-4D41-994F-76B4E64C671C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7" name="Picture 2" descr="Nova College zorgopleidingen inspireren studenten met casussen | BureauTekst">
            <a:extLst>
              <a:ext uri="{FF2B5EF4-FFF2-40B4-BE49-F238E27FC236}">
                <a16:creationId xmlns:a16="http://schemas.microsoft.com/office/drawing/2014/main" id="{E15B2672-438A-D562-D6EE-438FCB4005E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886" b="38682"/>
          <a:stretch>
            <a:fillRect/>
          </a:stretch>
        </p:blipFill>
        <p:spPr bwMode="auto">
          <a:xfrm>
            <a:off x="-186927" y="6217427"/>
            <a:ext cx="2664618" cy="642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hthoek 7">
            <a:extLst>
              <a:ext uri="{FF2B5EF4-FFF2-40B4-BE49-F238E27FC236}">
                <a16:creationId xmlns:a16="http://schemas.microsoft.com/office/drawing/2014/main" id="{DBB024C6-06AD-9F73-4AE8-0D072837629D}"/>
              </a:ext>
            </a:extLst>
          </p:cNvPr>
          <p:cNvSpPr/>
          <p:nvPr userDrawn="1"/>
        </p:nvSpPr>
        <p:spPr>
          <a:xfrm>
            <a:off x="230715" y="-55031"/>
            <a:ext cx="270000" cy="5782734"/>
          </a:xfrm>
          <a:prstGeom prst="rect">
            <a:avLst/>
          </a:prstGeom>
          <a:solidFill>
            <a:srgbClr val="005C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66087544-C7D3-7A9A-4800-2D515179E7A0}"/>
              </a:ext>
            </a:extLst>
          </p:cNvPr>
          <p:cNvSpPr/>
          <p:nvPr userDrawn="1"/>
        </p:nvSpPr>
        <p:spPr>
          <a:xfrm rot="16200000">
            <a:off x="6427197" y="294152"/>
            <a:ext cx="270000" cy="11530543"/>
          </a:xfrm>
          <a:prstGeom prst="rect">
            <a:avLst/>
          </a:prstGeom>
          <a:solidFill>
            <a:srgbClr val="005C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Cirkel: leeg 9">
            <a:extLst>
              <a:ext uri="{FF2B5EF4-FFF2-40B4-BE49-F238E27FC236}">
                <a16:creationId xmlns:a16="http://schemas.microsoft.com/office/drawing/2014/main" id="{4EF2F36C-85C6-F227-4C7C-C834D410BF31}"/>
              </a:ext>
            </a:extLst>
          </p:cNvPr>
          <p:cNvSpPr/>
          <p:nvPr userDrawn="1"/>
        </p:nvSpPr>
        <p:spPr>
          <a:xfrm>
            <a:off x="228598" y="5218536"/>
            <a:ext cx="991659" cy="987389"/>
          </a:xfrm>
          <a:prstGeom prst="donut">
            <a:avLst>
              <a:gd name="adj" fmla="val 27560"/>
            </a:avLst>
          </a:prstGeom>
          <a:gradFill flip="none" rotWithShape="1">
            <a:gsLst>
              <a:gs pos="0">
                <a:srgbClr val="FBA400">
                  <a:shade val="30000"/>
                  <a:satMod val="115000"/>
                </a:srgbClr>
              </a:gs>
              <a:gs pos="50000">
                <a:srgbClr val="FBA400">
                  <a:shade val="67500"/>
                  <a:satMod val="115000"/>
                </a:srgbClr>
              </a:gs>
              <a:gs pos="100000">
                <a:srgbClr val="FBA400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FFD04524-8452-D704-99A9-33F20CC99B04}"/>
              </a:ext>
            </a:extLst>
          </p:cNvPr>
          <p:cNvSpPr/>
          <p:nvPr userDrawn="1"/>
        </p:nvSpPr>
        <p:spPr>
          <a:xfrm>
            <a:off x="503358" y="4862527"/>
            <a:ext cx="802745" cy="817034"/>
          </a:xfrm>
          <a:prstGeom prst="rect">
            <a:avLst/>
          </a:prstGeom>
          <a:solidFill>
            <a:srgbClr val="FFFE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103C7D41-C72B-C057-5586-DAF1E5937DA5}"/>
              </a:ext>
            </a:extLst>
          </p:cNvPr>
          <p:cNvSpPr/>
          <p:nvPr userDrawn="1"/>
        </p:nvSpPr>
        <p:spPr>
          <a:xfrm>
            <a:off x="764117" y="5107449"/>
            <a:ext cx="802745" cy="817034"/>
          </a:xfrm>
          <a:prstGeom prst="rect">
            <a:avLst/>
          </a:prstGeom>
          <a:solidFill>
            <a:srgbClr val="FFFE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66F715E-90D2-E02A-35F3-028366BBD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872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664584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ummyMeneer/Cyber-Security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E9C727-01AA-4DB2-26AE-DD2FEFCD13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noProof="0" dirty="0" err="1"/>
              <a:t>CySec</a:t>
            </a:r>
            <a:r>
              <a:rPr lang="nl-NL" noProof="0" dirty="0"/>
              <a:t> – les 2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32F1F9D-91AC-244B-A75C-5DE4D060B5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noProof="0" dirty="0"/>
              <a:t>Algoritmes, Beveiliging, encryptie, </a:t>
            </a:r>
            <a:r>
              <a:rPr lang="nl-NL" noProof="0" dirty="0" err="1"/>
              <a:t>hashing</a:t>
            </a:r>
            <a:r>
              <a:rPr lang="nl-NL" noProof="0" dirty="0"/>
              <a:t> en RSA</a:t>
            </a:r>
          </a:p>
        </p:txBody>
      </p:sp>
    </p:spTree>
    <p:extLst>
      <p:ext uri="{BB962C8B-B14F-4D97-AF65-F5344CB8AC3E}">
        <p14:creationId xmlns:p14="http://schemas.microsoft.com/office/powerpoint/2010/main" val="717761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7BB0D0-52D6-1B12-A186-71F656AF2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Programma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D17FC05-C267-0AFC-1466-717EA146A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l-NL" noProof="0" dirty="0"/>
              <a:t>Wat weten we nog?</a:t>
            </a:r>
          </a:p>
          <a:p>
            <a:r>
              <a:rPr lang="nl-NL" noProof="0" dirty="0"/>
              <a:t>Algoritmes – basis</a:t>
            </a:r>
          </a:p>
          <a:p>
            <a:r>
              <a:rPr lang="nl-NL" noProof="0" dirty="0"/>
              <a:t>Beveiliging</a:t>
            </a:r>
          </a:p>
          <a:p>
            <a:r>
              <a:rPr lang="nl-NL" noProof="0" dirty="0"/>
              <a:t>Denk pauze</a:t>
            </a:r>
          </a:p>
          <a:p>
            <a:r>
              <a:rPr lang="nl-NL" noProof="0" dirty="0"/>
              <a:t>Encryptie</a:t>
            </a:r>
          </a:p>
          <a:p>
            <a:r>
              <a:rPr lang="nl-NL" noProof="0" dirty="0" err="1"/>
              <a:t>Hashing</a:t>
            </a:r>
            <a:endParaRPr lang="nl-NL" noProof="0" dirty="0"/>
          </a:p>
          <a:p>
            <a:r>
              <a:rPr lang="nl-NL" noProof="0" dirty="0"/>
              <a:t>RSA</a:t>
            </a:r>
          </a:p>
          <a:p>
            <a:r>
              <a:rPr lang="nl-NL" noProof="0" dirty="0"/>
              <a:t>Afsluiting</a:t>
            </a:r>
          </a:p>
        </p:txBody>
      </p:sp>
    </p:spTree>
    <p:extLst>
      <p:ext uri="{BB962C8B-B14F-4D97-AF65-F5344CB8AC3E}">
        <p14:creationId xmlns:p14="http://schemas.microsoft.com/office/powerpoint/2010/main" val="512921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337D02-B38C-7691-F600-5A4879D04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Leerdoelen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0A4D4E9-456F-2BA8-07FF-160F72819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noProof="0" dirty="0"/>
              <a:t>Aan het einde van de les:</a:t>
            </a:r>
          </a:p>
          <a:p>
            <a:pPr lvl="1"/>
            <a:r>
              <a:rPr lang="nl-NL" noProof="0" dirty="0"/>
              <a:t>Weten we wat een algoritme is</a:t>
            </a:r>
          </a:p>
          <a:p>
            <a:pPr lvl="1"/>
            <a:r>
              <a:rPr lang="nl-NL" noProof="0" dirty="0"/>
              <a:t>Weten we welke kenmerken horen bij beveiliging</a:t>
            </a:r>
          </a:p>
          <a:p>
            <a:pPr lvl="1"/>
            <a:r>
              <a:rPr lang="nl-NL" noProof="0" dirty="0"/>
              <a:t>Weten we hoe en waar we wachtwoorden kunnen bewaren</a:t>
            </a:r>
          </a:p>
          <a:p>
            <a:pPr lvl="1"/>
            <a:r>
              <a:rPr lang="nl-NL" noProof="0" dirty="0"/>
              <a:t>Weten we wat encryptie is</a:t>
            </a:r>
          </a:p>
          <a:p>
            <a:pPr lvl="1"/>
            <a:r>
              <a:rPr lang="nl-NL" noProof="0" dirty="0"/>
              <a:t>Weten we het verschil tussen 1 en 2 </a:t>
            </a:r>
            <a:r>
              <a:rPr lang="nl-NL" noProof="0" dirty="0" err="1"/>
              <a:t>richtings</a:t>
            </a:r>
            <a:r>
              <a:rPr lang="nl-NL" noProof="0" dirty="0"/>
              <a:t> encryptie</a:t>
            </a:r>
          </a:p>
          <a:p>
            <a:pPr lvl="1"/>
            <a:r>
              <a:rPr lang="nl-NL" noProof="0" dirty="0"/>
              <a:t>Weten we hoe </a:t>
            </a:r>
            <a:r>
              <a:rPr lang="nl-NL" noProof="0" dirty="0" err="1"/>
              <a:t>Hashing</a:t>
            </a:r>
            <a:r>
              <a:rPr lang="nl-NL" noProof="0" dirty="0"/>
              <a:t> werkt</a:t>
            </a:r>
          </a:p>
          <a:p>
            <a:pPr lvl="1"/>
            <a:r>
              <a:rPr lang="nl-NL" noProof="0" dirty="0"/>
              <a:t>Weten we wat RSA is</a:t>
            </a:r>
          </a:p>
        </p:txBody>
      </p:sp>
    </p:spTree>
    <p:extLst>
      <p:ext uri="{BB962C8B-B14F-4D97-AF65-F5344CB8AC3E}">
        <p14:creationId xmlns:p14="http://schemas.microsoft.com/office/powerpoint/2010/main" val="3564835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DC9949-1545-2784-344D-FD65D0EFC0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noProof="0" dirty="0"/>
              <a:t>Wat weten we nog van de vorige les?</a:t>
            </a:r>
          </a:p>
        </p:txBody>
      </p:sp>
      <p:sp>
        <p:nvSpPr>
          <p:cNvPr id="4" name="Ondertitel 3">
            <a:extLst>
              <a:ext uri="{FF2B5EF4-FFF2-40B4-BE49-F238E27FC236}">
                <a16:creationId xmlns:a16="http://schemas.microsoft.com/office/drawing/2014/main" id="{2271D29D-064A-8588-77F0-43720A45E6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89531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8D3EB2-52B0-A758-4C92-C3E39B43D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Algoritmes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168D1D8-567F-B584-8C2C-DFD83B1CF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noProof="0" dirty="0" err="1"/>
              <a:t>Defenitie</a:t>
            </a:r>
            <a:r>
              <a:rPr lang="nl-NL" noProof="0" dirty="0"/>
              <a:t>: een </a:t>
            </a:r>
            <a:r>
              <a:rPr lang="nl-NL" noProof="0" dirty="0" err="1"/>
              <a:t>preciseze</a:t>
            </a:r>
            <a:r>
              <a:rPr lang="nl-NL" noProof="0" dirty="0"/>
              <a:t> </a:t>
            </a:r>
            <a:r>
              <a:rPr lang="nl-NL" dirty="0"/>
              <a:t>set van instructies of regels die een probleem oplost of een taak uitvoert. </a:t>
            </a:r>
          </a:p>
          <a:p>
            <a:r>
              <a:rPr lang="nl-NL" noProof="0" dirty="0"/>
              <a:t>Stukken code zijn algoritmes</a:t>
            </a:r>
          </a:p>
          <a:p>
            <a:r>
              <a:rPr lang="nl-NL" dirty="0"/>
              <a:t>Binnen de ICT wereld spreken we over algoritmes bij stapsgewijze instructies om berekeningen te maken.</a:t>
            </a:r>
          </a:p>
          <a:p>
            <a:r>
              <a:rPr lang="nl-NL" dirty="0"/>
              <a:t>Kan simpel zijn zoals btw op boodschappen</a:t>
            </a:r>
          </a:p>
          <a:p>
            <a:r>
              <a:rPr lang="nl-NL" dirty="0"/>
              <a:t>Kan complex zijn zoals beveiliging encryptie en </a:t>
            </a:r>
            <a:r>
              <a:rPr lang="nl-NL" dirty="0" err="1"/>
              <a:t>decryptie</a:t>
            </a:r>
            <a:r>
              <a:rPr lang="nl-N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28338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C467E5-39E6-9E7F-1C58-661632973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Wat is wel en niet een algoritme?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E110306-4AAB-9607-E18E-ACBAC34BD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NL" noProof="0" dirty="0"/>
              <a:t>Print “</a:t>
            </a:r>
            <a:r>
              <a:rPr lang="nl-NL" noProof="0" dirty="0" err="1"/>
              <a:t>Hello</a:t>
            </a:r>
            <a:r>
              <a:rPr lang="nl-NL" noProof="0" dirty="0"/>
              <a:t> </a:t>
            </a:r>
            <a:r>
              <a:rPr lang="nl-NL" noProof="0" dirty="0" err="1"/>
              <a:t>world</a:t>
            </a:r>
            <a:r>
              <a:rPr lang="nl-NL" noProof="0" dirty="0"/>
              <a:t>”</a:t>
            </a:r>
          </a:p>
          <a:p>
            <a:endParaRPr lang="nl-NL" dirty="0"/>
          </a:p>
          <a:p>
            <a:r>
              <a:rPr lang="nl-NL" dirty="0"/>
              <a:t>Var </a:t>
            </a:r>
            <a:r>
              <a:rPr lang="nl-NL" dirty="0" err="1"/>
              <a:t>number</a:t>
            </a:r>
            <a:r>
              <a:rPr lang="nl-NL" dirty="0"/>
              <a:t> = 0;</a:t>
            </a:r>
            <a:br>
              <a:rPr lang="nl-NL" dirty="0"/>
            </a:br>
            <a:r>
              <a:rPr lang="nl-NL" dirty="0" err="1"/>
              <a:t>While</a:t>
            </a:r>
            <a:r>
              <a:rPr lang="nl-NL" dirty="0"/>
              <a:t> </a:t>
            </a:r>
            <a:r>
              <a:rPr lang="nl-NL" dirty="0" err="1"/>
              <a:t>number</a:t>
            </a:r>
            <a:r>
              <a:rPr lang="nl-NL" dirty="0"/>
              <a:t>&lt;10{</a:t>
            </a:r>
            <a:br>
              <a:rPr lang="nl-NL" dirty="0"/>
            </a:br>
            <a:r>
              <a:rPr lang="nl-NL" dirty="0"/>
              <a:t>	</a:t>
            </a:r>
            <a:r>
              <a:rPr lang="nl-NL" dirty="0" err="1"/>
              <a:t>number</a:t>
            </a:r>
            <a:r>
              <a:rPr lang="nl-NL" dirty="0"/>
              <a:t>++;</a:t>
            </a:r>
            <a:br>
              <a:rPr lang="nl-NL" dirty="0"/>
            </a:br>
            <a:r>
              <a:rPr lang="nl-NL" dirty="0"/>
              <a:t>	print “</a:t>
            </a:r>
            <a:r>
              <a:rPr lang="nl-NL" dirty="0" err="1"/>
              <a:t>hello</a:t>
            </a:r>
            <a:r>
              <a:rPr lang="nl-NL" dirty="0"/>
              <a:t> </a:t>
            </a:r>
            <a:r>
              <a:rPr lang="nl-NL" dirty="0" err="1"/>
              <a:t>world</a:t>
            </a:r>
            <a:r>
              <a:rPr lang="nl-NL" dirty="0"/>
              <a:t>”;</a:t>
            </a:r>
            <a:br>
              <a:rPr lang="nl-NL" dirty="0"/>
            </a:br>
            <a:r>
              <a:rPr lang="nl-NL" dirty="0"/>
              <a:t>}</a:t>
            </a:r>
          </a:p>
          <a:p>
            <a:endParaRPr lang="nl-NL" noProof="0" dirty="0"/>
          </a:p>
          <a:p>
            <a:r>
              <a:rPr lang="nl-NL" noProof="0" dirty="0"/>
              <a:t>Berekenen wat de helderheid van het scherm moet zijn voor de tijd in je game wereld</a:t>
            </a:r>
          </a:p>
        </p:txBody>
      </p:sp>
    </p:spTree>
    <p:extLst>
      <p:ext uri="{BB962C8B-B14F-4D97-AF65-F5344CB8AC3E}">
        <p14:creationId xmlns:p14="http://schemas.microsoft.com/office/powerpoint/2010/main" val="3969768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38AEF2-B1E0-DC5C-29EF-6DC8FC82E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Beveiliging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C3088DE-78F2-873D-A6F7-351239A77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781021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1EB0C0-4321-70E1-45C8-03FC6C6CBC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Pauze? – Ga maar een wachtwoord zoeken</a:t>
            </a:r>
          </a:p>
        </p:txBody>
      </p:sp>
      <p:sp>
        <p:nvSpPr>
          <p:cNvPr id="4" name="Ondertitel 3">
            <a:extLst>
              <a:ext uri="{FF2B5EF4-FFF2-40B4-BE49-F238E27FC236}">
                <a16:creationId xmlns:a16="http://schemas.microsoft.com/office/drawing/2014/main" id="{CABBC4B6-C282-389C-D97A-3EECEC8874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>
                <a:sym typeface="Wingdings" panose="05000000000000000000" pitchFamily="2" charset="2"/>
              </a:rPr>
              <a:t>6 delen te vinden, geef me het volledige wachtwoord om een beloning te verdienen </a:t>
            </a:r>
            <a:br>
              <a:rPr lang="nl-NL" dirty="0">
                <a:sym typeface="Wingdings" panose="05000000000000000000" pitchFamily="2" charset="2"/>
              </a:rPr>
            </a:br>
            <a:r>
              <a:rPr lang="nl-NL" dirty="0">
                <a:sym typeface="Wingdings" panose="05000000000000000000" pitchFamily="2" charset="2"/>
              </a:rPr>
              <a:t>Een hulpmiddel voor bij je examen!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6284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E401C5-E754-C94D-2E3C-5860BEC71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Encryptie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58800DD-32FA-ECBA-7D42-B40505C3C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Encryptie is het verbergen van betekenis in een andere onleesbare vorm. Voorbeelden zijn:</a:t>
            </a:r>
          </a:p>
          <a:p>
            <a:pPr lvl="1"/>
            <a:r>
              <a:rPr lang="nl-NL" dirty="0"/>
              <a:t>Een versleuteling</a:t>
            </a:r>
          </a:p>
          <a:p>
            <a:pPr lvl="1"/>
            <a:r>
              <a:rPr lang="nl-NL" dirty="0"/>
              <a:t>Een ander medium</a:t>
            </a:r>
          </a:p>
          <a:p>
            <a:pPr lvl="1"/>
            <a:r>
              <a:rPr lang="nl-NL" dirty="0"/>
              <a:t>Een verschuiving</a:t>
            </a:r>
          </a:p>
          <a:p>
            <a:r>
              <a:rPr lang="nl-NL" dirty="0"/>
              <a:t>Taal is ook een encryptie van een soort.</a:t>
            </a:r>
          </a:p>
        </p:txBody>
      </p:sp>
    </p:spTree>
    <p:extLst>
      <p:ext uri="{BB962C8B-B14F-4D97-AF65-F5344CB8AC3E}">
        <p14:creationId xmlns:p14="http://schemas.microsoft.com/office/powerpoint/2010/main" val="1498074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6277B0-C079-E2B4-13FD-B9FBFCACA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2 richting encryptie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9A0B5A6-BF30-0DEC-E5AC-8C67E30CC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Ook wel bekend als symmetrische encryptie.</a:t>
            </a:r>
          </a:p>
          <a:p>
            <a:r>
              <a:rPr lang="nl-NL" dirty="0"/>
              <a:t>1 key voor encryptie en </a:t>
            </a:r>
            <a:r>
              <a:rPr lang="nl-NL" dirty="0" err="1"/>
              <a:t>decryptie</a:t>
            </a:r>
            <a:endParaRPr lang="nl-NL" dirty="0"/>
          </a:p>
          <a:p>
            <a:r>
              <a:rPr lang="nl-NL" dirty="0"/>
              <a:t>Caesar, </a:t>
            </a:r>
            <a:r>
              <a:rPr lang="nl-NL" dirty="0" err="1"/>
              <a:t>vignere</a:t>
            </a:r>
            <a:r>
              <a:rPr lang="nl-NL" dirty="0"/>
              <a:t> en andere oudere encrypties zijn voorbeelden hiervan.</a:t>
            </a:r>
          </a:p>
        </p:txBody>
      </p:sp>
    </p:spTree>
    <p:extLst>
      <p:ext uri="{BB962C8B-B14F-4D97-AF65-F5344CB8AC3E}">
        <p14:creationId xmlns:p14="http://schemas.microsoft.com/office/powerpoint/2010/main" val="3464098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C74576-EBAD-ED70-375F-025CDDFBB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1 richting encryptie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1BC36F6-6607-1612-D75B-A75883556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Ook wel bekend als asymmetrische encryptie</a:t>
            </a:r>
          </a:p>
          <a:p>
            <a:r>
              <a:rPr lang="nl-NL" dirty="0"/>
              <a:t>2 Keys, een publiek en een privé</a:t>
            </a:r>
          </a:p>
          <a:p>
            <a:r>
              <a:rPr lang="nl-NL" dirty="0"/>
              <a:t>De publieke key wordt open gesteld of mee gestuurd</a:t>
            </a:r>
          </a:p>
          <a:p>
            <a:r>
              <a:rPr lang="nl-NL" dirty="0"/>
              <a:t>De privé key is alleen beschikbaar voor de eigenaar en ontvanger</a:t>
            </a:r>
          </a:p>
          <a:p>
            <a:r>
              <a:rPr lang="nl-NL" dirty="0"/>
              <a:t>Public key nodig voor encryptie</a:t>
            </a:r>
          </a:p>
          <a:p>
            <a:r>
              <a:rPr lang="nl-NL" dirty="0"/>
              <a:t>Beide </a:t>
            </a:r>
            <a:r>
              <a:rPr lang="nl-NL" dirty="0" err="1"/>
              <a:t>keys</a:t>
            </a:r>
            <a:r>
              <a:rPr lang="nl-NL" dirty="0"/>
              <a:t> zijn nodig voor </a:t>
            </a:r>
            <a:r>
              <a:rPr lang="nl-NL" dirty="0" err="1"/>
              <a:t>decryptie</a:t>
            </a:r>
            <a:endParaRPr lang="nl-NL" dirty="0"/>
          </a:p>
          <a:p>
            <a:r>
              <a:rPr lang="nl-NL" dirty="0"/>
              <a:t>Voorbeelden zijn RSA, ECC en DSA</a:t>
            </a:r>
          </a:p>
        </p:txBody>
      </p:sp>
    </p:spTree>
    <p:extLst>
      <p:ext uri="{BB962C8B-B14F-4D97-AF65-F5344CB8AC3E}">
        <p14:creationId xmlns:p14="http://schemas.microsoft.com/office/powerpoint/2010/main" val="3440862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143113-9F49-7051-C5E5-EFBEBD58E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Wanneer gebruik je welke encryptie?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6035944-4C2F-1372-E1B7-2157867B9A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2 richting encryptie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E6AEFEE1-A351-B0B1-FD87-6AF11AC4460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nl-NL" dirty="0"/>
              <a:t>Communicatie tussen mensen</a:t>
            </a:r>
          </a:p>
          <a:p>
            <a:r>
              <a:rPr lang="nl-NL" dirty="0"/>
              <a:t>Inhoud moet beschikbaar worden</a:t>
            </a:r>
          </a:p>
          <a:p>
            <a:r>
              <a:rPr lang="nl-NL" dirty="0"/>
              <a:t>Keys moeten simpel zijn</a:t>
            </a:r>
          </a:p>
          <a:p>
            <a:r>
              <a:rPr lang="nl-NL" dirty="0"/>
              <a:t>Geen cruciale data</a:t>
            </a:r>
          </a:p>
          <a:p>
            <a:r>
              <a:rPr lang="nl-NL" dirty="0"/>
              <a:t>Brute force is makkelijker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1FBAC5BF-C636-C48B-93A9-D17544343A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nl-NL" dirty="0"/>
              <a:t>1 richting encryptie</a:t>
            </a:r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35713DF2-DD0B-587A-2C48-D28454CC279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nl-NL" dirty="0"/>
              <a:t>Communicatie tussen mens en machine</a:t>
            </a:r>
          </a:p>
          <a:p>
            <a:r>
              <a:rPr lang="nl-NL" dirty="0"/>
              <a:t>Inhoud moet geheim blijven</a:t>
            </a:r>
          </a:p>
          <a:p>
            <a:r>
              <a:rPr lang="nl-NL" dirty="0"/>
              <a:t>Encryptie snelheid speelt geen rol</a:t>
            </a:r>
          </a:p>
          <a:p>
            <a:r>
              <a:rPr lang="nl-NL" dirty="0"/>
              <a:t>Cruciale data</a:t>
            </a:r>
          </a:p>
          <a:p>
            <a:r>
              <a:rPr lang="nl-NL" dirty="0"/>
              <a:t>Brute force neemt veel tijd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78439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B37879-4B73-01F3-3B13-E7E6633E4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Hashing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C33FD8E-B728-FEFE-006A-CDEFE2A84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Hashing</a:t>
            </a:r>
            <a:r>
              <a:rPr lang="nl-NL" dirty="0"/>
              <a:t> is vergelijkbaar met 1 richting encryptie</a:t>
            </a:r>
          </a:p>
          <a:p>
            <a:r>
              <a:rPr lang="nl-NL" dirty="0" err="1"/>
              <a:t>Hashing</a:t>
            </a:r>
            <a:r>
              <a:rPr lang="nl-NL" dirty="0"/>
              <a:t> is NIET </a:t>
            </a:r>
            <a:r>
              <a:rPr lang="nl-NL" dirty="0" err="1"/>
              <a:t>decryptbaar</a:t>
            </a:r>
            <a:r>
              <a:rPr lang="nl-NL" dirty="0"/>
              <a:t>.</a:t>
            </a:r>
          </a:p>
          <a:p>
            <a:r>
              <a:rPr lang="nl-NL" dirty="0"/>
              <a:t>Gebruikt voornamelijk voor wachtwoorden binnen databases</a:t>
            </a:r>
          </a:p>
          <a:p>
            <a:r>
              <a:rPr lang="nl-NL" dirty="0"/>
              <a:t>Encryptie is snel</a:t>
            </a:r>
          </a:p>
          <a:p>
            <a:r>
              <a:rPr lang="nl-NL" dirty="0"/>
              <a:t>Encryptie key mag publiek zijn.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51490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47D782-C8F8-0A40-1E04-3ED7A02E9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RSA – 1 richting 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F8574B0-D296-C62C-C403-27DF2E733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2 grote priemgetallen met elkaar vermenigvuldigen, resultaat N wordt gebruikt voor de sleutels.</a:t>
            </a:r>
          </a:p>
          <a:p>
            <a:r>
              <a:rPr lang="nl-NL" dirty="0"/>
              <a:t>We berekenen ook M, dit is (Priem A-1) X (Priem B-1)</a:t>
            </a:r>
          </a:p>
          <a:p>
            <a:r>
              <a:rPr lang="nl-NL" dirty="0"/>
              <a:t>Kies een getal tussen 1 en M dat niet deelbaar is met M, dit is E</a:t>
            </a:r>
          </a:p>
          <a:p>
            <a:r>
              <a:rPr lang="nl-NL" dirty="0"/>
              <a:t>Als laatste is er D, de </a:t>
            </a:r>
            <a:r>
              <a:rPr lang="nl-NL" dirty="0" err="1"/>
              <a:t>prive</a:t>
            </a:r>
            <a:r>
              <a:rPr lang="nl-NL" dirty="0"/>
              <a:t> key. Dit is de restant van E^-1 delen door N + 1</a:t>
            </a:r>
          </a:p>
          <a:p>
            <a:r>
              <a:rPr lang="nl-NL" dirty="0"/>
              <a:t>Je public key is N en E</a:t>
            </a:r>
          </a:p>
          <a:p>
            <a:r>
              <a:rPr lang="nl-NL" dirty="0"/>
              <a:t>Je private key is d</a:t>
            </a:r>
          </a:p>
        </p:txBody>
      </p:sp>
    </p:spTree>
    <p:extLst>
      <p:ext uri="{BB962C8B-B14F-4D97-AF65-F5344CB8AC3E}">
        <p14:creationId xmlns:p14="http://schemas.microsoft.com/office/powerpoint/2010/main" val="4018121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A2503-8DF7-3953-B452-FF54B1E41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04A55A-CB58-F595-0DFF-76AD0FEDD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RSA – 1 richting 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351C952-4368-F3B8-D1B0-67D18D88C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2 grote priemgetallen met elkaar vermenigvuldigen, resultaat N wordt gebruikt voor de sleutels.</a:t>
            </a:r>
          </a:p>
          <a:p>
            <a:r>
              <a:rPr lang="nl-NL" dirty="0"/>
              <a:t>We berekenen ook M, dit is (Priem A-1) X (Priem B-1)</a:t>
            </a:r>
          </a:p>
          <a:p>
            <a:r>
              <a:rPr lang="nl-NL" dirty="0"/>
              <a:t>Kies een getal tussen 1 en M dat niet deelbaar is met M, dit is E</a:t>
            </a:r>
          </a:p>
          <a:p>
            <a:r>
              <a:rPr lang="nl-NL" dirty="0"/>
              <a:t>Als laatste is er D, de </a:t>
            </a:r>
            <a:r>
              <a:rPr lang="nl-NL" dirty="0" err="1"/>
              <a:t>prive</a:t>
            </a:r>
            <a:r>
              <a:rPr lang="nl-NL" dirty="0"/>
              <a:t> key. Dit is de restant van (E^-1 delen door N) + 1</a:t>
            </a:r>
          </a:p>
          <a:p>
            <a:r>
              <a:rPr lang="nl-NL" dirty="0"/>
              <a:t>Je public key is N en E</a:t>
            </a:r>
          </a:p>
          <a:p>
            <a:r>
              <a:rPr lang="nl-NL" dirty="0"/>
              <a:t>Je private key is d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6CCD93C9-80B6-4FDF-B2E4-9C72A86C8083}"/>
              </a:ext>
            </a:extLst>
          </p:cNvPr>
          <p:cNvSpPr/>
          <p:nvPr/>
        </p:nvSpPr>
        <p:spPr>
          <a:xfrm rot="20998556">
            <a:off x="-200892" y="2621131"/>
            <a:ext cx="12278086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nl-NL" sz="80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Dit hoef je NIET te kennen</a:t>
            </a:r>
          </a:p>
        </p:txBody>
      </p:sp>
    </p:spTree>
    <p:extLst>
      <p:ext uri="{BB962C8B-B14F-4D97-AF65-F5344CB8AC3E}">
        <p14:creationId xmlns:p14="http://schemas.microsoft.com/office/powerpoint/2010/main" val="30426815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AF828A-DF82-6B3E-4368-92DB42C81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RSA voor het examen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1746459-91DF-5049-32DC-9D2EE0466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Het is een 1 </a:t>
            </a:r>
            <a:r>
              <a:rPr lang="nl-NL" dirty="0" err="1"/>
              <a:t>richtings</a:t>
            </a:r>
            <a:r>
              <a:rPr lang="nl-NL" dirty="0"/>
              <a:t> encryptie</a:t>
            </a:r>
          </a:p>
          <a:p>
            <a:r>
              <a:rPr lang="nl-NL" dirty="0"/>
              <a:t>Het maakt gebruik van 2 grote priemgetallen</a:t>
            </a:r>
          </a:p>
          <a:p>
            <a:r>
              <a:rPr lang="nl-NL" dirty="0"/>
              <a:t>Het maakt kraken bijna onmogelijk indien de priemgetallen groot genoeg zijn</a:t>
            </a:r>
          </a:p>
          <a:p>
            <a:r>
              <a:rPr lang="nl-NL" dirty="0"/>
              <a:t>Wordt onder andere gebruikt in SSL certificaten</a:t>
            </a:r>
          </a:p>
        </p:txBody>
      </p:sp>
    </p:spTree>
    <p:extLst>
      <p:ext uri="{BB962C8B-B14F-4D97-AF65-F5344CB8AC3E}">
        <p14:creationId xmlns:p14="http://schemas.microsoft.com/office/powerpoint/2010/main" val="1028304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606040-FB16-44F9-C1DE-5E5770B52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Programeer opdrachten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74CFEF9-956F-E8EB-F701-5D7E315E2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noProof="0" dirty="0"/>
              <a:t>Kijk op de Dummymeneer GitHub voor de opdrachten van Cyber security en de slides</a:t>
            </a:r>
          </a:p>
          <a:p>
            <a:r>
              <a:rPr lang="nl-NL" noProof="0" dirty="0"/>
              <a:t>Hier komen ook extra materialen op te staan om te helpen met het examen.</a:t>
            </a:r>
          </a:p>
          <a:p>
            <a:r>
              <a:rPr lang="nl-NL" noProof="0" dirty="0">
                <a:hlinkClick r:id="rId2"/>
              </a:rPr>
              <a:t>https://github.com/DummyMeneer/Cyber-Security</a:t>
            </a:r>
            <a:endParaRPr lang="nl-NL" noProof="0" dirty="0"/>
          </a:p>
          <a:p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7904707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CC2B33-6240-1383-3AB0-654863A1F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Volgende week: 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5FEC841-999B-5A53-8831-A052022EA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noProof="0" dirty="0"/>
              <a:t>Internationale cyber wetten</a:t>
            </a:r>
          </a:p>
          <a:p>
            <a:r>
              <a:rPr lang="nl-NL" noProof="0" dirty="0"/>
              <a:t>Europese cyber wetten</a:t>
            </a:r>
          </a:p>
          <a:p>
            <a:r>
              <a:rPr lang="nl-NL" noProof="0" dirty="0"/>
              <a:t>cyber awareness</a:t>
            </a:r>
          </a:p>
          <a:p>
            <a:endParaRPr lang="nl-NL" noProof="0" dirty="0"/>
          </a:p>
        </p:txBody>
      </p:sp>
      <p:pic>
        <p:nvPicPr>
          <p:cNvPr id="7170" name="Picture 2" descr="Strengthening Your Digital Fortress: The Importance of ...">
            <a:extLst>
              <a:ext uri="{FF2B5EF4-FFF2-40B4-BE49-F238E27FC236}">
                <a16:creationId xmlns:a16="http://schemas.microsoft.com/office/drawing/2014/main" id="{DF0DC629-556D-942C-7407-3AB581DA0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6927" y="-63394"/>
            <a:ext cx="4811914" cy="2706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546245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e2" id="{9E7AAD1C-B155-4896-B55B-3944D7133965}" vid="{4C889715-0D36-4A12-BFED-915D686707C6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Nova1</Template>
  <TotalTime>0</TotalTime>
  <Words>694</Words>
  <Application>Microsoft Office PowerPoint</Application>
  <PresentationFormat>Breedbeeld</PresentationFormat>
  <Paragraphs>102</Paragraphs>
  <Slides>18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Wingdings</vt:lpstr>
      <vt:lpstr>Kantoorthema</vt:lpstr>
      <vt:lpstr>CySec – les 2</vt:lpstr>
      <vt:lpstr>Programma</vt:lpstr>
      <vt:lpstr>Leerdoelen</vt:lpstr>
      <vt:lpstr>Wat weten we nog van de vorige les?</vt:lpstr>
      <vt:lpstr>Algoritmes</vt:lpstr>
      <vt:lpstr>Wat is wel en niet een algoritme?</vt:lpstr>
      <vt:lpstr>Beveiliging</vt:lpstr>
      <vt:lpstr>Pauze? – Ga maar een wachtwoord zoeken</vt:lpstr>
      <vt:lpstr>Encryptie</vt:lpstr>
      <vt:lpstr>2 richting encryptie</vt:lpstr>
      <vt:lpstr>1 richting encryptie</vt:lpstr>
      <vt:lpstr>Wanneer gebruik je welke encryptie?</vt:lpstr>
      <vt:lpstr>Hashing</vt:lpstr>
      <vt:lpstr>RSA – 1 richting </vt:lpstr>
      <vt:lpstr>RSA – 1 richting </vt:lpstr>
      <vt:lpstr>RSA voor het examen</vt:lpstr>
      <vt:lpstr>Programeer opdrachten</vt:lpstr>
      <vt:lpstr>Volgende week: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Erwin van Hunnik</dc:creator>
  <cp:lastModifiedBy>Erwin van Hunnik</cp:lastModifiedBy>
  <cp:revision>9</cp:revision>
  <dcterms:created xsi:type="dcterms:W3CDTF">2026-02-09T15:52:00Z</dcterms:created>
  <dcterms:modified xsi:type="dcterms:W3CDTF">2026-03-06T23:08:05Z</dcterms:modified>
</cp:coreProperties>
</file>